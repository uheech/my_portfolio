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6858000" cy="12192000"/>
  <p:embeddedFontLst>
    <p:embeddedFont>
      <p:font typeface="Noto Sans KR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NotoSansKR-bold.fntdata"/><Relationship Id="rId21" Type="http://schemas.openxmlformats.org/officeDocument/2006/relationships/slide" Target="slides/slide17.xml"/><Relationship Id="rId43" Type="http://schemas.openxmlformats.org/officeDocument/2006/relationships/font" Target="fonts/NotoSansKR-regular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1" name="Google Shape;21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0" name="Google Shape;57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1" name="Google Shape;57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2" name="Google Shape;62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3" name="Google Shape;62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5" name="Google Shape;69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6" name="Google Shape;69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4" name="Google Shape;74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5" name="Google Shape;74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4" name="Google Shape;77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5" name="Google Shape;77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8" name="Google Shape;81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9" name="Google Shape;81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1" name="Google Shape;96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2" name="Google Shape;96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3" name="Google Shape;105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4" name="Google Shape;105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3" name="Google Shape;108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5" name="Google Shape;1095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6" name="Google Shape;1096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7" name="Google Shape;112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8" name="Google Shape;112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0" name="Google Shape;1140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1" name="Google Shape;1141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2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2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2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2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2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2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2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2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2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2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2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3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3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3a40d09ac66_0_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3a40d09ac66_0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3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3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3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1" name="Shape 1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3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3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3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3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1" name="Google Shape;1631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32" name="Google Shape;1632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7" name="Google Shape;1687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88" name="Google Shape;1688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4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7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73.png"/><Relationship Id="rId5" Type="http://schemas.openxmlformats.org/officeDocument/2006/relationships/image" Target="../media/image121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9.jpg"/><Relationship Id="rId4" Type="http://schemas.openxmlformats.org/officeDocument/2006/relationships/image" Target="../media/image1.png"/><Relationship Id="rId5" Type="http://schemas.openxmlformats.org/officeDocument/2006/relationships/image" Target="../media/image132.png"/><Relationship Id="rId6" Type="http://schemas.openxmlformats.org/officeDocument/2006/relationships/image" Target="../media/image16.png"/><Relationship Id="rId7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19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22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12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29.png"/><Relationship Id="rId13" Type="http://schemas.openxmlformats.org/officeDocument/2006/relationships/image" Target="../media/image38.png"/><Relationship Id="rId1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5" Type="http://schemas.openxmlformats.org/officeDocument/2006/relationships/image" Target="../media/image36.png"/><Relationship Id="rId14" Type="http://schemas.openxmlformats.org/officeDocument/2006/relationships/image" Target="../media/image40.png"/><Relationship Id="rId16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43.png"/><Relationship Id="rId5" Type="http://schemas.openxmlformats.org/officeDocument/2006/relationships/image" Target="../media/image14.png"/><Relationship Id="rId6" Type="http://schemas.openxmlformats.org/officeDocument/2006/relationships/image" Target="../media/image6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34.png"/><Relationship Id="rId9" Type="http://schemas.openxmlformats.org/officeDocument/2006/relationships/image" Target="../media/image58.png"/><Relationship Id="rId5" Type="http://schemas.openxmlformats.org/officeDocument/2006/relationships/image" Target="../media/image46.png"/><Relationship Id="rId6" Type="http://schemas.openxmlformats.org/officeDocument/2006/relationships/image" Target="../media/image54.png"/><Relationship Id="rId7" Type="http://schemas.openxmlformats.org/officeDocument/2006/relationships/image" Target="../media/image47.png"/><Relationship Id="rId8" Type="http://schemas.openxmlformats.org/officeDocument/2006/relationships/image" Target="../media/image5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29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9" Type="http://schemas.openxmlformats.org/officeDocument/2006/relationships/image" Target="../media/image33.png"/><Relationship Id="rId5" Type="http://schemas.openxmlformats.org/officeDocument/2006/relationships/image" Target="../media/image35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9.png"/><Relationship Id="rId4" Type="http://schemas.openxmlformats.org/officeDocument/2006/relationships/image" Target="../media/image97.png"/><Relationship Id="rId5" Type="http://schemas.openxmlformats.org/officeDocument/2006/relationships/image" Target="../media/image6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6.png"/><Relationship Id="rId4" Type="http://schemas.openxmlformats.org/officeDocument/2006/relationships/image" Target="../media/image65.png"/><Relationship Id="rId5" Type="http://schemas.openxmlformats.org/officeDocument/2006/relationships/image" Target="../media/image67.png"/><Relationship Id="rId6" Type="http://schemas.openxmlformats.org/officeDocument/2006/relationships/image" Target="../media/image103.png"/><Relationship Id="rId7" Type="http://schemas.openxmlformats.org/officeDocument/2006/relationships/image" Target="../media/image63.png"/><Relationship Id="rId8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4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68.png"/><Relationship Id="rId7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2.png"/><Relationship Id="rId4" Type="http://schemas.openxmlformats.org/officeDocument/2006/relationships/image" Target="../media/image75.png"/><Relationship Id="rId5" Type="http://schemas.openxmlformats.org/officeDocument/2006/relationships/image" Target="../media/image101.png"/><Relationship Id="rId6" Type="http://schemas.openxmlformats.org/officeDocument/2006/relationships/image" Target="../media/image12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1.png"/><Relationship Id="rId4" Type="http://schemas.openxmlformats.org/officeDocument/2006/relationships/image" Target="../media/image27.png"/><Relationship Id="rId5" Type="http://schemas.openxmlformats.org/officeDocument/2006/relationships/image" Target="../media/image5.png"/><Relationship Id="rId6" Type="http://schemas.openxmlformats.org/officeDocument/2006/relationships/image" Target="../media/image77.jpg"/><Relationship Id="rId7" Type="http://schemas.openxmlformats.org/officeDocument/2006/relationships/image" Target="../media/image7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1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1.png"/><Relationship Id="rId4" Type="http://schemas.openxmlformats.org/officeDocument/2006/relationships/image" Target="../media/image128.png"/><Relationship Id="rId5" Type="http://schemas.openxmlformats.org/officeDocument/2006/relationships/image" Target="../media/image8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2.png"/><Relationship Id="rId4" Type="http://schemas.openxmlformats.org/officeDocument/2006/relationships/image" Target="../media/image130.png"/><Relationship Id="rId9" Type="http://schemas.openxmlformats.org/officeDocument/2006/relationships/image" Target="../media/image86.png"/><Relationship Id="rId5" Type="http://schemas.openxmlformats.org/officeDocument/2006/relationships/image" Target="../media/image131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3.jpg"/><Relationship Id="rId4" Type="http://schemas.openxmlformats.org/officeDocument/2006/relationships/image" Target="../media/image8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8.png"/><Relationship Id="rId4" Type="http://schemas.openxmlformats.org/officeDocument/2006/relationships/image" Target="../media/image91.png"/><Relationship Id="rId5" Type="http://schemas.openxmlformats.org/officeDocument/2006/relationships/image" Target="../media/image92.jpg"/><Relationship Id="rId6" Type="http://schemas.openxmlformats.org/officeDocument/2006/relationships/image" Target="../media/image93.jpg"/><Relationship Id="rId7" Type="http://schemas.openxmlformats.org/officeDocument/2006/relationships/image" Target="../media/image9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4.jpg"/><Relationship Id="rId4" Type="http://schemas.openxmlformats.org/officeDocument/2006/relationships/image" Target="../media/image9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9.png"/><Relationship Id="rId4" Type="http://schemas.openxmlformats.org/officeDocument/2006/relationships/image" Target="../media/image32.png"/><Relationship Id="rId5" Type="http://schemas.openxmlformats.org/officeDocument/2006/relationships/image" Target="../media/image28.png"/><Relationship Id="rId6" Type="http://schemas.openxmlformats.org/officeDocument/2006/relationships/image" Target="../media/image98.png"/><Relationship Id="rId7" Type="http://schemas.openxmlformats.org/officeDocument/2006/relationships/image" Target="../media/image72.png"/></Relationships>
</file>

<file path=ppt/slides/_rels/slide2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3.png"/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Relationship Id="rId5" Type="http://schemas.openxmlformats.org/officeDocument/2006/relationships/image" Target="../media/image35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0.png"/><Relationship Id="rId4" Type="http://schemas.openxmlformats.org/officeDocument/2006/relationships/image" Target="../media/image102.png"/><Relationship Id="rId5" Type="http://schemas.openxmlformats.org/officeDocument/2006/relationships/image" Target="../media/image10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9.png"/><Relationship Id="rId4" Type="http://schemas.openxmlformats.org/officeDocument/2006/relationships/image" Target="../media/image10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6.png"/><Relationship Id="rId4" Type="http://schemas.openxmlformats.org/officeDocument/2006/relationships/image" Target="../media/image136.png"/><Relationship Id="rId5" Type="http://schemas.openxmlformats.org/officeDocument/2006/relationships/image" Target="../media/image1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1.png"/><Relationship Id="rId4" Type="http://schemas.openxmlformats.org/officeDocument/2006/relationships/image" Target="../media/image113.png"/><Relationship Id="rId5" Type="http://schemas.openxmlformats.org/officeDocument/2006/relationships/image" Target="../media/image112.png"/><Relationship Id="rId6" Type="http://schemas.openxmlformats.org/officeDocument/2006/relationships/image" Target="../media/image1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drive.google.com/file/d/1Z9DOpFke09r_Mk1ZKtVQA6mM-RVsBzEZ/view" TargetMode="External"/><Relationship Id="rId4" Type="http://schemas.openxmlformats.org/officeDocument/2006/relationships/image" Target="../media/image10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6.png"/><Relationship Id="rId6" Type="http://schemas.openxmlformats.org/officeDocument/2006/relationships/image" Target="../media/image12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3"/>
          <p:cNvPicPr preferRelativeResize="0"/>
          <p:nvPr/>
        </p:nvPicPr>
        <p:blipFill rotWithShape="1">
          <a:blip r:embed="rId3">
            <a:alphaModFix/>
          </a:blip>
          <a:srcRect b="0" l="-9" r="-8" t="0"/>
          <a:stretch/>
        </p:blipFill>
        <p:spPr>
          <a:xfrm>
            <a:off x="5762549" y="2024482"/>
            <a:ext cx="666598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/>
        </p:nvSpPr>
        <p:spPr>
          <a:xfrm>
            <a:off x="3170225" y="3176626"/>
            <a:ext cx="6201461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Noto Sans KR"/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반려견 </a:t>
            </a:r>
            <a:r>
              <a:rPr b="1" i="0" lang="en-US" sz="3600" u="none" cap="none" strike="noStrike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유전자</a:t>
            </a:r>
            <a:r>
              <a:rPr b="1" i="0" lang="en-US" sz="36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분석 프로젝트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4206240" y="4043477"/>
            <a:ext cx="3939235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600"/>
              <a:buFont typeface="Noto Sans KR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Project Overview &amp; Analysis Results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571499" y="6372454"/>
            <a:ext cx="121754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2025.11.28 최종평가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9700591" y="6372454"/>
            <a:ext cx="202841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Gene-ius팀 최유희, 심재윤, 노예지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3145747" y="876445"/>
            <a:ext cx="5900507" cy="495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KR"/>
              <a:buNone/>
            </a:pPr>
            <a:r>
              <a:rPr b="1" lang="en-US" sz="2900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파이프라인 OVERVIEW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79730" y="3230309"/>
            <a:ext cx="11048695" cy="38405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571500" y="2095805"/>
            <a:ext cx="2438705" cy="2667305"/>
          </a:xfrm>
          <a:prstGeom prst="roundRect">
            <a:avLst>
              <a:gd fmla="val 2343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4373575" y="2324405"/>
            <a:ext cx="571500" cy="5715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444545" y="2095805"/>
            <a:ext cx="2438705" cy="2667305"/>
          </a:xfrm>
          <a:prstGeom prst="roundRect">
            <a:avLst>
              <a:gd fmla="val 2343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6316675" y="2095805"/>
            <a:ext cx="2438705" cy="2667305"/>
          </a:xfrm>
          <a:prstGeom prst="roundRect">
            <a:avLst>
              <a:gd fmla="val 2343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9189720" y="2095805"/>
            <a:ext cx="2438705" cy="2667305"/>
          </a:xfrm>
          <a:prstGeom prst="roundRect">
            <a:avLst>
              <a:gd fmla="val 2343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1003208" y="3400978"/>
            <a:ext cx="153893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이해 및 수집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4182159" y="3429000"/>
            <a:ext cx="96743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정제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897940" y="3785616"/>
            <a:ext cx="1823314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1.1. 데이터 추출 과정 및 핵심 용어</a:t>
            </a:r>
            <a:endParaRPr sz="10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1.2. 데이터 구조 및 컬럼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9911756" y="3429000"/>
            <a:ext cx="96743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산출물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3905989" y="3781044"/>
            <a:ext cx="1637429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2.1. 데이터 패턴 탐색</a:t>
            </a:r>
            <a:endParaRPr sz="10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2.2. 와이드 포맷 생성</a:t>
            </a:r>
            <a:endParaRPr sz="10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2.3. 전처리 : 컬럼/마커 정리</a:t>
            </a:r>
            <a:endParaRPr sz="10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6772450" y="3653144"/>
            <a:ext cx="1948586" cy="487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3.1. 유전병적 소인 분석</a:t>
            </a:r>
            <a:endParaRPr sz="10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3.2. 개체 간 유사 품종 분석</a:t>
            </a:r>
            <a:endParaRPr sz="10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7114032" y="3429000"/>
            <a:ext cx="96743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분석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9648555" y="3723330"/>
            <a:ext cx="1600810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4.1. 최종 산출물 : Streamlit</a:t>
            </a:r>
            <a:endParaRPr sz="100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4.2. 회고록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611478" y="1942795"/>
            <a:ext cx="304495" cy="304495"/>
          </a:xfrm>
          <a:prstGeom prst="ellipse">
            <a:avLst/>
          </a:prstGeom>
          <a:solidFill>
            <a:srgbClr val="0891B2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1726804" y="1990420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484503" y="2441442"/>
            <a:ext cx="571500" cy="571500"/>
          </a:xfrm>
          <a:prstGeom prst="ellipse">
            <a:avLst/>
          </a:prstGeom>
          <a:solidFill>
            <a:srgbClr val="0891B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3">
            <a:alphaModFix/>
          </a:blip>
          <a:srcRect b="-42" l="0" r="0" t="-43"/>
          <a:stretch/>
        </p:blipFill>
        <p:spPr>
          <a:xfrm>
            <a:off x="1675884" y="2620308"/>
            <a:ext cx="194725" cy="222735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4508069" y="1904695"/>
            <a:ext cx="304495" cy="304495"/>
          </a:xfrm>
          <a:prstGeom prst="ellipse">
            <a:avLst/>
          </a:prstGeom>
          <a:solidFill>
            <a:srgbClr val="0891B2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4623395" y="1952320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356653" y="1942795"/>
            <a:ext cx="304495" cy="304495"/>
          </a:xfrm>
          <a:prstGeom prst="ellipse">
            <a:avLst/>
          </a:prstGeom>
          <a:solidFill>
            <a:srgbClr val="0891B2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7471979" y="1990420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228478" y="1942795"/>
            <a:ext cx="304495" cy="304495"/>
          </a:xfrm>
          <a:prstGeom prst="ellipse">
            <a:avLst/>
          </a:prstGeom>
          <a:solidFill>
            <a:srgbClr val="0891B2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10343804" y="1990420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380127" y="2433624"/>
            <a:ext cx="571500" cy="571500"/>
          </a:xfrm>
          <a:prstGeom prst="ellipse">
            <a:avLst/>
          </a:prstGeom>
          <a:solidFill>
            <a:srgbClr val="0891B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250277" y="2430209"/>
            <a:ext cx="571500" cy="571500"/>
          </a:xfrm>
          <a:prstGeom prst="ellipse">
            <a:avLst/>
          </a:prstGeom>
          <a:solidFill>
            <a:srgbClr val="0891B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0109724" y="2413782"/>
            <a:ext cx="571500" cy="571500"/>
          </a:xfrm>
          <a:prstGeom prst="ellipse">
            <a:avLst/>
          </a:prstGeom>
          <a:solidFill>
            <a:srgbClr val="0891B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6365" y="2563448"/>
            <a:ext cx="264783" cy="264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3" name="Google Shape;53;p4"/>
          <p:cNvPicPr preferRelativeResize="0"/>
          <p:nvPr/>
        </p:nvPicPr>
        <p:blipFill rotWithShape="1">
          <a:blip r:embed="rId5">
            <a:alphaModFix/>
          </a:blip>
          <a:srcRect b="0" l="-33" r="-32" t="0"/>
          <a:stretch/>
        </p:blipFill>
        <p:spPr>
          <a:xfrm>
            <a:off x="4530889" y="2603882"/>
            <a:ext cx="269977" cy="2398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" name="Google Shape;54;p4"/>
          <p:cNvPicPr preferRelativeResize="0"/>
          <p:nvPr/>
        </p:nvPicPr>
        <p:blipFill rotWithShape="1">
          <a:blip r:embed="rId6">
            <a:alphaModFix/>
          </a:blip>
          <a:srcRect b="-817" l="0" r="0" t="-816"/>
          <a:stretch/>
        </p:blipFill>
        <p:spPr>
          <a:xfrm>
            <a:off x="10245333" y="2544528"/>
            <a:ext cx="270783" cy="3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/>
        </p:nvSpPr>
        <p:spPr>
          <a:xfrm>
            <a:off x="412256" y="599585"/>
            <a:ext cx="3550144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0.프로젝트 개요 및 타깃 선정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96392" y="1242174"/>
            <a:ext cx="5619902" cy="2392985"/>
          </a:xfrm>
          <a:prstGeom prst="roundRect">
            <a:avLst>
              <a:gd fmla="val 692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6191402" y="1237184"/>
            <a:ext cx="5619902" cy="3557930"/>
          </a:xfrm>
          <a:prstGeom prst="roundRect">
            <a:avLst>
              <a:gd fmla="val 692" name="adj"/>
            </a:avLst>
          </a:prstGeom>
          <a:solidFill>
            <a:schemeClr val="lt1"/>
          </a:solidFill>
          <a:ln cap="flat" cmpd="sng" w="25400">
            <a:solidFill>
              <a:srgbClr val="FDC49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382054" y="1352398"/>
            <a:ext cx="342900" cy="342900"/>
          </a:xfrm>
          <a:prstGeom prst="ellipse">
            <a:avLst/>
          </a:prstGeom>
          <a:solidFill>
            <a:srgbClr val="FB923C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152" y="144749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/>
          <p:nvPr/>
        </p:nvSpPr>
        <p:spPr>
          <a:xfrm>
            <a:off x="6804965" y="1380286"/>
            <a:ext cx="1248156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시장성 데이터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6400800" y="1733702"/>
            <a:ext cx="22960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펫보험 지급액 기준 상위 질환 분석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400800" y="2057400"/>
            <a:ext cx="5201107" cy="2381098"/>
          </a:xfrm>
          <a:prstGeom prst="roundRect">
            <a:avLst>
              <a:gd fmla="val 1229" name="adj"/>
            </a:avLst>
          </a:prstGeom>
          <a:solidFill>
            <a:srgbClr val="FFFFFF">
              <a:alpha val="60000"/>
            </a:srgbClr>
          </a:solidFill>
          <a:ln cap="flat" cmpd="sng" w="12700">
            <a:solidFill>
              <a:srgbClr val="FB923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5"/>
          <p:cNvPicPr preferRelativeResize="0"/>
          <p:nvPr/>
        </p:nvPicPr>
        <p:blipFill rotWithShape="1">
          <a:blip r:embed="rId4">
            <a:alphaModFix/>
          </a:blip>
          <a:srcRect b="-4" l="0" r="0" t="-5"/>
          <a:stretch/>
        </p:blipFill>
        <p:spPr>
          <a:xfrm>
            <a:off x="6553505" y="2210105"/>
            <a:ext cx="4895698" cy="207660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 txBox="1"/>
          <p:nvPr/>
        </p:nvSpPr>
        <p:spPr>
          <a:xfrm>
            <a:off x="6400800" y="4515307"/>
            <a:ext cx="162488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 www.dailyvet.co.kr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90589" y="4888418"/>
            <a:ext cx="5619902" cy="1353583"/>
          </a:xfrm>
          <a:prstGeom prst="roundRect">
            <a:avLst>
              <a:gd fmla="val 1691" name="adj"/>
            </a:avLst>
          </a:prstGeom>
          <a:solidFill>
            <a:srgbClr val="FFFFFF"/>
          </a:solidFill>
          <a:ln cap="flat" cmpd="sng" w="25400">
            <a:solidFill>
              <a:srgbClr val="C189F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330550" y="5043829"/>
            <a:ext cx="342900" cy="342900"/>
          </a:xfrm>
          <a:prstGeom prst="ellipse">
            <a:avLst/>
          </a:prstGeom>
          <a:solidFill>
            <a:srgbClr val="9333EA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5648" y="5138927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/>
        </p:nvSpPr>
        <p:spPr>
          <a:xfrm>
            <a:off x="6787285" y="5086348"/>
            <a:ext cx="1649577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타깃 질환 선정 근거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" name="Google Shape;7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7139" y="548423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5"/>
          <p:cNvSpPr txBox="1"/>
          <p:nvPr/>
        </p:nvSpPr>
        <p:spPr>
          <a:xfrm>
            <a:off x="6672985" y="5599956"/>
            <a:ext cx="4114368" cy="284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시장 조사 결과, 2021년부터 2025년까지 질환 빈도는 낮으나 지급액 최상위 (1~2위) :  슬개골 탈구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7139" y="591824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 txBox="1"/>
          <p:nvPr/>
        </p:nvSpPr>
        <p:spPr>
          <a:xfrm>
            <a:off x="6672985" y="5879593"/>
            <a:ext cx="33247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수술이 필수적인 고비용 질환으로 경제적 가치 높음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7">
            <a:alphaModFix/>
          </a:blip>
          <a:srcRect b="0" l="-1016667" r="-1016667" t="0"/>
          <a:stretch/>
        </p:blipFill>
        <p:spPr>
          <a:xfrm>
            <a:off x="970813" y="5400409"/>
            <a:ext cx="219456" cy="9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9" name="Google Shape;79;p5"/>
          <p:cNvPicPr preferRelativeResize="0"/>
          <p:nvPr/>
        </p:nvPicPr>
        <p:blipFill rotWithShape="1">
          <a:blip r:embed="rId8">
            <a:alphaModFix/>
          </a:blip>
          <a:srcRect b="0" l="-989999" r="-989999" t="0"/>
          <a:stretch/>
        </p:blipFill>
        <p:spPr>
          <a:xfrm>
            <a:off x="958725" y="3584106"/>
            <a:ext cx="190195" cy="914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663843" y="1387869"/>
            <a:ext cx="342900" cy="3429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5"/>
          <p:cNvPicPr preferRelativeResize="0"/>
          <p:nvPr/>
        </p:nvPicPr>
        <p:blipFill rotWithShape="1">
          <a:blip r:embed="rId9">
            <a:alphaModFix/>
          </a:blip>
          <a:srcRect b="-42" l="0" r="0" t="-43"/>
          <a:stretch/>
        </p:blipFill>
        <p:spPr>
          <a:xfrm>
            <a:off x="768999" y="1482967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5"/>
          <p:cNvSpPr txBox="1"/>
          <p:nvPr/>
        </p:nvSpPr>
        <p:spPr>
          <a:xfrm>
            <a:off x="1092696" y="1440291"/>
            <a:ext cx="1853489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프로젝트명 및 핵심 목표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768999" y="1852385"/>
            <a:ext cx="4914900" cy="457200"/>
          </a:xfrm>
          <a:prstGeom prst="roundRect">
            <a:avLst>
              <a:gd fmla="val 33333" name="adj"/>
            </a:avLst>
          </a:prstGeom>
          <a:solidFill>
            <a:srgbClr val="0891B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68999" y="1852385"/>
            <a:ext cx="28346" cy="457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"/>
          <p:cNvSpPr txBox="1"/>
          <p:nvPr/>
        </p:nvSpPr>
        <p:spPr>
          <a:xfrm>
            <a:off x="940906" y="1966685"/>
            <a:ext cx="37819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반려견 유전적 특성을 파악한 맞춤형 건강관리 서비스 구현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6241" y="2431239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/>
        </p:nvSpPr>
        <p:spPr>
          <a:xfrm>
            <a:off x="987071" y="2394464"/>
            <a:ext cx="46104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유전체 데이터 분석을 기반으로 증상 발현 전 고위험 질환 리스크를 예측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4423" y="270971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 txBox="1"/>
          <p:nvPr/>
        </p:nvSpPr>
        <p:spPr>
          <a:xfrm>
            <a:off x="989345" y="2669953"/>
            <a:ext cx="37819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개체별 특성과 유전적 요인을 고려한 맞춤형 헬스케어 제공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779960" y="3015670"/>
            <a:ext cx="4914900" cy="457200"/>
          </a:xfrm>
          <a:prstGeom prst="roundRect">
            <a:avLst>
              <a:gd fmla="val 33333" name="adj"/>
            </a:avLst>
          </a:prstGeom>
          <a:solidFill>
            <a:srgbClr val="0891B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"/>
          <p:cNvSpPr/>
          <p:nvPr/>
        </p:nvSpPr>
        <p:spPr>
          <a:xfrm>
            <a:off x="779960" y="3015670"/>
            <a:ext cx="28346" cy="457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1867" y="3177519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 txBox="1"/>
          <p:nvPr/>
        </p:nvSpPr>
        <p:spPr>
          <a:xfrm>
            <a:off x="1161834" y="3130788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타깃: 척추 및 근골격계 질환 - 슬개골 탈구, 십자인대 손상 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96392" y="3849016"/>
            <a:ext cx="5619902" cy="2392985"/>
          </a:xfrm>
          <a:prstGeom prst="roundRect">
            <a:avLst>
              <a:gd fmla="val 692" name="adj"/>
            </a:avLst>
          </a:prstGeom>
          <a:solidFill>
            <a:srgbClr val="FFFFFF"/>
          </a:solidFill>
          <a:ln cap="flat" cmpd="sng" w="25400">
            <a:solidFill>
              <a:srgbClr val="729AF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88981" y="4009433"/>
            <a:ext cx="305482" cy="30548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5"/>
          <p:cNvPicPr preferRelativeResize="0"/>
          <p:nvPr/>
        </p:nvPicPr>
        <p:blipFill rotWithShape="1">
          <a:blip r:embed="rId12">
            <a:alphaModFix/>
          </a:blip>
          <a:srcRect b="0" l="-33" r="-32" t="0"/>
          <a:stretch/>
        </p:blipFill>
        <p:spPr>
          <a:xfrm>
            <a:off x="765343" y="4084006"/>
            <a:ext cx="153148" cy="13604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 txBox="1"/>
          <p:nvPr/>
        </p:nvSpPr>
        <p:spPr>
          <a:xfrm>
            <a:off x="1080541" y="4043394"/>
            <a:ext cx="1386230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기여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1061138" y="4407535"/>
            <a:ext cx="44677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다빈도 질환이 아닌, 고액 진료비가 발생하는 치명적 질환의 사전 예방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1053822" y="4712788"/>
            <a:ext cx="42867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수술이 필수적인 고비용 질환 예측을 통한 보호자 경제적 부담 경감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061138" y="5018041"/>
            <a:ext cx="34482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조기 발견 및 예방적 조치를 통한 반려견 삶의 질 향상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49124" y="5363641"/>
            <a:ext cx="4914900" cy="685800"/>
          </a:xfrm>
          <a:prstGeom prst="roundRect">
            <a:avLst>
              <a:gd fmla="val 14815" name="adj"/>
            </a:avLst>
          </a:prstGeom>
          <a:solidFill>
            <a:srgbClr val="2563E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835983" y="5352211"/>
            <a:ext cx="28346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13">
            <a:alphaModFix/>
          </a:blip>
          <a:srcRect b="-42" l="0" r="0" t="-43"/>
          <a:stretch/>
        </p:blipFill>
        <p:spPr>
          <a:xfrm>
            <a:off x="970076" y="5525719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 txBox="1"/>
          <p:nvPr/>
        </p:nvSpPr>
        <p:spPr>
          <a:xfrm>
            <a:off x="1159707" y="5449824"/>
            <a:ext cx="41941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품질 관리된 유전체 데이터는 품종별/연령별 맞춤형 예방 관리 서비스의 기반 자료로 사용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549" y="4447110"/>
            <a:ext cx="152705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" name="Google Shape;10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5736" y="4738839"/>
            <a:ext cx="152705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8" name="Google Shape;10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640" y="5034392"/>
            <a:ext cx="152705" cy="152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 txBox="1"/>
          <p:nvPr/>
        </p:nvSpPr>
        <p:spPr>
          <a:xfrm>
            <a:off x="436626" y="685578"/>
            <a:ext cx="4057498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1.1.데이터 추출 과정 및 핵심 용어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436626" y="1469898"/>
            <a:ext cx="1476756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추출 과정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36626" y="1807769"/>
            <a:ext cx="5429707" cy="3524098"/>
          </a:xfrm>
          <a:prstGeom prst="roundRect">
            <a:avLst>
              <a:gd fmla="val 842" name="adj"/>
            </a:avLst>
          </a:prstGeom>
          <a:solidFill>
            <a:srgbClr val="000000">
              <a:alpha val="1960"/>
            </a:srgbClr>
          </a:solidFill>
          <a:ln cap="flat" cmpd="sng" w="12700">
            <a:solidFill>
              <a:srgbClr val="000000">
                <a:alpha val="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93" r="93" t="0"/>
          <a:stretch/>
        </p:blipFill>
        <p:spPr>
          <a:xfrm>
            <a:off x="636880" y="2008023"/>
            <a:ext cx="5029200" cy="312450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/>
        </p:nvSpPr>
        <p:spPr>
          <a:xfrm>
            <a:off x="524409" y="5440680"/>
            <a:ext cx="5366614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01 계획 및 준비 → 02 DNA 추출 → 03 Raw SNP Data 생성 </a:t>
            </a:r>
            <a:b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→ 04 Genotype Calling → 05 SNP Table 생성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6213880" y="1427392"/>
            <a:ext cx="905256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용어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187516" y="1752461"/>
            <a:ext cx="5429707" cy="1121932"/>
          </a:xfrm>
          <a:prstGeom prst="roundRect">
            <a:avLst>
              <a:gd fmla="val 4987" name="adj"/>
            </a:avLst>
          </a:prstGeom>
          <a:solidFill>
            <a:srgbClr val="E0F2FE"/>
          </a:solidFill>
          <a:ln cap="flat" cmpd="sng" w="12700">
            <a:solidFill>
              <a:srgbClr val="729A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349364" y="1816745"/>
            <a:ext cx="342900" cy="342900"/>
          </a:xfrm>
          <a:prstGeom prst="ellipse">
            <a:avLst/>
          </a:prstGeom>
          <a:solidFill>
            <a:srgbClr val="0891B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4">
            <a:alphaModFix/>
          </a:blip>
          <a:srcRect b="-42" l="0" r="0" t="-43"/>
          <a:stretch/>
        </p:blipFill>
        <p:spPr>
          <a:xfrm>
            <a:off x="6453606" y="1911843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 txBox="1"/>
          <p:nvPr/>
        </p:nvSpPr>
        <p:spPr>
          <a:xfrm>
            <a:off x="6806564" y="1862465"/>
            <a:ext cx="1602943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SNP 단일염기다형성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6430898" y="2150201"/>
            <a:ext cx="508223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DNA 서열에서 단일 뉴클레오타이드(A/T/G/C)가 변이된 부분. 개체 간 유전적 다양성과 질병 감수성의 기초가 됩니다. 개체군 내 1% 이상의 빈도로 발견되는 DNA 서열의 변이를 의미합니다.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187516" y="2981058"/>
            <a:ext cx="5429707" cy="984287"/>
          </a:xfrm>
          <a:prstGeom prst="roundRect">
            <a:avLst>
              <a:gd fmla="val 4987" name="adj"/>
            </a:avLst>
          </a:prstGeom>
          <a:solidFill>
            <a:srgbClr val="F3E8FF"/>
          </a:solidFill>
          <a:ln cap="flat" cmpd="sng" w="12700">
            <a:solidFill>
              <a:srgbClr val="C189F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349364" y="3061006"/>
            <a:ext cx="342900" cy="342900"/>
          </a:xfrm>
          <a:prstGeom prst="ellipse">
            <a:avLst/>
          </a:prstGeom>
          <a:solidFill>
            <a:srgbClr val="9333E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44462" y="315610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/>
        </p:nvSpPr>
        <p:spPr>
          <a:xfrm>
            <a:off x="6806564" y="3106726"/>
            <a:ext cx="1698041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Array 마이크로어레이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6430898" y="3390727"/>
            <a:ext cx="5082235" cy="527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수만~수백만 개의 DNA 프로브가 고정된 칩을 이용하여 한 번에 많은 SNP를 검사하는 기술. 다양한 유전자형의 병렬 측정을 통해 대규모 유전체 정보를 효율적으로 분석합니다.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187516" y="4072010"/>
            <a:ext cx="5429707" cy="984287"/>
          </a:xfrm>
          <a:prstGeom prst="roundRect">
            <a:avLst>
              <a:gd fmla="val 7033" name="adj"/>
            </a:avLst>
          </a:prstGeom>
          <a:solidFill>
            <a:srgbClr val="FFF7ED"/>
          </a:solidFill>
          <a:ln cap="flat" cmpd="sng" w="12700">
            <a:solidFill>
              <a:srgbClr val="FDC49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6349364" y="4179842"/>
            <a:ext cx="342900" cy="342900"/>
          </a:xfrm>
          <a:prstGeom prst="ellipse">
            <a:avLst/>
          </a:prstGeom>
          <a:solidFill>
            <a:srgbClr val="FB923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6"/>
          <p:cNvPicPr preferRelativeResize="0"/>
          <p:nvPr/>
        </p:nvPicPr>
        <p:blipFill rotWithShape="1">
          <a:blip r:embed="rId6">
            <a:alphaModFix/>
          </a:blip>
          <a:srcRect b="-100" l="0" r="0" t="-100"/>
          <a:stretch/>
        </p:blipFill>
        <p:spPr>
          <a:xfrm>
            <a:off x="6463664" y="4275854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6806564" y="4225562"/>
            <a:ext cx="79278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CEL 파일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6394932" y="4569377"/>
            <a:ext cx="51535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Affymetrix 마이크로어레이에서 생성되는 raw intensity 값을 저장하는 파일 형식. 각 프로브의 형광 강도 측정값을 포함하며 기초 데이터로 활용됩니다.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187516" y="5162963"/>
            <a:ext cx="5429707" cy="984287"/>
          </a:xfrm>
          <a:prstGeom prst="roundRect">
            <a:avLst>
              <a:gd fmla="val 4987" name="adj"/>
            </a:avLst>
          </a:prstGeom>
          <a:solidFill>
            <a:srgbClr val="F0FDF4"/>
          </a:solidFill>
          <a:ln cap="flat" cmpd="sng" w="12700">
            <a:solidFill>
              <a:srgbClr val="56F0B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6349364" y="5260803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7">
            <a:alphaModFix/>
          </a:blip>
          <a:srcRect b="-100" l="0" r="0" t="-100"/>
          <a:stretch/>
        </p:blipFill>
        <p:spPr>
          <a:xfrm>
            <a:off x="6463664" y="5355900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6806564" y="5306523"/>
            <a:ext cx="128839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Genotype Call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6394932" y="5644810"/>
            <a:ext cx="5118201" cy="44721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마이크로어레이에서 측정된 raw intensity 값을 분석하여 실제 유전자형(AA/AB/BB)을 결정하는 과정. 알고리즘을 통해 각 SNP 위치에서 개체가 가진 유전자형을 판별합니다.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668573" y="773614"/>
            <a:ext cx="302483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1.2.데이터 구조 및 컬럼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68573" y="1524526"/>
            <a:ext cx="5143500" cy="2132452"/>
          </a:xfrm>
          <a:prstGeom prst="roundRect">
            <a:avLst>
              <a:gd fmla="val 1984" name="adj"/>
            </a:avLst>
          </a:prstGeom>
          <a:solidFill>
            <a:srgbClr val="FFFFFF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68827" y="1619781"/>
            <a:ext cx="342900" cy="342900"/>
          </a:xfrm>
          <a:prstGeom prst="roundRect">
            <a:avLst>
              <a:gd fmla="val 44444" name="adj"/>
            </a:avLst>
          </a:prstGeom>
          <a:solidFill>
            <a:srgbClr val="0891B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467" y="171533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1302100" y="1656814"/>
            <a:ext cx="1343254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SNP 검사 목적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7"/>
          <p:cNvPicPr preferRelativeResize="0"/>
          <p:nvPr/>
        </p:nvPicPr>
        <p:blipFill rotWithShape="1">
          <a:blip r:embed="rId4">
            <a:alphaModFix/>
          </a:blip>
          <a:srcRect b="-42" l="0" r="0" t="-43"/>
          <a:stretch/>
        </p:blipFill>
        <p:spPr>
          <a:xfrm>
            <a:off x="957981" y="2167354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7"/>
          <p:cNvSpPr txBox="1"/>
          <p:nvPr/>
        </p:nvSpPr>
        <p:spPr>
          <a:xfrm>
            <a:off x="1158235" y="2053053"/>
            <a:ext cx="4553712" cy="381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유전체 특정 위치에 존재하는 단일 염기 변이(SNP)를 탐지하는 것이 기본 목적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5">
            <a:alphaModFix/>
          </a:blip>
          <a:srcRect b="-179" l="0" r="0" t="-180"/>
          <a:stretch/>
        </p:blipFill>
        <p:spPr>
          <a:xfrm>
            <a:off x="944722" y="2562551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 txBox="1"/>
          <p:nvPr/>
        </p:nvSpPr>
        <p:spPr>
          <a:xfrm>
            <a:off x="1173322" y="2524945"/>
            <a:ext cx="33631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개체 간 유전적 차이를 확인하여 유전적 다양성 파악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3467" y="2996281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1173322" y="2958791"/>
            <a:ext cx="36868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질병·품종·형질과 연관된 변이를 식별하는 것이 핵심 목적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62331" y="3823150"/>
            <a:ext cx="5143500" cy="1812539"/>
          </a:xfrm>
          <a:prstGeom prst="roundRect">
            <a:avLst>
              <a:gd fmla="val 2359" name="adj"/>
            </a:avLst>
          </a:prstGeom>
          <a:solidFill>
            <a:srgbClr val="FFFFFF"/>
          </a:solidFill>
          <a:ln cap="flat" cmpd="sng" w="12700">
            <a:solidFill>
              <a:srgbClr val="729A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55726" y="3933700"/>
            <a:ext cx="342900" cy="342900"/>
          </a:xfrm>
          <a:prstGeom prst="roundRect">
            <a:avLst>
              <a:gd fmla="val 44444" name="adj"/>
            </a:avLst>
          </a:prstGeom>
          <a:solidFill>
            <a:srgbClr val="2563E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7">
            <a:alphaModFix/>
          </a:blip>
          <a:srcRect b="-42" l="0" r="0" t="-43"/>
          <a:stretch/>
        </p:blipFill>
        <p:spPr>
          <a:xfrm>
            <a:off x="954823" y="4026084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/>
        </p:nvSpPr>
        <p:spPr>
          <a:xfrm>
            <a:off x="1312926" y="3968099"/>
            <a:ext cx="1867205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제공받은 SNP 데이터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8581" y="444107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1163580" y="4407018"/>
            <a:ext cx="1762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규모: 총 94개 파일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7"/>
          <p:cNvPicPr preferRelativeResize="0"/>
          <p:nvPr/>
        </p:nvPicPr>
        <p:blipFill rotWithShape="1">
          <a:blip r:embed="rId9">
            <a:alphaModFix/>
          </a:blip>
          <a:srcRect b="-100" l="0" r="0" t="-100"/>
          <a:stretch/>
        </p:blipFill>
        <p:spPr>
          <a:xfrm>
            <a:off x="951623" y="4790569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7"/>
          <p:cNvSpPr txBox="1"/>
          <p:nvPr/>
        </p:nvSpPr>
        <p:spPr>
          <a:xfrm>
            <a:off x="1147420" y="4760321"/>
            <a:ext cx="23527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형식: 파일명_개별셀.CEL.TXT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10">
            <a:alphaModFix/>
          </a:blip>
          <a:srcRect b="-179" l="0" r="0" t="-180"/>
          <a:stretch/>
        </p:blipFill>
        <p:spPr>
          <a:xfrm>
            <a:off x="951623" y="5149614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1198626" y="5006053"/>
            <a:ext cx="453451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용도: 전처리·병합을 거쳐 유전자형 행렬(genotype matrix) 구축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066892" y="1146072"/>
            <a:ext cx="5143500" cy="5193440"/>
          </a:xfrm>
          <a:prstGeom prst="roundRect">
            <a:avLst>
              <a:gd fmla="val 395" name="adj"/>
            </a:avLst>
          </a:prstGeom>
          <a:solidFill>
            <a:srgbClr val="FFFFFF"/>
          </a:solidFill>
          <a:ln cap="flat" cmpd="sng" w="12700">
            <a:solidFill>
              <a:srgbClr val="FDC4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6267146" y="1253619"/>
            <a:ext cx="342900" cy="342900"/>
          </a:xfrm>
          <a:prstGeom prst="roundRect">
            <a:avLst>
              <a:gd fmla="val 44444" name="adj"/>
            </a:avLst>
          </a:prstGeom>
          <a:solidFill>
            <a:srgbClr val="FB923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62243" y="134871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 txBox="1"/>
          <p:nvPr/>
        </p:nvSpPr>
        <p:spPr>
          <a:xfrm>
            <a:off x="6724346" y="1281965"/>
            <a:ext cx="1914754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SNP 데이터 주요 칼럼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267146" y="1739165"/>
            <a:ext cx="571500" cy="38405"/>
          </a:xfrm>
          <a:prstGeom prst="roundRect">
            <a:avLst>
              <a:gd fmla="val 1190470" name="adj"/>
            </a:avLst>
          </a:prstGeom>
          <a:solidFill>
            <a:srgbClr val="FB92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267146" y="1853465"/>
            <a:ext cx="1857146" cy="457200"/>
          </a:xfrm>
          <a:prstGeom prst="roundRect">
            <a:avLst>
              <a:gd fmla="val 33333" name="adj"/>
            </a:avLst>
          </a:prstGeom>
          <a:solidFill>
            <a:srgbClr val="FB923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6419851" y="1967765"/>
            <a:ext cx="5431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칼럼명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8276083" y="1967765"/>
            <a:ext cx="4005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의미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267146" y="2777924"/>
            <a:ext cx="4743907" cy="466344"/>
          </a:xfrm>
          <a:prstGeom prst="rect">
            <a:avLst/>
          </a:prstGeom>
          <a:solidFill>
            <a:srgbClr val="FB923C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267146" y="3711526"/>
            <a:ext cx="4743907" cy="466344"/>
          </a:xfrm>
          <a:prstGeom prst="rect">
            <a:avLst/>
          </a:prstGeom>
          <a:solidFill>
            <a:srgbClr val="FB923C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6267146" y="4644214"/>
            <a:ext cx="4743907" cy="466344"/>
          </a:xfrm>
          <a:prstGeom prst="rect">
            <a:avLst/>
          </a:prstGeom>
          <a:solidFill>
            <a:srgbClr val="FB923C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6267146" y="2767865"/>
            <a:ext cx="1857146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8123378" y="2767865"/>
            <a:ext cx="2895905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6267146" y="3235124"/>
            <a:ext cx="1857146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8123378" y="3235124"/>
            <a:ext cx="2895905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6267146" y="3701468"/>
            <a:ext cx="1857146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123378" y="3701468"/>
            <a:ext cx="2895905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6267146" y="4168726"/>
            <a:ext cx="1857146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8123378" y="4168726"/>
            <a:ext cx="2895905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6267146" y="4635070"/>
            <a:ext cx="1857146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8123378" y="4635070"/>
            <a:ext cx="2895905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6267146" y="5101414"/>
            <a:ext cx="1857146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123378" y="5101414"/>
            <a:ext cx="2895905" cy="9144"/>
          </a:xfrm>
          <a:prstGeom prst="rect">
            <a:avLst/>
          </a:prstGeom>
          <a:solidFill>
            <a:srgbClr val="1E293B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 txBox="1"/>
          <p:nvPr/>
        </p:nvSpPr>
        <p:spPr>
          <a:xfrm>
            <a:off x="6419851" y="2424965"/>
            <a:ext cx="3721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Chr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8276083" y="2424965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SNP가 위치한 염색체 번호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6419851" y="289222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Start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8276083" y="2892224"/>
            <a:ext cx="23344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변이가 발생한 염기 위치(Position)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419851" y="335856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Ref / Alt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8276083" y="3358568"/>
            <a:ext cx="2009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기준염기(Ref) / 변이염기(Alt)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6419851" y="3825826"/>
            <a:ext cx="14100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Allele_A / Allele_B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8276083" y="3825826"/>
            <a:ext cx="25914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Microarray 프로브에서 감지된 두 염기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6419851" y="429217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call_code(AA/AB/BB)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8276083" y="4292170"/>
            <a:ext cx="22576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검출된 실제 유전자형(Genotype)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6419851" y="4758514"/>
            <a:ext cx="13341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CR / FLD / HetSO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8276083" y="4758514"/>
            <a:ext cx="10387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품질(QC) 지표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6419851" y="5225772"/>
            <a:ext cx="9720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probeset_id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8276083" y="5225772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SNP 마커 고유 ID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Id12">
            <a:alphaModFix/>
          </a:blip>
          <a:srcRect b="0" l="-2512" r="-2512" t="0"/>
          <a:stretch/>
        </p:blipFill>
        <p:spPr>
          <a:xfrm>
            <a:off x="6267146" y="5832934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 txBox="1"/>
          <p:nvPr/>
        </p:nvSpPr>
        <p:spPr>
          <a:xfrm>
            <a:off x="6438595" y="5786677"/>
            <a:ext cx="4652011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유전자형 데이터는 이후 전처리 단계에서 0(AA), 1(AB), 2(BB), -1(NoCall)과 같이 </a:t>
            </a:r>
            <a:b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수치형으로 인코딩되어 머신러닝 모델의 입력값으로 사용됩니다.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124291" y="1844590"/>
            <a:ext cx="2886761" cy="457200"/>
          </a:xfrm>
          <a:prstGeom prst="roundRect">
            <a:avLst>
              <a:gd fmla="val 33333" name="adj"/>
            </a:avLst>
          </a:prstGeom>
          <a:solidFill>
            <a:srgbClr val="FB923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5992000" y="1564895"/>
            <a:ext cx="5064380" cy="1424558"/>
          </a:xfrm>
          <a:prstGeom prst="roundRect">
            <a:avLst>
              <a:gd fmla="val 333" name="adj"/>
            </a:avLst>
          </a:prstGeom>
          <a:solidFill>
            <a:srgbClr val="FFFF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556026" y="680029"/>
            <a:ext cx="3983303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2.데이터 정제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556027" y="1137229"/>
            <a:ext cx="33631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유전체 데이터 정제 파이프라인의 작업 흐름 및 목적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009843" y="3399059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파이프라인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6642101" y="1757247"/>
            <a:ext cx="16578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환경 설정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903555" y="1564894"/>
            <a:ext cx="4859846" cy="1424558"/>
          </a:xfrm>
          <a:prstGeom prst="roundRect">
            <a:avLst>
              <a:gd fmla="val 333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8"/>
          <p:cNvPicPr preferRelativeResize="0"/>
          <p:nvPr/>
        </p:nvPicPr>
        <p:blipFill rotWithShape="1">
          <a:blip r:embed="rId3">
            <a:alphaModFix/>
          </a:blip>
          <a:srcRect b="0" l="-505" r="-504" t="0"/>
          <a:stretch/>
        </p:blipFill>
        <p:spPr>
          <a:xfrm>
            <a:off x="1135620" y="1716226"/>
            <a:ext cx="228600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8"/>
          <p:cNvSpPr txBox="1"/>
          <p:nvPr/>
        </p:nvSpPr>
        <p:spPr>
          <a:xfrm>
            <a:off x="1478520" y="1677820"/>
            <a:ext cx="86136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 기술 스택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455105" y="2020569"/>
            <a:ext cx="1467525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8"/>
          <p:cNvPicPr preferRelativeResize="0"/>
          <p:nvPr/>
        </p:nvPicPr>
        <p:blipFill rotWithShape="1">
          <a:blip r:embed="rId4">
            <a:alphaModFix/>
          </a:blip>
          <a:srcRect b="-42" l="0" r="0" t="-43"/>
          <a:stretch/>
        </p:blipFill>
        <p:spPr>
          <a:xfrm>
            <a:off x="1531000" y="2122982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/>
          <p:nvPr/>
        </p:nvSpPr>
        <p:spPr>
          <a:xfrm>
            <a:off x="3032482" y="2006624"/>
            <a:ext cx="946901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1477364" y="2455016"/>
            <a:ext cx="970178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1719595" y="2096465"/>
            <a:ext cx="127467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Python 데이터 처리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7" name="Google Shape;22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9292" y="2109037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8"/>
          <p:cNvSpPr txBox="1"/>
          <p:nvPr/>
        </p:nvSpPr>
        <p:spPr>
          <a:xfrm>
            <a:off x="3294457" y="2082520"/>
            <a:ext cx="57973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Pandas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53258" y="2557429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4056193" y="2003195"/>
            <a:ext cx="946901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1716286" y="2522385"/>
            <a:ext cx="741578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os, glob, 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33003" y="2105608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"/>
          <p:cNvSpPr/>
          <p:nvPr/>
        </p:nvSpPr>
        <p:spPr>
          <a:xfrm>
            <a:off x="2531628" y="2469799"/>
            <a:ext cx="1595996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 txBox="1"/>
          <p:nvPr/>
        </p:nvSpPr>
        <p:spPr>
          <a:xfrm>
            <a:off x="4341931" y="2082520"/>
            <a:ext cx="64648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Numpy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5" name="Google Shape;235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07523" y="257312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8"/>
          <p:cNvSpPr/>
          <p:nvPr/>
        </p:nvSpPr>
        <p:spPr>
          <a:xfrm>
            <a:off x="4201778" y="2461493"/>
            <a:ext cx="972124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 txBox="1"/>
          <p:nvPr/>
        </p:nvSpPr>
        <p:spPr>
          <a:xfrm>
            <a:off x="2760228" y="2546608"/>
            <a:ext cx="1442660" cy="184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matplotlib, seaborn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8" name="Google Shape;238;p8"/>
          <p:cNvPicPr preferRelativeResize="0"/>
          <p:nvPr/>
        </p:nvPicPr>
        <p:blipFill rotWithShape="1">
          <a:blip r:embed="rId9">
            <a:alphaModFix/>
          </a:blip>
          <a:srcRect b="-179" l="0" r="0" t="-180"/>
          <a:stretch/>
        </p:blipFill>
        <p:spPr>
          <a:xfrm>
            <a:off x="4278587" y="2564820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 txBox="1"/>
          <p:nvPr/>
        </p:nvSpPr>
        <p:spPr>
          <a:xfrm>
            <a:off x="4468782" y="2538302"/>
            <a:ext cx="59893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Jupyter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1078470" y="1632025"/>
            <a:ext cx="342900" cy="342900"/>
          </a:xfrm>
          <a:prstGeom prst="roundRect">
            <a:avLst>
              <a:gd fmla="val 44444" name="adj"/>
            </a:avLst>
          </a:prstGeom>
          <a:solidFill>
            <a:srgbClr val="0891B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6200141" y="1716226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8"/>
          <p:cNvPicPr preferRelativeResize="0"/>
          <p:nvPr/>
        </p:nvPicPr>
        <p:blipFill rotWithShape="1">
          <a:blip r:embed="rId10">
            <a:alphaModFix/>
          </a:blip>
          <a:srcRect b="-100" l="0" r="0" t="-100"/>
          <a:stretch/>
        </p:blipFill>
        <p:spPr>
          <a:xfrm>
            <a:off x="6314441" y="1811323"/>
            <a:ext cx="114300" cy="1527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8"/>
          <p:cNvGrpSpPr/>
          <p:nvPr/>
        </p:nvGrpSpPr>
        <p:grpSpPr>
          <a:xfrm>
            <a:off x="1754132" y="3977483"/>
            <a:ext cx="2785197" cy="1292810"/>
            <a:chOff x="1569082" y="4109577"/>
            <a:chExt cx="2785197" cy="1292810"/>
          </a:xfrm>
        </p:grpSpPr>
        <p:sp>
          <p:nvSpPr>
            <p:cNvPr id="244" name="Google Shape;244;p8"/>
            <p:cNvSpPr/>
            <p:nvPr/>
          </p:nvSpPr>
          <p:spPr>
            <a:xfrm>
              <a:off x="1693440" y="4233021"/>
              <a:ext cx="2241509" cy="1169366"/>
            </a:xfrm>
            <a:prstGeom prst="roundRect">
              <a:avLst>
                <a:gd fmla="val 1051" name="adj"/>
              </a:avLst>
            </a:prstGeom>
            <a:solidFill>
              <a:srgbClr val="FFFFFF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1569082" y="4109577"/>
              <a:ext cx="304495" cy="304495"/>
            </a:xfrm>
            <a:prstGeom prst="ellipse">
              <a:avLst/>
            </a:prstGeom>
            <a:solidFill>
              <a:srgbClr val="F8FAFC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1616173" y="4147982"/>
              <a:ext cx="210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891B2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0891B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1989044" y="4407966"/>
              <a:ext cx="1574448" cy="257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패턴 탐색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1980499" y="4712766"/>
              <a:ext cx="18598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파일 구조 분석 및 일관성 검증을 통한 유전체 데이터 기초 탐색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249" name="Google Shape;249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087274" y="4674666"/>
              <a:ext cx="267005" cy="2670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reencoded.png" id="250" name="Google Shape;250;p8"/>
          <p:cNvPicPr preferRelativeResize="0"/>
          <p:nvPr/>
        </p:nvPicPr>
        <p:blipFill rotWithShape="1">
          <a:blip r:embed="rId12">
            <a:alphaModFix/>
          </a:blip>
          <a:srcRect b="-3184" l="0" r="0" t="-3185"/>
          <a:stretch/>
        </p:blipFill>
        <p:spPr>
          <a:xfrm>
            <a:off x="557635" y="3403540"/>
            <a:ext cx="345920" cy="294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8"/>
          <p:cNvGrpSpPr/>
          <p:nvPr/>
        </p:nvGrpSpPr>
        <p:grpSpPr>
          <a:xfrm>
            <a:off x="4795019" y="3977483"/>
            <a:ext cx="2785197" cy="1292810"/>
            <a:chOff x="4609969" y="4083689"/>
            <a:chExt cx="2785197" cy="1292810"/>
          </a:xfrm>
        </p:grpSpPr>
        <p:sp>
          <p:nvSpPr>
            <p:cNvPr id="252" name="Google Shape;252;p8"/>
            <p:cNvSpPr/>
            <p:nvPr/>
          </p:nvSpPr>
          <p:spPr>
            <a:xfrm>
              <a:off x="4734327" y="4207133"/>
              <a:ext cx="2241509" cy="1169366"/>
            </a:xfrm>
            <a:prstGeom prst="roundRect">
              <a:avLst>
                <a:gd fmla="val 1051" name="adj"/>
              </a:avLst>
            </a:prstGeom>
            <a:solidFill>
              <a:srgbClr val="FFFFFF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4609969" y="4083689"/>
              <a:ext cx="304495" cy="304495"/>
            </a:xfrm>
            <a:prstGeom prst="ellipse">
              <a:avLst/>
            </a:prstGeom>
            <a:solidFill>
              <a:srgbClr val="F8FAFC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8"/>
            <p:cNvSpPr txBox="1"/>
            <p:nvPr/>
          </p:nvSpPr>
          <p:spPr>
            <a:xfrm>
              <a:off x="4657060" y="4122094"/>
              <a:ext cx="210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891B2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0891B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5029931" y="4382078"/>
              <a:ext cx="1509862" cy="257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와이드 포맷 생성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5039033" y="4696307"/>
              <a:ext cx="1793319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개별 샘플 파일에서 통합 유전자형 행렬로의 변환 과정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257" name="Google Shape;257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128161" y="4648778"/>
              <a:ext cx="267005" cy="2670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8" name="Google Shape;258;p8"/>
          <p:cNvGrpSpPr/>
          <p:nvPr/>
        </p:nvGrpSpPr>
        <p:grpSpPr>
          <a:xfrm>
            <a:off x="7835906" y="3943696"/>
            <a:ext cx="2365867" cy="1292810"/>
            <a:chOff x="7650856" y="4112178"/>
            <a:chExt cx="2365867" cy="1292810"/>
          </a:xfrm>
        </p:grpSpPr>
        <p:sp>
          <p:nvSpPr>
            <p:cNvPr id="259" name="Google Shape;259;p8"/>
            <p:cNvSpPr/>
            <p:nvPr/>
          </p:nvSpPr>
          <p:spPr>
            <a:xfrm>
              <a:off x="7775214" y="4235622"/>
              <a:ext cx="2241509" cy="1169366"/>
            </a:xfrm>
            <a:prstGeom prst="roundRect">
              <a:avLst>
                <a:gd fmla="val 1051" name="adj"/>
              </a:avLst>
            </a:prstGeom>
            <a:solidFill>
              <a:srgbClr val="FFFFFF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7650856" y="4112178"/>
              <a:ext cx="304495" cy="304495"/>
            </a:xfrm>
            <a:prstGeom prst="ellipse">
              <a:avLst/>
            </a:prstGeom>
            <a:solidFill>
              <a:srgbClr val="F8FAFC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8"/>
            <p:cNvSpPr txBox="1"/>
            <p:nvPr/>
          </p:nvSpPr>
          <p:spPr>
            <a:xfrm>
              <a:off x="7697947" y="4150583"/>
              <a:ext cx="210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891B2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0891B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8070818" y="4410567"/>
              <a:ext cx="130302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전처리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8079921" y="4737496"/>
              <a:ext cx="180800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정리 과정, 인코딩 전략, 최종 산출물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reencoded.png" id="264" name="Google Shape;264;p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295238" y="220540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 txBox="1"/>
          <p:nvPr/>
        </p:nvSpPr>
        <p:spPr>
          <a:xfrm>
            <a:off x="6536886" y="2167916"/>
            <a:ext cx="22960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pandas, numpy 라이브러리 활용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6" name="Google Shape;266;p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718187" y="219580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8"/>
          <p:cNvSpPr txBox="1"/>
          <p:nvPr/>
        </p:nvSpPr>
        <p:spPr>
          <a:xfrm>
            <a:off x="8948880" y="2147442"/>
            <a:ext cx="19915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matplotlib, seaborn 최적화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295238" y="255354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8"/>
          <p:cNvSpPr txBox="1"/>
          <p:nvPr/>
        </p:nvSpPr>
        <p:spPr>
          <a:xfrm>
            <a:off x="6536886" y="2510816"/>
            <a:ext cx="13908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tqdm 프로그레스바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8"/>
          <p:cNvPicPr preferRelativeResize="0"/>
          <p:nvPr/>
        </p:nvPicPr>
        <p:blipFill rotWithShape="1">
          <a:blip r:embed="rId16">
            <a:alphaModFix/>
          </a:blip>
          <a:srcRect b="-42" l="0" r="0" t="-43"/>
          <a:stretch/>
        </p:blipFill>
        <p:spPr>
          <a:xfrm>
            <a:off x="8727788" y="2550951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8"/>
          <p:cNvSpPr txBox="1"/>
          <p:nvPr/>
        </p:nvSpPr>
        <p:spPr>
          <a:xfrm>
            <a:off x="8948880" y="2510816"/>
            <a:ext cx="2124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OS 감지 및 한글 폰트 적용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 txBox="1"/>
          <p:nvPr/>
        </p:nvSpPr>
        <p:spPr>
          <a:xfrm>
            <a:off x="613867" y="942744"/>
            <a:ext cx="3522124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2.1.데이터 패턴 탐색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601570" y="1496474"/>
            <a:ext cx="5143500" cy="1190551"/>
          </a:xfrm>
          <a:prstGeom prst="roundRect">
            <a:avLst>
              <a:gd fmla="val 5189" name="adj"/>
            </a:avLst>
          </a:prstGeom>
          <a:solidFill>
            <a:srgbClr val="FFFFFF"/>
          </a:solidFill>
          <a:ln cap="flat" cmpd="sng" w="12700">
            <a:solidFill>
              <a:srgbClr val="729AF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801824" y="1619919"/>
            <a:ext cx="342900" cy="342900"/>
          </a:xfrm>
          <a:prstGeom prst="roundRect">
            <a:avLst>
              <a:gd fmla="val 44444" name="adj"/>
            </a:avLst>
          </a:prstGeom>
          <a:solidFill>
            <a:srgbClr val="0891B2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921" y="171501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9"/>
          <p:cNvSpPr txBox="1"/>
          <p:nvPr/>
        </p:nvSpPr>
        <p:spPr>
          <a:xfrm>
            <a:off x="1259024" y="1648265"/>
            <a:ext cx="1305763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구조 관찰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830627" y="2013340"/>
            <a:ext cx="4496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초기 관찰: call_code를 제외한 모든 컬럼이 파일 간 동일한 값을 가짐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832675" y="2292461"/>
            <a:ext cx="30486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→ 마치 하나의 템플릿처럼 일관된 구조를 보임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" name="Google Shape;284;p9"/>
          <p:cNvGrpSpPr/>
          <p:nvPr/>
        </p:nvGrpSpPr>
        <p:grpSpPr>
          <a:xfrm>
            <a:off x="601570" y="4422856"/>
            <a:ext cx="5143500" cy="1315362"/>
            <a:chOff x="601570" y="2822000"/>
            <a:chExt cx="5143500" cy="1315362"/>
          </a:xfrm>
        </p:grpSpPr>
        <p:sp>
          <p:nvSpPr>
            <p:cNvPr id="285" name="Google Shape;285;p9"/>
            <p:cNvSpPr/>
            <p:nvPr/>
          </p:nvSpPr>
          <p:spPr>
            <a:xfrm>
              <a:off x="601570" y="2822000"/>
              <a:ext cx="5143500" cy="1315362"/>
            </a:xfrm>
            <a:prstGeom prst="roundRect">
              <a:avLst>
                <a:gd fmla="val 4130" name="adj"/>
              </a:avLst>
            </a:prstGeom>
            <a:solidFill>
              <a:srgbClr val="FFFFFF"/>
            </a:solidFill>
            <a:ln cap="flat" cmpd="sng" w="12700">
              <a:solidFill>
                <a:srgbClr val="C189F3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5400000" dist="25400">
                <a:srgbClr val="000000">
                  <a:alpha val="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9"/>
            <p:cNvSpPr/>
            <p:nvPr/>
          </p:nvSpPr>
          <p:spPr>
            <a:xfrm>
              <a:off x="801824" y="2950012"/>
              <a:ext cx="342900" cy="342900"/>
            </a:xfrm>
            <a:prstGeom prst="roundRect">
              <a:avLst>
                <a:gd fmla="val 44444" name="adj"/>
              </a:avLst>
            </a:prstGeom>
            <a:solidFill>
              <a:srgbClr val="9333EA">
                <a:alpha val="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87" name="Google Shape;287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921" y="3045110"/>
              <a:ext cx="152705" cy="152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9"/>
            <p:cNvSpPr txBox="1"/>
            <p:nvPr/>
          </p:nvSpPr>
          <p:spPr>
            <a:xfrm>
              <a:off x="1259024" y="2978359"/>
              <a:ext cx="905256" cy="277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1F293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검증 절차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9"/>
            <p:cNvSpPr txBox="1"/>
            <p:nvPr/>
          </p:nvSpPr>
          <p:spPr>
            <a:xfrm>
              <a:off x="801824" y="3397072"/>
              <a:ext cx="4524908" cy="258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행(row) 개수 일치성 검증으로 모든 파일의 행 개수를 비교하여 분포 확인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9"/>
            <p:cNvSpPr txBox="1"/>
            <p:nvPr/>
          </p:nvSpPr>
          <p:spPr>
            <a:xfrm>
              <a:off x="801824" y="3695352"/>
              <a:ext cx="4782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probeset_id 완전 일치성 검증, 각 probeset_id별 값 일치율 계산 및 분석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9"/>
          <p:cNvGrpSpPr/>
          <p:nvPr/>
        </p:nvGrpSpPr>
        <p:grpSpPr>
          <a:xfrm>
            <a:off x="601570" y="2798680"/>
            <a:ext cx="5143500" cy="1477193"/>
            <a:chOff x="601570" y="4272337"/>
            <a:chExt cx="5143500" cy="1477193"/>
          </a:xfrm>
        </p:grpSpPr>
        <p:sp>
          <p:nvSpPr>
            <p:cNvPr id="292" name="Google Shape;292;p9"/>
            <p:cNvSpPr/>
            <p:nvPr/>
          </p:nvSpPr>
          <p:spPr>
            <a:xfrm>
              <a:off x="601570" y="4272337"/>
              <a:ext cx="5143500" cy="1477193"/>
            </a:xfrm>
            <a:prstGeom prst="roundRect">
              <a:avLst>
                <a:gd fmla="val 3941" name="adj"/>
              </a:avLst>
            </a:prstGeom>
            <a:solidFill>
              <a:srgbClr val="FFFFFF"/>
            </a:solidFill>
            <a:ln cap="flat" cmpd="sng" w="12700">
              <a:solidFill>
                <a:srgbClr val="FDC49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bl" dir="5400000" dist="25400">
                <a:srgbClr val="000000">
                  <a:alpha val="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801824" y="4403102"/>
              <a:ext cx="342900" cy="342900"/>
            </a:xfrm>
            <a:prstGeom prst="roundRect">
              <a:avLst>
                <a:gd fmla="val 44444" name="adj"/>
              </a:avLst>
            </a:prstGeom>
            <a:solidFill>
              <a:srgbClr val="FB923C">
                <a:alpha val="980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94" name="Google Shape;294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96921" y="4498199"/>
              <a:ext cx="152705" cy="152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9"/>
            <p:cNvSpPr txBox="1"/>
            <p:nvPr/>
          </p:nvSpPr>
          <p:spPr>
            <a:xfrm>
              <a:off x="1259024" y="4431448"/>
              <a:ext cx="905256" cy="277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1F293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관찰 결과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9"/>
            <p:cNvSpPr txBox="1"/>
            <p:nvPr/>
          </p:nvSpPr>
          <p:spPr>
            <a:xfrm>
              <a:off x="896921" y="4865580"/>
              <a:ext cx="2956017" cy="256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전체 파일 행 개수 분포(총 94개 파일 스캔 완료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9"/>
            <p:cNvSpPr txBox="1"/>
            <p:nvPr/>
          </p:nvSpPr>
          <p:spPr>
            <a:xfrm>
              <a:off x="925268" y="5163209"/>
              <a:ext cx="2153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479,919 행: 51개 파일 (54.3%)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9"/>
            <p:cNvSpPr txBox="1"/>
            <p:nvPr/>
          </p:nvSpPr>
          <p:spPr>
            <a:xfrm>
              <a:off x="925268" y="5400164"/>
              <a:ext cx="2153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74151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7415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478,231 행: 43개 파일 (45.7%)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reencoded.png" id="299" name="Google Shape;299;p9"/>
          <p:cNvPicPr preferRelativeResize="0"/>
          <p:nvPr/>
        </p:nvPicPr>
        <p:blipFill rotWithShape="1">
          <a:blip r:embed="rId6">
            <a:alphaModFix/>
          </a:blip>
          <a:srcRect b="0" l="-5" r="-4" t="0"/>
          <a:stretch/>
        </p:blipFill>
        <p:spPr>
          <a:xfrm>
            <a:off x="6095847" y="1786796"/>
            <a:ext cx="5494583" cy="330967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9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"/>
          <p:cNvSpPr txBox="1"/>
          <p:nvPr/>
        </p:nvSpPr>
        <p:spPr>
          <a:xfrm>
            <a:off x="690145" y="713438"/>
            <a:ext cx="3205886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2.2.와이드 포맷 생성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1089737" y="1434834"/>
            <a:ext cx="2958999" cy="3509467"/>
          </a:xfrm>
          <a:prstGeom prst="roundRect">
            <a:avLst>
              <a:gd fmla="val 1051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940004" y="1305055"/>
            <a:ext cx="30449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 txBox="1"/>
          <p:nvPr/>
        </p:nvSpPr>
        <p:spPr>
          <a:xfrm>
            <a:off x="1047903" y="1343460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2186103" y="1697835"/>
            <a:ext cx="666598" cy="666598"/>
          </a:xfrm>
          <a:prstGeom prst="ellipse">
            <a:avLst/>
          </a:prstGeom>
          <a:solidFill>
            <a:srgbClr val="E0F2FE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2817" y="1878886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0"/>
          <p:cNvSpPr txBox="1"/>
          <p:nvPr/>
        </p:nvSpPr>
        <p:spPr>
          <a:xfrm>
            <a:off x="2293088" y="2506511"/>
            <a:ext cx="452628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입력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1995451" y="2840267"/>
            <a:ext cx="10479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개별 샘플 파일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1900353" y="3297467"/>
            <a:ext cx="1238098" cy="304495"/>
          </a:xfrm>
          <a:prstGeom prst="roundRect">
            <a:avLst>
              <a:gd fmla="val 37538" name="adj"/>
            </a:avLst>
          </a:prstGeom>
          <a:solidFill>
            <a:srgbClr val="000000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 txBox="1"/>
          <p:nvPr/>
        </p:nvSpPr>
        <p:spPr>
          <a:xfrm>
            <a:off x="1948817" y="3373362"/>
            <a:ext cx="1141171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sample_001.csv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1327024" y="3744608"/>
            <a:ext cx="1304849" cy="25694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2628215" y="3744608"/>
            <a:ext cx="1076249" cy="25694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 txBox="1"/>
          <p:nvPr/>
        </p:nvSpPr>
        <p:spPr>
          <a:xfrm>
            <a:off x="1639749" y="3787585"/>
            <a:ext cx="762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probeset_id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 txBox="1"/>
          <p:nvPr/>
        </p:nvSpPr>
        <p:spPr>
          <a:xfrm>
            <a:off x="2900706" y="3787585"/>
            <a:ext cx="619963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call_code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1327024" y="4002469"/>
            <a:ext cx="13048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2628215" y="4002469"/>
            <a:ext cx="10762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1327024" y="4259416"/>
            <a:ext cx="13048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2628215" y="4259416"/>
            <a:ext cx="10762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1327024" y="4516362"/>
            <a:ext cx="13048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2628215" y="4516362"/>
            <a:ext cx="10762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 txBox="1"/>
          <p:nvPr/>
        </p:nvSpPr>
        <p:spPr>
          <a:xfrm>
            <a:off x="1684554" y="4044532"/>
            <a:ext cx="6766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SNP_A-101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3097302" y="4044532"/>
            <a:ext cx="22860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AA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1684554" y="4302392"/>
            <a:ext cx="6766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SNP_A-102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 txBox="1"/>
          <p:nvPr/>
        </p:nvSpPr>
        <p:spPr>
          <a:xfrm>
            <a:off x="3093645" y="4302392"/>
            <a:ext cx="238658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AB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1684554" y="4559339"/>
            <a:ext cx="6766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SNP_A-103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3090901" y="4559339"/>
            <a:ext cx="238658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BB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4445" y="3160734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0"/>
          <p:cNvSpPr/>
          <p:nvPr/>
        </p:nvSpPr>
        <p:spPr>
          <a:xfrm>
            <a:off x="4791684" y="1744120"/>
            <a:ext cx="2923728" cy="2781605"/>
          </a:xfrm>
          <a:prstGeom prst="roundRect">
            <a:avLst>
              <a:gd fmla="val 1351" name="adj"/>
            </a:avLst>
          </a:prstGeom>
          <a:solidFill>
            <a:srgbClr val="FFFFFF"/>
          </a:solidFill>
          <a:ln cap="flat" cmpd="sng" w="25400">
            <a:solidFill>
              <a:srgbClr val="C189F3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4600247" y="1611882"/>
            <a:ext cx="30086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C18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4707023" y="1650286"/>
            <a:ext cx="2078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33EA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9333E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5849277" y="2097316"/>
            <a:ext cx="658652" cy="666598"/>
          </a:xfrm>
          <a:prstGeom prst="ellipse">
            <a:avLst/>
          </a:prstGeom>
          <a:solidFill>
            <a:srgbClr val="F3E8FF"/>
          </a:solidFill>
          <a:ln cap="flat" cmpd="sng" w="25400">
            <a:solidFill>
              <a:srgbClr val="C18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7" name="Google Shape;337;p10"/>
          <p:cNvPicPr preferRelativeResize="0"/>
          <p:nvPr/>
        </p:nvPicPr>
        <p:blipFill rotWithShape="1">
          <a:blip r:embed="rId5">
            <a:alphaModFix/>
          </a:blip>
          <a:srcRect b="0" l="-90" r="-90" t="0"/>
          <a:stretch/>
        </p:blipFill>
        <p:spPr>
          <a:xfrm>
            <a:off x="5988523" y="2278367"/>
            <a:ext cx="376760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0"/>
          <p:cNvSpPr txBox="1"/>
          <p:nvPr/>
        </p:nvSpPr>
        <p:spPr>
          <a:xfrm>
            <a:off x="6032655" y="2916161"/>
            <a:ext cx="447232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처리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5454030" y="3211513"/>
            <a:ext cx="1600099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probeset_id 기준 병합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5628937" y="3477604"/>
            <a:ext cx="124231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call_code 인코딩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4914828" y="3825990"/>
            <a:ext cx="2625571" cy="476402"/>
          </a:xfrm>
          <a:prstGeom prst="roundRect">
            <a:avLst>
              <a:gd fmla="val 30710" name="adj"/>
            </a:avLst>
          </a:prstGeom>
          <a:solidFill>
            <a:srgbClr val="9333EA">
              <a:alpha val="9803"/>
            </a:srgbClr>
          </a:solidFill>
          <a:ln cap="flat" cmpd="sng" w="12700">
            <a:solidFill>
              <a:srgbClr val="C189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 txBox="1"/>
          <p:nvPr/>
        </p:nvSpPr>
        <p:spPr>
          <a:xfrm>
            <a:off x="5936954" y="3902799"/>
            <a:ext cx="640582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인코딩 스킴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5337128" y="4054590"/>
            <a:ext cx="185488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AA → 0, AB → 1, BB → 2, NC → -1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56730" y="2900618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0"/>
          <p:cNvSpPr/>
          <p:nvPr/>
        </p:nvSpPr>
        <p:spPr>
          <a:xfrm>
            <a:off x="8430085" y="1456966"/>
            <a:ext cx="2880358" cy="3254284"/>
          </a:xfrm>
          <a:prstGeom prst="roundRect">
            <a:avLst>
              <a:gd fmla="val 1051" name="adj"/>
            </a:avLst>
          </a:prstGeom>
          <a:solidFill>
            <a:srgbClr val="FFFF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8308470" y="1305175"/>
            <a:ext cx="30449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 txBox="1"/>
          <p:nvPr/>
        </p:nvSpPr>
        <p:spPr>
          <a:xfrm>
            <a:off x="8420560" y="1342665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10B981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9492007" y="1720704"/>
            <a:ext cx="666598" cy="666598"/>
          </a:xfrm>
          <a:prstGeom prst="ellipse">
            <a:avLst/>
          </a:prstGeom>
          <a:solidFill>
            <a:srgbClr val="F0FDF4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86622" y="1911280"/>
            <a:ext cx="304495" cy="30449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0"/>
          <p:cNvSpPr txBox="1"/>
          <p:nvPr/>
        </p:nvSpPr>
        <p:spPr>
          <a:xfrm>
            <a:off x="9627947" y="2510746"/>
            <a:ext cx="452628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출력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9092109" y="2796496"/>
            <a:ext cx="16194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샘플×마커 와이드 행렬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9244356" y="3248069"/>
            <a:ext cx="1314907" cy="304495"/>
          </a:xfrm>
          <a:prstGeom prst="roundRect">
            <a:avLst>
              <a:gd fmla="val 37538" name="adj"/>
            </a:avLst>
          </a:prstGeom>
          <a:solidFill>
            <a:srgbClr val="000000">
              <a:alpha val="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9339454" y="3324878"/>
            <a:ext cx="1217066" cy="143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475569"/>
                </a:solidFill>
                <a:latin typeface="Courier New"/>
                <a:ea typeface="Courier New"/>
                <a:cs typeface="Courier New"/>
                <a:sym typeface="Courier New"/>
              </a:rPr>
              <a:t>wide_format.csv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8592846" y="3720954"/>
            <a:ext cx="838505" cy="25694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9430437" y="3720954"/>
            <a:ext cx="847649" cy="25694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10268942" y="3720954"/>
            <a:ext cx="847649" cy="256946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 txBox="1"/>
          <p:nvPr/>
        </p:nvSpPr>
        <p:spPr>
          <a:xfrm>
            <a:off x="8673314" y="3763931"/>
            <a:ext cx="762610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probeset_id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9510904" y="3763931"/>
            <a:ext cx="771754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sample_001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10350323" y="3763931"/>
            <a:ext cx="771754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sample_002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8592846" y="3977900"/>
            <a:ext cx="838505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9430437" y="3977900"/>
            <a:ext cx="8476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10268942" y="3977900"/>
            <a:ext cx="8476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8592846" y="4234847"/>
            <a:ext cx="838505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9430437" y="4234847"/>
            <a:ext cx="8476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10268942" y="4234847"/>
            <a:ext cx="847649" cy="256946"/>
          </a:xfrm>
          <a:prstGeom prst="rect">
            <a:avLst/>
          </a:prstGeom>
          <a:noFill/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 txBox="1"/>
          <p:nvPr/>
        </p:nvSpPr>
        <p:spPr>
          <a:xfrm>
            <a:off x="8718119" y="4020877"/>
            <a:ext cx="6766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SNP_A-101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 txBox="1"/>
          <p:nvPr/>
        </p:nvSpPr>
        <p:spPr>
          <a:xfrm>
            <a:off x="9818142" y="4020877"/>
            <a:ext cx="1527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 txBox="1"/>
          <p:nvPr/>
        </p:nvSpPr>
        <p:spPr>
          <a:xfrm>
            <a:off x="10657562" y="4020877"/>
            <a:ext cx="1527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 txBox="1"/>
          <p:nvPr/>
        </p:nvSpPr>
        <p:spPr>
          <a:xfrm>
            <a:off x="8718119" y="4277823"/>
            <a:ext cx="676656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SNP_A-102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 txBox="1"/>
          <p:nvPr/>
        </p:nvSpPr>
        <p:spPr>
          <a:xfrm>
            <a:off x="9818142" y="4277823"/>
            <a:ext cx="1527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 txBox="1"/>
          <p:nvPr/>
        </p:nvSpPr>
        <p:spPr>
          <a:xfrm>
            <a:off x="10657562" y="4277823"/>
            <a:ext cx="152705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1068321" y="5159698"/>
            <a:ext cx="3457957" cy="876910"/>
          </a:xfrm>
          <a:prstGeom prst="roundRect">
            <a:avLst>
              <a:gd fmla="val 9181" name="adj"/>
            </a:avLst>
          </a:prstGeom>
          <a:solidFill>
            <a:srgbClr val="FFFFFF"/>
          </a:solidFill>
          <a:ln cap="flat" cmpd="sng" w="1905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3" name="Google Shape;373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0782" y="532200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0"/>
          <p:cNvSpPr/>
          <p:nvPr/>
        </p:nvSpPr>
        <p:spPr>
          <a:xfrm>
            <a:off x="4604689" y="5141630"/>
            <a:ext cx="3365366" cy="876911"/>
          </a:xfrm>
          <a:prstGeom prst="roundRect">
            <a:avLst>
              <a:gd fmla="val 9181" name="adj"/>
            </a:avLst>
          </a:prstGeom>
          <a:solidFill>
            <a:srgbClr val="FFFFFF"/>
          </a:solidFill>
          <a:ln cap="flat" cmpd="sng" w="1905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8110906" y="5141630"/>
            <a:ext cx="3199537" cy="876911"/>
          </a:xfrm>
          <a:prstGeom prst="roundRect">
            <a:avLst>
              <a:gd fmla="val 9181" name="adj"/>
            </a:avLst>
          </a:prstGeom>
          <a:solidFill>
            <a:srgbClr val="FFFFFF"/>
          </a:solidFill>
          <a:ln cap="flat" cmpd="sng" w="1905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 txBox="1"/>
          <p:nvPr/>
        </p:nvSpPr>
        <p:spPr>
          <a:xfrm>
            <a:off x="1459382" y="5274453"/>
            <a:ext cx="15627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키 컬럼: probeset_id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1230782" y="5580951"/>
            <a:ext cx="3186684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샘플 파일에서 일관되게 유지되는 유전자 마커 식별자를 키로 사용하여 데이터 병합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8" name="Google Shape;378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68368" y="5275133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0"/>
          <p:cNvSpPr txBox="1"/>
          <p:nvPr/>
        </p:nvSpPr>
        <p:spPr>
          <a:xfrm>
            <a:off x="4996968" y="5227584"/>
            <a:ext cx="10579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샘플 ID 표준화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 txBox="1"/>
          <p:nvPr/>
        </p:nvSpPr>
        <p:spPr>
          <a:xfrm>
            <a:off x="4768368" y="5522619"/>
            <a:ext cx="3072384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파일명에서 고유 샘플 ID를 추출하여 컬럼명으로 사용 </a:t>
            </a:r>
            <a:br>
              <a:rPr lang="en-US" sz="10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일관된 명명 규칙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1" name="Google Shape;38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2838" y="5275133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0"/>
          <p:cNvSpPr txBox="1"/>
          <p:nvPr/>
        </p:nvSpPr>
        <p:spPr>
          <a:xfrm>
            <a:off x="8541438" y="5227584"/>
            <a:ext cx="866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111827"/>
                </a:solidFill>
                <a:latin typeface="Noto Sans KR"/>
                <a:ea typeface="Noto Sans KR"/>
                <a:cs typeface="Noto Sans KR"/>
                <a:sym typeface="Noto Sans KR"/>
              </a:rPr>
              <a:t>인코딩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 txBox="1"/>
          <p:nvPr/>
        </p:nvSpPr>
        <p:spPr>
          <a:xfrm>
            <a:off x="8290467" y="5523730"/>
            <a:ext cx="3176626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우리는 변이에 관심, Alt Allele라고 변이된 대립유전자의 개수가 call_code안에 얼마나 있는지 count하는 방식을 채택함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418795" y="990296"/>
            <a:ext cx="5600700" cy="1202042"/>
          </a:xfrm>
          <a:prstGeom prst="roundRect">
            <a:avLst>
              <a:gd fmla="val 3239" name="adj"/>
            </a:avLst>
          </a:prstGeom>
          <a:solidFill>
            <a:schemeClr val="lt1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"/>
          <p:cNvSpPr txBox="1"/>
          <p:nvPr/>
        </p:nvSpPr>
        <p:spPr>
          <a:xfrm>
            <a:off x="786384" y="1113280"/>
            <a:ext cx="1696212" cy="187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상태 및 전처리 방침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1"/>
          <p:cNvSpPr txBox="1"/>
          <p:nvPr/>
        </p:nvSpPr>
        <p:spPr>
          <a:xfrm>
            <a:off x="723519" y="1332395"/>
            <a:ext cx="3400654" cy="187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- 현재 상태: 제공받은 데이터는 샘플 단위 전처리 완료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 txBox="1"/>
          <p:nvPr/>
        </p:nvSpPr>
        <p:spPr>
          <a:xfrm>
            <a:off x="723779" y="1528367"/>
            <a:ext cx="1943100" cy="187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- QC 마커 기반 행 제거 미실행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 txBox="1"/>
          <p:nvPr/>
        </p:nvSpPr>
        <p:spPr>
          <a:xfrm>
            <a:off x="736320" y="1720657"/>
            <a:ext cx="3167482" cy="15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  이유: 과도한 QC 시 품종/질병 관련 희귀 변이 손실 위험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717347" y="1926884"/>
            <a:ext cx="3972154" cy="187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- 선택적 제거만 수행: 활용 불가 컬럼(열 단위) 및 마커(행 단위)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428854" y="2585847"/>
            <a:ext cx="5590641" cy="4571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 txBox="1"/>
          <p:nvPr/>
        </p:nvSpPr>
        <p:spPr>
          <a:xfrm>
            <a:off x="418795" y="2327072"/>
            <a:ext cx="1343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컬럼 제거 (열 단위)</a:t>
            </a:r>
            <a:endParaRPr sz="12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9" name="Google Shape;399;p11"/>
          <p:cNvGrpSpPr/>
          <p:nvPr/>
        </p:nvGrpSpPr>
        <p:grpSpPr>
          <a:xfrm>
            <a:off x="428854" y="2784272"/>
            <a:ext cx="5590641" cy="845788"/>
            <a:chOff x="228600" y="3066898"/>
            <a:chExt cx="5790895" cy="1123798"/>
          </a:xfrm>
        </p:grpSpPr>
        <p:sp>
          <p:nvSpPr>
            <p:cNvPr id="400" name="Google Shape;400;p11"/>
            <p:cNvSpPr/>
            <p:nvPr/>
          </p:nvSpPr>
          <p:spPr>
            <a:xfrm>
              <a:off x="228600" y="3066898"/>
              <a:ext cx="5790895" cy="1123798"/>
            </a:xfrm>
            <a:prstGeom prst="roundRect">
              <a:avLst>
                <a:gd fmla="val 5516" name="adj"/>
              </a:avLst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5400000" dist="25400">
                <a:srgbClr val="000000">
                  <a:alpha val="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418795" y="3228746"/>
              <a:ext cx="228600" cy="2286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1"/>
            <p:cNvSpPr txBox="1"/>
            <p:nvPr/>
          </p:nvSpPr>
          <p:spPr>
            <a:xfrm>
              <a:off x="493776" y="3243377"/>
              <a:ext cx="186538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1"/>
            <p:cNvSpPr txBox="1"/>
            <p:nvPr/>
          </p:nvSpPr>
          <p:spPr>
            <a:xfrm>
              <a:off x="724205" y="3228746"/>
              <a:ext cx="10479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완전 결측 컬럼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5336438" y="3228746"/>
              <a:ext cx="523951" cy="228600"/>
            </a:xfrm>
            <a:prstGeom prst="roundRect">
              <a:avLst>
                <a:gd fmla="val 400000" name="adj"/>
              </a:avLst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1"/>
            <p:cNvSpPr txBox="1"/>
            <p:nvPr/>
          </p:nvSpPr>
          <p:spPr>
            <a:xfrm>
              <a:off x="5412334" y="3258007"/>
              <a:ext cx="457200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총 13개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1"/>
            <p:cNvSpPr txBox="1"/>
            <p:nvPr/>
          </p:nvSpPr>
          <p:spPr>
            <a:xfrm>
              <a:off x="724205" y="3534156"/>
              <a:ext cx="23244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대상: 모든 값이 100% Null인 컬럼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1"/>
            <p:cNvSpPr txBox="1"/>
            <p:nvPr/>
          </p:nvSpPr>
          <p:spPr>
            <a:xfrm>
              <a:off x="724205" y="3800246"/>
              <a:ext cx="14100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이유: 분석 가치 없음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11"/>
          <p:cNvGrpSpPr/>
          <p:nvPr/>
        </p:nvGrpSpPr>
        <p:grpSpPr>
          <a:xfrm>
            <a:off x="418795" y="3695022"/>
            <a:ext cx="5600700" cy="845788"/>
            <a:chOff x="228600" y="4343399"/>
            <a:chExt cx="5790895" cy="1061771"/>
          </a:xfrm>
        </p:grpSpPr>
        <p:sp>
          <p:nvSpPr>
            <p:cNvPr id="409" name="Google Shape;409;p11"/>
            <p:cNvSpPr/>
            <p:nvPr/>
          </p:nvSpPr>
          <p:spPr>
            <a:xfrm>
              <a:off x="228600" y="4343399"/>
              <a:ext cx="5790895" cy="1061771"/>
            </a:xfrm>
            <a:prstGeom prst="roundRect">
              <a:avLst>
                <a:gd fmla="val 5516" name="adj"/>
              </a:avLst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5400000" dist="25400">
                <a:srgbClr val="000000">
                  <a:alpha val="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418795" y="4505249"/>
              <a:ext cx="228600" cy="2286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1"/>
            <p:cNvSpPr txBox="1"/>
            <p:nvPr/>
          </p:nvSpPr>
          <p:spPr>
            <a:xfrm>
              <a:off x="493776" y="4519879"/>
              <a:ext cx="186538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1"/>
            <p:cNvSpPr txBox="1"/>
            <p:nvPr/>
          </p:nvSpPr>
          <p:spPr>
            <a:xfrm>
              <a:off x="724205" y="4505249"/>
              <a:ext cx="8668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단일값 컬럼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5399532" y="4505249"/>
              <a:ext cx="466344" cy="228600"/>
            </a:xfrm>
            <a:prstGeom prst="roundRect">
              <a:avLst>
                <a:gd fmla="val 400000" name="adj"/>
              </a:avLst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1"/>
            <p:cNvSpPr txBox="1"/>
            <p:nvPr/>
          </p:nvSpPr>
          <p:spPr>
            <a:xfrm>
              <a:off x="5475427" y="4533595"/>
              <a:ext cx="400507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총 8개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1"/>
            <p:cNvSpPr txBox="1"/>
            <p:nvPr/>
          </p:nvSpPr>
          <p:spPr>
            <a:xfrm>
              <a:off x="724205" y="4809744"/>
              <a:ext cx="26581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대상: 모든 행에서 동일한 값을 가진 컬럼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1"/>
            <p:cNvSpPr txBox="1"/>
            <p:nvPr/>
          </p:nvSpPr>
          <p:spPr>
            <a:xfrm>
              <a:off x="724205" y="5076749"/>
              <a:ext cx="22009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문제점: 변별력 없음, 예측력 없음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11"/>
          <p:cNvGrpSpPr/>
          <p:nvPr/>
        </p:nvGrpSpPr>
        <p:grpSpPr>
          <a:xfrm>
            <a:off x="428854" y="4655642"/>
            <a:ext cx="5590641" cy="2041102"/>
            <a:chOff x="228600" y="5619902"/>
            <a:chExt cx="5790895" cy="2809951"/>
          </a:xfrm>
        </p:grpSpPr>
        <p:sp>
          <p:nvSpPr>
            <p:cNvPr id="418" name="Google Shape;418;p11"/>
            <p:cNvSpPr/>
            <p:nvPr/>
          </p:nvSpPr>
          <p:spPr>
            <a:xfrm>
              <a:off x="228600" y="5619902"/>
              <a:ext cx="5790895" cy="2809951"/>
            </a:xfrm>
            <a:prstGeom prst="roundRect">
              <a:avLst>
                <a:gd fmla="val 882" name="adj"/>
              </a:avLst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5400000" dist="25400">
                <a:srgbClr val="000000">
                  <a:alpha val="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418795" y="5781750"/>
              <a:ext cx="228600" cy="2286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1"/>
            <p:cNvSpPr txBox="1"/>
            <p:nvPr/>
          </p:nvSpPr>
          <p:spPr>
            <a:xfrm>
              <a:off x="493776" y="5796382"/>
              <a:ext cx="186538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1"/>
            <p:cNvSpPr txBox="1"/>
            <p:nvPr/>
          </p:nvSpPr>
          <p:spPr>
            <a:xfrm>
              <a:off x="724205" y="5781751"/>
              <a:ext cx="1524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중복/불필요 컬럼 제거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1"/>
            <p:cNvSpPr/>
            <p:nvPr/>
          </p:nvSpPr>
          <p:spPr>
            <a:xfrm>
              <a:off x="418795" y="6086246"/>
              <a:ext cx="5438851" cy="1419149"/>
            </a:xfrm>
            <a:prstGeom prst="roundRect">
              <a:avLst>
                <a:gd fmla="val 1730" name="adj"/>
              </a:avLst>
            </a:prstGeom>
            <a:noFill/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428854" y="6096305"/>
              <a:ext cx="5419649" cy="352044"/>
            </a:xfrm>
            <a:prstGeom prst="rect">
              <a:avLst/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428854" y="6439205"/>
              <a:ext cx="5419649" cy="914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1"/>
            <p:cNvSpPr txBox="1"/>
            <p:nvPr/>
          </p:nvSpPr>
          <p:spPr>
            <a:xfrm>
              <a:off x="543154" y="6172200"/>
              <a:ext cx="34838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컬럼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1"/>
            <p:cNvSpPr txBox="1"/>
            <p:nvPr/>
          </p:nvSpPr>
          <p:spPr>
            <a:xfrm>
              <a:off x="2284171" y="6172200"/>
              <a:ext cx="6336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제거 이유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1"/>
            <p:cNvSpPr txBox="1"/>
            <p:nvPr/>
          </p:nvSpPr>
          <p:spPr>
            <a:xfrm>
              <a:off x="4244645" y="6172200"/>
              <a:ext cx="34838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대체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428854" y="6443777"/>
              <a:ext cx="5419649" cy="352044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428854" y="6786677"/>
              <a:ext cx="5419649" cy="914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1"/>
            <p:cNvSpPr txBox="1"/>
            <p:nvPr/>
          </p:nvSpPr>
          <p:spPr>
            <a:xfrm>
              <a:off x="543154" y="6524244"/>
              <a:ext cx="738835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Allele_A/B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1"/>
            <p:cNvSpPr txBox="1"/>
            <p:nvPr/>
          </p:nvSpPr>
          <p:spPr>
            <a:xfrm>
              <a:off x="2284171" y="6524244"/>
              <a:ext cx="100492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장비 라벨 (중복)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1"/>
            <p:cNvSpPr txBox="1"/>
            <p:nvPr/>
          </p:nvSpPr>
          <p:spPr>
            <a:xfrm>
              <a:off x="4244645" y="6524244"/>
              <a:ext cx="529438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Ref/Alt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1"/>
            <p:cNvSpPr/>
            <p:nvPr/>
          </p:nvSpPr>
          <p:spPr>
            <a:xfrm>
              <a:off x="428854" y="7138721"/>
              <a:ext cx="5419649" cy="914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1"/>
            <p:cNvSpPr txBox="1"/>
            <p:nvPr/>
          </p:nvSpPr>
          <p:spPr>
            <a:xfrm>
              <a:off x="543154" y="6877202"/>
              <a:ext cx="881482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Affy_SNP_ID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1"/>
            <p:cNvSpPr txBox="1"/>
            <p:nvPr/>
          </p:nvSpPr>
          <p:spPr>
            <a:xfrm>
              <a:off x="2284171" y="6877202"/>
              <a:ext cx="758038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식별자 중복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11"/>
            <p:cNvSpPr txBox="1"/>
            <p:nvPr/>
          </p:nvSpPr>
          <p:spPr>
            <a:xfrm>
              <a:off x="4244645" y="6877202"/>
              <a:ext cx="8622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Probeset_ID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428854" y="7148779"/>
              <a:ext cx="5419649" cy="352044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1"/>
            <p:cNvSpPr txBox="1"/>
            <p:nvPr/>
          </p:nvSpPr>
          <p:spPr>
            <a:xfrm>
              <a:off x="543154" y="7229246"/>
              <a:ext cx="833933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affy_snp_id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11"/>
            <p:cNvSpPr txBox="1"/>
            <p:nvPr/>
          </p:nvSpPr>
          <p:spPr>
            <a:xfrm>
              <a:off x="2284171" y="7229246"/>
              <a:ext cx="881482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대소문자 중복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11"/>
            <p:cNvSpPr txBox="1"/>
            <p:nvPr/>
          </p:nvSpPr>
          <p:spPr>
            <a:xfrm>
              <a:off x="4244645" y="7229246"/>
              <a:ext cx="148133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-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11"/>
            <p:cNvSpPr/>
            <p:nvPr/>
          </p:nvSpPr>
          <p:spPr>
            <a:xfrm>
              <a:off x="418795" y="7619695"/>
              <a:ext cx="5438851" cy="647395"/>
            </a:xfrm>
            <a:prstGeom prst="roundRect">
              <a:avLst>
                <a:gd fmla="val 8308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1"/>
            <p:cNvSpPr txBox="1"/>
            <p:nvPr/>
          </p:nvSpPr>
          <p:spPr>
            <a:xfrm>
              <a:off x="495605" y="7686446"/>
              <a:ext cx="581558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검증 결과: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11"/>
            <p:cNvSpPr txBox="1"/>
            <p:nvPr/>
          </p:nvSpPr>
          <p:spPr>
            <a:xfrm>
              <a:off x="495605" y="7877556"/>
              <a:ext cx="3820363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✅ [Check 1] Affy_SNP_ID vs affy_snp_id: 대소문자만 다른 완벽 중복 컬럼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1"/>
            <p:cNvSpPr txBox="1"/>
            <p:nvPr/>
          </p:nvSpPr>
          <p:spPr>
            <a:xfrm>
              <a:off x="495605" y="8029346"/>
              <a:ext cx="4229100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✅ [Check 2] Probeset_ID / Affy_SNP_ID: 모두 Primary Key 역할 (중복 제거 가능)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11"/>
          <p:cNvSpPr/>
          <p:nvPr/>
        </p:nvSpPr>
        <p:spPr>
          <a:xfrm>
            <a:off x="6172201" y="1282316"/>
            <a:ext cx="5524196" cy="4571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 txBox="1"/>
          <p:nvPr/>
        </p:nvSpPr>
        <p:spPr>
          <a:xfrm>
            <a:off x="6231973" y="997025"/>
            <a:ext cx="1343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마커 제거 (행 단위)</a:t>
            </a:r>
            <a:endParaRPr sz="12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7" name="Google Shape;447;p11"/>
          <p:cNvGrpSpPr/>
          <p:nvPr/>
        </p:nvGrpSpPr>
        <p:grpSpPr>
          <a:xfrm>
            <a:off x="6172201" y="1454225"/>
            <a:ext cx="5524196" cy="1514247"/>
            <a:chOff x="6172200" y="3066898"/>
            <a:chExt cx="5790895" cy="1886407"/>
          </a:xfrm>
        </p:grpSpPr>
        <p:sp>
          <p:nvSpPr>
            <p:cNvPr id="448" name="Google Shape;448;p11"/>
            <p:cNvSpPr/>
            <p:nvPr/>
          </p:nvSpPr>
          <p:spPr>
            <a:xfrm>
              <a:off x="6172200" y="3066898"/>
              <a:ext cx="5790895" cy="1886407"/>
            </a:xfrm>
            <a:prstGeom prst="roundRect">
              <a:avLst>
                <a:gd fmla="val 1959" name="adj"/>
              </a:avLst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5400000" dist="25400">
                <a:srgbClr val="000000">
                  <a:alpha val="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1"/>
            <p:cNvSpPr/>
            <p:nvPr/>
          </p:nvSpPr>
          <p:spPr>
            <a:xfrm>
              <a:off x="6362395" y="3228746"/>
              <a:ext cx="228600" cy="2286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1"/>
            <p:cNvSpPr txBox="1"/>
            <p:nvPr/>
          </p:nvSpPr>
          <p:spPr>
            <a:xfrm>
              <a:off x="6437376" y="3243377"/>
              <a:ext cx="186538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1"/>
            <p:cNvSpPr txBox="1"/>
            <p:nvPr/>
          </p:nvSpPr>
          <p:spPr>
            <a:xfrm>
              <a:off x="6667805" y="3228746"/>
              <a:ext cx="10671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마스터 ID 추출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11"/>
            <p:cNvSpPr txBox="1"/>
            <p:nvPr/>
          </p:nvSpPr>
          <p:spPr>
            <a:xfrm>
              <a:off x="6362395" y="3534156"/>
              <a:ext cx="3072384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목적: Wide format 검증용 기준 Probeset 목록 확보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11"/>
            <p:cNvSpPr txBox="1"/>
            <p:nvPr/>
          </p:nvSpPr>
          <p:spPr>
            <a:xfrm>
              <a:off x="6667805" y="3829507"/>
              <a:ext cx="2414930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`*E04.CEL.txt` 파일에서 마스터 ID 추출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11"/>
            <p:cNvSpPr txBox="1"/>
            <p:nvPr/>
          </p:nvSpPr>
          <p:spPr>
            <a:xfrm>
              <a:off x="6667805" y="4086454"/>
              <a:ext cx="29196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컬럼명 통일 (`probeset_id` → `Probeset_ID`)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1"/>
            <p:cNvSpPr txBox="1"/>
            <p:nvPr/>
          </p:nvSpPr>
          <p:spPr>
            <a:xfrm>
              <a:off x="6667805" y="4343400"/>
              <a:ext cx="1071677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기준 행 개수 설정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11"/>
            <p:cNvSpPr txBox="1"/>
            <p:nvPr/>
          </p:nvSpPr>
          <p:spPr>
            <a:xfrm>
              <a:off x="6667805" y="4600346"/>
              <a:ext cx="3195828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master id 목록과 일치하는 행만 보존, 나머지 행은 제거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p11"/>
          <p:cNvGrpSpPr/>
          <p:nvPr/>
        </p:nvGrpSpPr>
        <p:grpSpPr>
          <a:xfrm>
            <a:off x="6172200" y="3143298"/>
            <a:ext cx="5590641" cy="3534156"/>
            <a:chOff x="6172200" y="5105095"/>
            <a:chExt cx="5790895" cy="4533595"/>
          </a:xfrm>
        </p:grpSpPr>
        <p:sp>
          <p:nvSpPr>
            <p:cNvPr id="458" name="Google Shape;458;p11"/>
            <p:cNvSpPr/>
            <p:nvPr/>
          </p:nvSpPr>
          <p:spPr>
            <a:xfrm>
              <a:off x="6172200" y="5105095"/>
              <a:ext cx="5790895" cy="4533595"/>
            </a:xfrm>
            <a:prstGeom prst="roundRect">
              <a:avLst>
                <a:gd fmla="val 339" name="adj"/>
              </a:avLst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5400000" dist="25400">
                <a:srgbClr val="000000">
                  <a:alpha val="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1"/>
            <p:cNvSpPr/>
            <p:nvPr/>
          </p:nvSpPr>
          <p:spPr>
            <a:xfrm>
              <a:off x="6362395" y="5266944"/>
              <a:ext cx="228600" cy="228600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1"/>
            <p:cNvSpPr txBox="1"/>
            <p:nvPr/>
          </p:nvSpPr>
          <p:spPr>
            <a:xfrm>
              <a:off x="6437376" y="5281574"/>
              <a:ext cx="186538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1"/>
            <p:cNvSpPr txBox="1"/>
            <p:nvPr/>
          </p:nvSpPr>
          <p:spPr>
            <a:xfrm>
              <a:off x="6667805" y="5266944"/>
              <a:ext cx="14200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chr_id 결측 행 처리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1"/>
            <p:cNvSpPr/>
            <p:nvPr/>
          </p:nvSpPr>
          <p:spPr>
            <a:xfrm>
              <a:off x="6362395" y="5572354"/>
              <a:ext cx="5438851" cy="533095"/>
            </a:xfrm>
            <a:prstGeom prst="roundRect">
              <a:avLst>
                <a:gd fmla="val 12252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1"/>
            <p:cNvSpPr txBox="1"/>
            <p:nvPr/>
          </p:nvSpPr>
          <p:spPr>
            <a:xfrm>
              <a:off x="6439205" y="5648249"/>
              <a:ext cx="151058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배경: Mapping 우선순위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1"/>
            <p:cNvSpPr txBox="1"/>
            <p:nvPr/>
          </p:nvSpPr>
          <p:spPr>
            <a:xfrm>
              <a:off x="6439205" y="5838444"/>
              <a:ext cx="22338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dbSNP_RS_ID → chr_id/start/stop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1"/>
            <p:cNvSpPr txBox="1"/>
            <p:nvPr/>
          </p:nvSpPr>
          <p:spPr>
            <a:xfrm>
              <a:off x="6362395" y="6219749"/>
              <a:ext cx="7717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이슈 분석: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1"/>
            <p:cNvSpPr txBox="1"/>
            <p:nvPr/>
          </p:nvSpPr>
          <p:spPr>
            <a:xfrm>
              <a:off x="6373939" y="6486754"/>
              <a:ext cx="31053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✅ dbSNP_RS_ID 결측: 허용 (대체 수단 존재)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1"/>
            <p:cNvSpPr txBox="1"/>
            <p:nvPr/>
          </p:nvSpPr>
          <p:spPr>
            <a:xfrm>
              <a:off x="6373939" y="6752844"/>
              <a:ext cx="32104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❌ chr_id 결측: 제거 필요 (최종 매핑 수단 부재)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1"/>
            <p:cNvSpPr txBox="1"/>
            <p:nvPr/>
          </p:nvSpPr>
          <p:spPr>
            <a:xfrm>
              <a:off x="6362395" y="7095744"/>
              <a:ext cx="10479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카테고리 분류: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1"/>
            <p:cNvSpPr/>
            <p:nvPr/>
          </p:nvSpPr>
          <p:spPr>
            <a:xfrm>
              <a:off x="6362395" y="7362749"/>
              <a:ext cx="2686507" cy="1086307"/>
            </a:xfrm>
            <a:prstGeom prst="roundRect">
              <a:avLst>
                <a:gd fmla="val 2954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1"/>
            <p:cNvSpPr txBox="1"/>
            <p:nvPr/>
          </p:nvSpPr>
          <p:spPr>
            <a:xfrm>
              <a:off x="6448349" y="7448702"/>
              <a:ext cx="1405433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1. 완전 누락형 (대부분)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1"/>
            <p:cNvSpPr txBox="1"/>
            <p:nvPr/>
          </p:nvSpPr>
          <p:spPr>
            <a:xfrm>
              <a:off x="6601054" y="7629754"/>
              <a:ext cx="752551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위치 정보: ❌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1"/>
            <p:cNvSpPr txBox="1"/>
            <p:nvPr/>
          </p:nvSpPr>
          <p:spPr>
            <a:xfrm>
              <a:off x="6601054" y="7819949"/>
              <a:ext cx="648310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ID 정보: ❌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1"/>
            <p:cNvSpPr txBox="1"/>
            <p:nvPr/>
          </p:nvSpPr>
          <p:spPr>
            <a:xfrm>
              <a:off x="6601054" y="8010144"/>
              <a:ext cx="952805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Annotation: 없음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1"/>
            <p:cNvSpPr txBox="1"/>
            <p:nvPr/>
          </p:nvSpPr>
          <p:spPr>
            <a:xfrm>
              <a:off x="6601054" y="8201254"/>
              <a:ext cx="571500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처리: 제거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1"/>
            <p:cNvSpPr/>
            <p:nvPr/>
          </p:nvSpPr>
          <p:spPr>
            <a:xfrm>
              <a:off x="9120226" y="7362749"/>
              <a:ext cx="2686507" cy="1086307"/>
            </a:xfrm>
            <a:prstGeom prst="roundRect">
              <a:avLst>
                <a:gd fmla="val 2954" name="adj"/>
              </a:avLst>
            </a:prstGeom>
            <a:solidFill>
              <a:srgbClr val="FFFFFF"/>
            </a:solidFill>
            <a:ln cap="flat" cmpd="sng" w="12700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1"/>
            <p:cNvSpPr txBox="1"/>
            <p:nvPr/>
          </p:nvSpPr>
          <p:spPr>
            <a:xfrm>
              <a:off x="9206179" y="7448702"/>
              <a:ext cx="1291133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2. 부분 정보형 (일부)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1"/>
            <p:cNvSpPr txBox="1"/>
            <p:nvPr/>
          </p:nvSpPr>
          <p:spPr>
            <a:xfrm>
              <a:off x="9357970" y="7629754"/>
              <a:ext cx="752551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위치 정보: ❌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1"/>
            <p:cNvSpPr txBox="1"/>
            <p:nvPr/>
          </p:nvSpPr>
          <p:spPr>
            <a:xfrm>
              <a:off x="9357970" y="7819949"/>
              <a:ext cx="991210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Disorder 정보: ✅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1"/>
            <p:cNvSpPr txBox="1"/>
            <p:nvPr/>
          </p:nvSpPr>
          <p:spPr>
            <a:xfrm>
              <a:off x="9357970" y="8010144"/>
              <a:ext cx="1962302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딜레마: 질병 연관성은 있으나 매핑 불가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1"/>
            <p:cNvSpPr/>
            <p:nvPr/>
          </p:nvSpPr>
          <p:spPr>
            <a:xfrm>
              <a:off x="6362395" y="8563356"/>
              <a:ext cx="5438851" cy="914400"/>
            </a:xfrm>
            <a:prstGeom prst="roundRect">
              <a:avLst>
                <a:gd fmla="val 4167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1"/>
            <p:cNvSpPr txBox="1"/>
            <p:nvPr/>
          </p:nvSpPr>
          <p:spPr>
            <a:xfrm>
              <a:off x="6439205" y="8639251"/>
              <a:ext cx="1176833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cust_id 분석 결과: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1"/>
            <p:cNvSpPr txBox="1"/>
            <p:nvPr/>
          </p:nvSpPr>
          <p:spPr>
            <a:xfrm>
              <a:off x="6590995" y="8858707"/>
              <a:ext cx="2867558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출처 불명확: 공인된 표준 ID 아님, 고객사 임의 기재 가능성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1"/>
            <p:cNvSpPr txBox="1"/>
            <p:nvPr/>
          </p:nvSpPr>
          <p:spPr>
            <a:xfrm>
              <a:off x="6590995" y="9048902"/>
              <a:ext cx="3020263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검증 불가: 위치/ID 정보 부재, Disorder 이름만으로 판단 불가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1"/>
            <p:cNvSpPr txBox="1"/>
            <p:nvPr/>
          </p:nvSpPr>
          <p:spPr>
            <a:xfrm>
              <a:off x="6590995" y="9239098"/>
              <a:ext cx="2382012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DC2626"/>
                </a:buClr>
                <a:buSzPts val="900"/>
                <a:buFont typeface="Noto Sans KR"/>
                <a:buNone/>
              </a:pPr>
              <a:r>
                <a:rPr lang="en-US" sz="900">
                  <a:solidFill>
                    <a:srgbClr val="DC2626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처리 방침: 분석 신뢰성 확보를 위해 해당 행 제거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5" name="Google Shape;485;p11"/>
          <p:cNvSpPr txBox="1"/>
          <p:nvPr/>
        </p:nvSpPr>
        <p:spPr>
          <a:xfrm>
            <a:off x="428320" y="332376"/>
            <a:ext cx="5175098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2.3.전처리 : 컬럼/마커 정리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6" name="Google Shape;4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604" y="1103293"/>
            <a:ext cx="214427" cy="214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2"/>
          <p:cNvSpPr txBox="1"/>
          <p:nvPr/>
        </p:nvSpPr>
        <p:spPr>
          <a:xfrm>
            <a:off x="403211" y="417837"/>
            <a:ext cx="4668057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3.1.데이터 분석(유전병적 소인 분석)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 txBox="1"/>
          <p:nvPr/>
        </p:nvSpPr>
        <p:spPr>
          <a:xfrm>
            <a:off x="397369" y="855067"/>
            <a:ext cx="33631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유전체 데이터 분석 파이프라인의 작업 흐름 및 목적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1066459" y="2833134"/>
            <a:ext cx="234474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파이프라인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6160935" y="1221864"/>
            <a:ext cx="4859846" cy="1424558"/>
          </a:xfrm>
          <a:prstGeom prst="roundRect">
            <a:avLst>
              <a:gd fmla="val 333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7" name="Google Shape;497;p12"/>
          <p:cNvPicPr preferRelativeResize="0"/>
          <p:nvPr/>
        </p:nvPicPr>
        <p:blipFill rotWithShape="1">
          <a:blip r:embed="rId3">
            <a:alphaModFix/>
          </a:blip>
          <a:srcRect b="0" l="-505" r="-504" t="0"/>
          <a:stretch/>
        </p:blipFill>
        <p:spPr>
          <a:xfrm>
            <a:off x="6393000" y="1373196"/>
            <a:ext cx="228600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2"/>
          <p:cNvSpPr txBox="1"/>
          <p:nvPr/>
        </p:nvSpPr>
        <p:spPr>
          <a:xfrm>
            <a:off x="6735900" y="1334790"/>
            <a:ext cx="86136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 기술 스택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6712485" y="1677539"/>
            <a:ext cx="1467525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0" name="Google Shape;500;p12"/>
          <p:cNvPicPr preferRelativeResize="0"/>
          <p:nvPr/>
        </p:nvPicPr>
        <p:blipFill rotWithShape="1">
          <a:blip r:embed="rId4">
            <a:alphaModFix/>
          </a:blip>
          <a:srcRect b="-42" l="0" r="0" t="-43"/>
          <a:stretch/>
        </p:blipFill>
        <p:spPr>
          <a:xfrm>
            <a:off x="6788380" y="1779952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12"/>
          <p:cNvSpPr/>
          <p:nvPr/>
        </p:nvSpPr>
        <p:spPr>
          <a:xfrm>
            <a:off x="8212914" y="1663594"/>
            <a:ext cx="1309449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6734744" y="2111986"/>
            <a:ext cx="788370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 txBox="1"/>
          <p:nvPr/>
        </p:nvSpPr>
        <p:spPr>
          <a:xfrm>
            <a:off x="6976975" y="1753435"/>
            <a:ext cx="127467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Python 데이터 처리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4" name="Google Shape;50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9724" y="1766007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2"/>
          <p:cNvSpPr txBox="1"/>
          <p:nvPr/>
        </p:nvSpPr>
        <p:spPr>
          <a:xfrm>
            <a:off x="8474889" y="1739490"/>
            <a:ext cx="984130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Pandas, Numpy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9590741" y="1662084"/>
            <a:ext cx="1117709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 txBox="1"/>
          <p:nvPr/>
        </p:nvSpPr>
        <p:spPr>
          <a:xfrm>
            <a:off x="6973666" y="2192618"/>
            <a:ext cx="549448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MYSQL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7604980" y="2126769"/>
            <a:ext cx="1595996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 txBox="1"/>
          <p:nvPr/>
        </p:nvSpPr>
        <p:spPr>
          <a:xfrm>
            <a:off x="9855586" y="1718649"/>
            <a:ext cx="937995" cy="40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Ensembl GTF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0" name="Google Shape;51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0875" y="223009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2"/>
          <p:cNvSpPr/>
          <p:nvPr/>
        </p:nvSpPr>
        <p:spPr>
          <a:xfrm>
            <a:off x="9269842" y="2118463"/>
            <a:ext cx="972124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2"/>
          <p:cNvSpPr txBox="1"/>
          <p:nvPr/>
        </p:nvSpPr>
        <p:spPr>
          <a:xfrm>
            <a:off x="7833580" y="2203578"/>
            <a:ext cx="1442660" cy="1845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matplotlib, seaborn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3" name="Google Shape;513;p12"/>
          <p:cNvPicPr preferRelativeResize="0"/>
          <p:nvPr/>
        </p:nvPicPr>
        <p:blipFill rotWithShape="1">
          <a:blip r:embed="rId7">
            <a:alphaModFix/>
          </a:blip>
          <a:srcRect b="-179" l="0" r="0" t="-180"/>
          <a:stretch/>
        </p:blipFill>
        <p:spPr>
          <a:xfrm>
            <a:off x="9346651" y="2221790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2"/>
          <p:cNvSpPr txBox="1"/>
          <p:nvPr/>
        </p:nvSpPr>
        <p:spPr>
          <a:xfrm>
            <a:off x="9536846" y="2195272"/>
            <a:ext cx="59893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pyliftover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6335850" y="1288995"/>
            <a:ext cx="342900" cy="342900"/>
          </a:xfrm>
          <a:prstGeom prst="roundRect">
            <a:avLst>
              <a:gd fmla="val 44444" name="adj"/>
            </a:avLst>
          </a:prstGeom>
          <a:solidFill>
            <a:srgbClr val="0891B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1023548" y="3308017"/>
            <a:ext cx="1967896" cy="1445662"/>
          </a:xfrm>
          <a:prstGeom prst="roundRect">
            <a:avLst>
              <a:gd fmla="val 1051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899189" y="3185319"/>
            <a:ext cx="30449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 txBox="1"/>
          <p:nvPr/>
        </p:nvSpPr>
        <p:spPr>
          <a:xfrm>
            <a:off x="946280" y="3223724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1184394" y="3469968"/>
            <a:ext cx="1574448" cy="257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매핑 1단계 | 2단계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1215588" y="3802329"/>
            <a:ext cx="1726727" cy="689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 : OMIA 데이터 추출</a:t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: OMIA 데이터 필터링 및 Liftover</a:t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1" name="Google Shape;52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128603" y="3997268"/>
            <a:ext cx="267005" cy="267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2" name="Google Shape;522;p12"/>
          <p:cNvPicPr preferRelativeResize="0"/>
          <p:nvPr/>
        </p:nvPicPr>
        <p:blipFill rotWithShape="1">
          <a:blip r:embed="rId9">
            <a:alphaModFix/>
          </a:blip>
          <a:srcRect b="-3184" l="0" r="0" t="-3185"/>
          <a:stretch/>
        </p:blipFill>
        <p:spPr>
          <a:xfrm>
            <a:off x="614251" y="2819405"/>
            <a:ext cx="345920" cy="294366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2"/>
          <p:cNvSpPr/>
          <p:nvPr/>
        </p:nvSpPr>
        <p:spPr>
          <a:xfrm>
            <a:off x="913835" y="1221864"/>
            <a:ext cx="5064380" cy="1424558"/>
          </a:xfrm>
          <a:prstGeom prst="roundRect">
            <a:avLst>
              <a:gd fmla="val 333" name="adj"/>
            </a:avLst>
          </a:prstGeom>
          <a:solidFill>
            <a:srgbClr val="FFFF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2"/>
          <p:cNvSpPr/>
          <p:nvPr/>
        </p:nvSpPr>
        <p:spPr>
          <a:xfrm>
            <a:off x="1121976" y="1373195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5" name="Google Shape;525;p12"/>
          <p:cNvPicPr preferRelativeResize="0"/>
          <p:nvPr/>
        </p:nvPicPr>
        <p:blipFill rotWithShape="1">
          <a:blip r:embed="rId10">
            <a:alphaModFix/>
          </a:blip>
          <a:srcRect b="-100" l="0" r="0" t="-100"/>
          <a:stretch/>
        </p:blipFill>
        <p:spPr>
          <a:xfrm>
            <a:off x="1236276" y="1468292"/>
            <a:ext cx="114300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6" name="Google Shape;526;p12"/>
          <p:cNvPicPr preferRelativeResize="0"/>
          <p:nvPr/>
        </p:nvPicPr>
        <p:blipFill rotWithShape="1">
          <a:blip r:embed="rId11">
            <a:alphaModFix/>
          </a:blip>
          <a:srcRect b="-42" l="0" r="0" t="-43"/>
          <a:stretch/>
        </p:blipFill>
        <p:spPr>
          <a:xfrm>
            <a:off x="9675872" y="1767926"/>
            <a:ext cx="133502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7" name="Google Shape;527;p12"/>
          <p:cNvPicPr preferRelativeResize="0"/>
          <p:nvPr/>
        </p:nvPicPr>
        <p:blipFill rotWithShape="1">
          <a:blip r:embed="rId12">
            <a:alphaModFix/>
          </a:blip>
          <a:srcRect b="0" l="-33" r="-32" t="0"/>
          <a:stretch/>
        </p:blipFill>
        <p:spPr>
          <a:xfrm>
            <a:off x="6798522" y="2212112"/>
            <a:ext cx="176449" cy="15674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2"/>
          <p:cNvSpPr txBox="1"/>
          <p:nvPr/>
        </p:nvSpPr>
        <p:spPr>
          <a:xfrm>
            <a:off x="1563936" y="1387369"/>
            <a:ext cx="4057187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OMIA–Ensembl–SNP 3단계 LD-proxy 매핑 전략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3470771" y="3326357"/>
            <a:ext cx="2165543" cy="1448332"/>
          </a:xfrm>
          <a:prstGeom prst="roundRect">
            <a:avLst>
              <a:gd fmla="val 1051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2"/>
          <p:cNvSpPr/>
          <p:nvPr/>
        </p:nvSpPr>
        <p:spPr>
          <a:xfrm>
            <a:off x="3346413" y="3202912"/>
            <a:ext cx="30449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2"/>
          <p:cNvSpPr txBox="1"/>
          <p:nvPr/>
        </p:nvSpPr>
        <p:spPr>
          <a:xfrm>
            <a:off x="3403029" y="3250842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2"/>
          <p:cNvSpPr/>
          <p:nvPr/>
        </p:nvSpPr>
        <p:spPr>
          <a:xfrm>
            <a:off x="3637236" y="3438448"/>
            <a:ext cx="1574448" cy="257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매핑 3단계 | 4단계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3650913" y="3725171"/>
            <a:ext cx="1897253" cy="689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3단계 : OMIA → Ensembl 매핑 (Gene Interval 기반)</a:t>
            </a:r>
            <a:endParaRPr/>
          </a:p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4단계 : Gene 주변 SNP Distance 기반 LD-proxy 매핑</a:t>
            </a:r>
            <a:endParaRPr/>
          </a:p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7142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4" name="Google Shape;53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60583" y="4021918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12"/>
          <p:cNvSpPr/>
          <p:nvPr/>
        </p:nvSpPr>
        <p:spPr>
          <a:xfrm>
            <a:off x="6160935" y="3326356"/>
            <a:ext cx="2165543" cy="1427323"/>
          </a:xfrm>
          <a:prstGeom prst="roundRect">
            <a:avLst>
              <a:gd fmla="val 1051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2"/>
          <p:cNvSpPr/>
          <p:nvPr/>
        </p:nvSpPr>
        <p:spPr>
          <a:xfrm>
            <a:off x="6036577" y="3202912"/>
            <a:ext cx="30449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 txBox="1"/>
          <p:nvPr/>
        </p:nvSpPr>
        <p:spPr>
          <a:xfrm>
            <a:off x="6093193" y="3250842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6349505" y="3465922"/>
            <a:ext cx="1574448" cy="257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 전처리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6341077" y="3782344"/>
            <a:ext cx="1897253" cy="689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병합 검증 및 </a:t>
            </a:r>
            <a:b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불필요 메타 데이터 제거</a:t>
            </a:r>
            <a:endParaRPr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0" name="Google Shape;54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0747" y="4021918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12"/>
          <p:cNvSpPr/>
          <p:nvPr/>
        </p:nvSpPr>
        <p:spPr>
          <a:xfrm>
            <a:off x="8852389" y="3318382"/>
            <a:ext cx="2165543" cy="1456307"/>
          </a:xfrm>
          <a:prstGeom prst="roundRect">
            <a:avLst>
              <a:gd fmla="val 1051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2"/>
          <p:cNvSpPr/>
          <p:nvPr/>
        </p:nvSpPr>
        <p:spPr>
          <a:xfrm>
            <a:off x="8728031" y="3194938"/>
            <a:ext cx="30449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2"/>
          <p:cNvSpPr txBox="1"/>
          <p:nvPr/>
        </p:nvSpPr>
        <p:spPr>
          <a:xfrm>
            <a:off x="8784647" y="3242868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2"/>
          <p:cNvSpPr/>
          <p:nvPr/>
        </p:nvSpPr>
        <p:spPr>
          <a:xfrm>
            <a:off x="9137664" y="3457948"/>
            <a:ext cx="1574448" cy="257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성별 판정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2"/>
          <p:cNvSpPr/>
          <p:nvPr/>
        </p:nvSpPr>
        <p:spPr>
          <a:xfrm>
            <a:off x="9032531" y="3774370"/>
            <a:ext cx="1897253" cy="689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X/Y 염색체 기반 성별 판정 로직을 적용하여 각 개체의 성별을 정확히 구분</a:t>
            </a:r>
            <a:endParaRPr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6" name="Google Shape;546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85862" y="5695998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2"/>
          <p:cNvSpPr/>
          <p:nvPr/>
        </p:nvSpPr>
        <p:spPr>
          <a:xfrm>
            <a:off x="2281310" y="5020256"/>
            <a:ext cx="2165543" cy="1512577"/>
          </a:xfrm>
          <a:prstGeom prst="roundRect">
            <a:avLst>
              <a:gd fmla="val 1051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2156952" y="4896812"/>
            <a:ext cx="30449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2"/>
          <p:cNvSpPr txBox="1"/>
          <p:nvPr/>
        </p:nvSpPr>
        <p:spPr>
          <a:xfrm>
            <a:off x="2213568" y="4944742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2438265" y="5159822"/>
            <a:ext cx="1574448" cy="257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2475826" y="5426014"/>
            <a:ext cx="1897253" cy="22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Mendelian score</a:t>
            </a:r>
            <a:endParaRPr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2" name="Google Shape;552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1122" y="5731088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12"/>
          <p:cNvSpPr/>
          <p:nvPr/>
        </p:nvSpPr>
        <p:spPr>
          <a:xfrm>
            <a:off x="2423880" y="5712518"/>
            <a:ext cx="1941292" cy="53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OMIA에서 제공하는 질환별 </a:t>
            </a:r>
            <a:b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유전 방식(Autosomal recessive, </a:t>
            </a:r>
            <a:b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Autosomal dominant, X-linked) 적용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5101203" y="5020256"/>
            <a:ext cx="2165543" cy="1512577"/>
          </a:xfrm>
          <a:prstGeom prst="roundRect">
            <a:avLst>
              <a:gd fmla="val 1051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2"/>
          <p:cNvSpPr/>
          <p:nvPr/>
        </p:nvSpPr>
        <p:spPr>
          <a:xfrm>
            <a:off x="4976845" y="4896812"/>
            <a:ext cx="30449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2"/>
          <p:cNvSpPr txBox="1"/>
          <p:nvPr/>
        </p:nvSpPr>
        <p:spPr>
          <a:xfrm>
            <a:off x="5033461" y="4944742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2"/>
          <p:cNvSpPr/>
          <p:nvPr/>
        </p:nvSpPr>
        <p:spPr>
          <a:xfrm>
            <a:off x="5258158" y="5159822"/>
            <a:ext cx="1574448" cy="257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 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2"/>
          <p:cNvSpPr/>
          <p:nvPr/>
        </p:nvSpPr>
        <p:spPr>
          <a:xfrm>
            <a:off x="5295719" y="5426014"/>
            <a:ext cx="1897253" cy="22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PRS score</a:t>
            </a:r>
            <a:endParaRPr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91015" y="5731088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12"/>
          <p:cNvSpPr/>
          <p:nvPr/>
        </p:nvSpPr>
        <p:spPr>
          <a:xfrm>
            <a:off x="5243773" y="5712518"/>
            <a:ext cx="1941292" cy="53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단일 변이가 아닌 여러 SNP들의 기능 영향도 · 거리 기반 신뢰도 · 유해성 정보를 반영한 개체별 누적 위험도 설계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2"/>
          <p:cNvSpPr/>
          <p:nvPr/>
        </p:nvSpPr>
        <p:spPr>
          <a:xfrm>
            <a:off x="7833580" y="5020256"/>
            <a:ext cx="2165543" cy="1512577"/>
          </a:xfrm>
          <a:prstGeom prst="roundRect">
            <a:avLst>
              <a:gd fmla="val 1051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2"/>
          <p:cNvSpPr/>
          <p:nvPr/>
        </p:nvSpPr>
        <p:spPr>
          <a:xfrm>
            <a:off x="7709222" y="4896812"/>
            <a:ext cx="304495" cy="304495"/>
          </a:xfrm>
          <a:prstGeom prst="ellipse">
            <a:avLst/>
          </a:prstGeom>
          <a:solidFill>
            <a:srgbClr val="F8FAFC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2"/>
          <p:cNvSpPr txBox="1"/>
          <p:nvPr/>
        </p:nvSpPr>
        <p:spPr>
          <a:xfrm>
            <a:off x="7765838" y="4944742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2"/>
          <p:cNvSpPr/>
          <p:nvPr/>
        </p:nvSpPr>
        <p:spPr>
          <a:xfrm>
            <a:off x="7990535" y="5159822"/>
            <a:ext cx="1574448" cy="257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Method 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2"/>
          <p:cNvSpPr/>
          <p:nvPr/>
        </p:nvSpPr>
        <p:spPr>
          <a:xfrm>
            <a:off x="8028096" y="5426014"/>
            <a:ext cx="1897253" cy="229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Burden score</a:t>
            </a:r>
            <a:endParaRPr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2"/>
          <p:cNvSpPr/>
          <p:nvPr/>
        </p:nvSpPr>
        <p:spPr>
          <a:xfrm>
            <a:off x="8004940" y="5712518"/>
            <a:ext cx="1941292" cy="53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단일 질환 중심이 아닌, </a:t>
            </a:r>
            <a:b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근육 · 척추 · 관절 등 </a:t>
            </a:r>
            <a:b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5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system 전체의 건강 위험도 평가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2"/>
          <p:cNvSpPr/>
          <p:nvPr/>
        </p:nvSpPr>
        <p:spPr>
          <a:xfrm>
            <a:off x="1569221" y="1793631"/>
            <a:ext cx="3135403" cy="689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1단계:  rsID 완전 일치 (최고 신뢰도)</a:t>
            </a:r>
            <a:endParaRPr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: 염색체 + 위치 일치 (높은 신뢰도)</a:t>
            </a:r>
            <a:endParaRPr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3단계 : 유전자 구간 내 최근접 SNP (LD proxy)</a:t>
            </a:r>
            <a:endParaRPr/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3"/>
          <p:cNvSpPr txBox="1"/>
          <p:nvPr/>
        </p:nvSpPr>
        <p:spPr>
          <a:xfrm>
            <a:off x="793758" y="543920"/>
            <a:ext cx="3176018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3.1.1.매핑 1단계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3"/>
          <p:cNvSpPr/>
          <p:nvPr/>
        </p:nvSpPr>
        <p:spPr>
          <a:xfrm>
            <a:off x="787968" y="1115877"/>
            <a:ext cx="5220080" cy="2438705"/>
          </a:xfrm>
          <a:prstGeom prst="roundRect">
            <a:avLst>
              <a:gd fmla="val 586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787968" y="1115877"/>
            <a:ext cx="38405" cy="24387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979078" y="1268582"/>
            <a:ext cx="267005" cy="26700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"/>
          <p:cNvSpPr txBox="1"/>
          <p:nvPr/>
        </p:nvSpPr>
        <p:spPr>
          <a:xfrm>
            <a:off x="1066860" y="1287784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3"/>
          <p:cNvSpPr txBox="1"/>
          <p:nvPr/>
        </p:nvSpPr>
        <p:spPr>
          <a:xfrm>
            <a:off x="1359468" y="1259438"/>
            <a:ext cx="1629461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OMIA 데이터 추출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3"/>
          <p:cNvSpPr txBox="1"/>
          <p:nvPr/>
        </p:nvSpPr>
        <p:spPr>
          <a:xfrm>
            <a:off x="1359468" y="1611482"/>
            <a:ext cx="457177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OMIA SQL DB에서 개(dog, 9615) 변이·유전질환 정보를 추출하여 variant–phene–gene 메타데이터를 확보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3"/>
          <p:cNvSpPr txBox="1"/>
          <p:nvPr/>
        </p:nvSpPr>
        <p:spPr>
          <a:xfrm>
            <a:off x="1359468" y="2182982"/>
            <a:ext cx="13149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필터링 전략 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3"/>
          <p:cNvSpPr txBox="1"/>
          <p:nvPr/>
        </p:nvSpPr>
        <p:spPr>
          <a:xfrm>
            <a:off x="1550578" y="2449987"/>
            <a:ext cx="3267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종(Species) 필터링: gb_species_id = 9615 (개)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2" name="Google Shape;5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0578" y="276362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13"/>
          <p:cNvSpPr txBox="1"/>
          <p:nvPr/>
        </p:nvSpPr>
        <p:spPr>
          <a:xfrm>
            <a:off x="1740773" y="2716077"/>
            <a:ext cx="31345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좌표 필터링: 좌표 정보(g_or_m)가 있는 변이만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 txBox="1"/>
          <p:nvPr/>
        </p:nvSpPr>
        <p:spPr>
          <a:xfrm>
            <a:off x="1359468" y="3021487"/>
            <a:ext cx="4419142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i="1"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추출된 변이정보(위치·유전자·질환·유전양식)는 이후 Ensembl·SNP 매핑의 기반 데이터로 활용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6256308" y="1115877"/>
            <a:ext cx="5100275" cy="2452074"/>
          </a:xfrm>
          <a:prstGeom prst="roundRect">
            <a:avLst>
              <a:gd fmla="val 551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3"/>
          <p:cNvSpPr/>
          <p:nvPr/>
        </p:nvSpPr>
        <p:spPr>
          <a:xfrm>
            <a:off x="6256308" y="1115877"/>
            <a:ext cx="45719" cy="24387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6447418" y="1268582"/>
            <a:ext cx="267005" cy="26700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3"/>
          <p:cNvSpPr txBox="1"/>
          <p:nvPr/>
        </p:nvSpPr>
        <p:spPr>
          <a:xfrm>
            <a:off x="6535200" y="1287784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 txBox="1"/>
          <p:nvPr/>
        </p:nvSpPr>
        <p:spPr>
          <a:xfrm>
            <a:off x="6827808" y="1258523"/>
            <a:ext cx="2220163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필터링 및 liftover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3"/>
          <p:cNvSpPr txBox="1"/>
          <p:nvPr/>
        </p:nvSpPr>
        <p:spPr>
          <a:xfrm>
            <a:off x="6827808" y="1611482"/>
            <a:ext cx="32296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척추·관절·근육 관련 질환만 선별하여 분석에 사용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3"/>
          <p:cNvSpPr txBox="1"/>
          <p:nvPr/>
        </p:nvSpPr>
        <p:spPr>
          <a:xfrm>
            <a:off x="6827808" y="1915977"/>
            <a:ext cx="42565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OMIA 전체 질환 중 근골격·척추·관절 시스템과 직접적으로 연관된 phene만 필터링하여 리스크 분석 정확도를 높임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3"/>
          <p:cNvSpPr txBox="1"/>
          <p:nvPr/>
        </p:nvSpPr>
        <p:spPr>
          <a:xfrm>
            <a:off x="6827808" y="2487477"/>
            <a:ext cx="45153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Reference Sequence 버전 차이를 Liftover(Chain Map)으로 보정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 txBox="1"/>
          <p:nvPr/>
        </p:nvSpPr>
        <p:spPr>
          <a:xfrm>
            <a:off x="6816133" y="2693372"/>
            <a:ext cx="40163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OMIA 변이의 genome assembly 버전이 서로 다를 경우 위치 오차가 발생하므로, UCSC Chain 파일 기반 liftover를 적용해 기준 버전(CanFam3.1)으로 정규화함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792311" y="3668882"/>
            <a:ext cx="5215737" cy="1308807"/>
          </a:xfrm>
          <a:prstGeom prst="roundRect">
            <a:avLst>
              <a:gd fmla="val 180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3"/>
          <p:cNvSpPr txBox="1"/>
          <p:nvPr/>
        </p:nvSpPr>
        <p:spPr>
          <a:xfrm>
            <a:off x="982506" y="3830731"/>
            <a:ext cx="159458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1차: Max Recall 전략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3"/>
          <p:cNvSpPr txBox="1"/>
          <p:nvPr/>
        </p:nvSpPr>
        <p:spPr>
          <a:xfrm>
            <a:off x="982506" y="4059331"/>
            <a:ext cx="34539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8개 카테고리 정규표현식으로 광범위한 후보군 선정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7" name="Google Shape;597;p13"/>
          <p:cNvPicPr preferRelativeResize="0"/>
          <p:nvPr/>
        </p:nvPicPr>
        <p:blipFill rotWithShape="1">
          <a:blip r:embed="rId4">
            <a:alphaModFix/>
          </a:blip>
          <a:srcRect b="0" l="-1648" r="-1647" t="0"/>
          <a:stretch/>
        </p:blipFill>
        <p:spPr>
          <a:xfrm>
            <a:off x="998051" y="4535735"/>
            <a:ext cx="176550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13"/>
          <p:cNvSpPr txBox="1"/>
          <p:nvPr/>
        </p:nvSpPr>
        <p:spPr>
          <a:xfrm>
            <a:off x="1284258" y="4383030"/>
            <a:ext cx="65079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추출된 행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 txBox="1"/>
          <p:nvPr/>
        </p:nvSpPr>
        <p:spPr>
          <a:xfrm>
            <a:off x="1284257" y="4554937"/>
            <a:ext cx="802927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527행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6264690" y="3668882"/>
            <a:ext cx="5091892" cy="1308807"/>
          </a:xfrm>
          <a:prstGeom prst="roundRect">
            <a:avLst>
              <a:gd fmla="val 180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3"/>
          <p:cNvSpPr txBox="1"/>
          <p:nvPr/>
        </p:nvSpPr>
        <p:spPr>
          <a:xfrm>
            <a:off x="6454885" y="3830731"/>
            <a:ext cx="1505102" cy="215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2차: 정밀 필터링 전략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3"/>
          <p:cNvSpPr txBox="1"/>
          <p:nvPr/>
        </p:nvSpPr>
        <p:spPr>
          <a:xfrm>
            <a:off x="6454885" y="4059331"/>
            <a:ext cx="3543300" cy="215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3가지 세분화 카테고리로 확실한 근골격계 질환만 선별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3" name="Google Shape;60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4885" y="4518947"/>
            <a:ext cx="190195" cy="178982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3"/>
          <p:cNvSpPr txBox="1"/>
          <p:nvPr/>
        </p:nvSpPr>
        <p:spPr>
          <a:xfrm>
            <a:off x="6760295" y="4366241"/>
            <a:ext cx="758038" cy="179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필터링 결과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 txBox="1"/>
          <p:nvPr/>
        </p:nvSpPr>
        <p:spPr>
          <a:xfrm>
            <a:off x="6760295" y="4537234"/>
            <a:ext cx="1752905" cy="3140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527행 → 119개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3"/>
          <p:cNvSpPr/>
          <p:nvPr/>
        </p:nvSpPr>
        <p:spPr>
          <a:xfrm>
            <a:off x="841841" y="5482780"/>
            <a:ext cx="10514742" cy="4571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3"/>
          <p:cNvSpPr txBox="1"/>
          <p:nvPr/>
        </p:nvSpPr>
        <p:spPr>
          <a:xfrm>
            <a:off x="841841" y="5149026"/>
            <a:ext cx="1895551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Chain 파일 매핑 결과</a:t>
            </a:r>
            <a:endParaRPr sz="15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3"/>
          <p:cNvSpPr/>
          <p:nvPr/>
        </p:nvSpPr>
        <p:spPr>
          <a:xfrm>
            <a:off x="792237" y="5618113"/>
            <a:ext cx="3371850" cy="629107"/>
          </a:xfrm>
          <a:prstGeom prst="roundRect">
            <a:avLst>
              <a:gd fmla="val 880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3"/>
          <p:cNvSpPr txBox="1"/>
          <p:nvPr/>
        </p:nvSpPr>
        <p:spPr>
          <a:xfrm>
            <a:off x="982432" y="5817452"/>
            <a:ext cx="148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Original_CanFam3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3"/>
          <p:cNvSpPr txBox="1"/>
          <p:nvPr/>
        </p:nvSpPr>
        <p:spPr>
          <a:xfrm>
            <a:off x="3628308" y="5774932"/>
            <a:ext cx="438912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90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3"/>
          <p:cNvSpPr/>
          <p:nvPr/>
        </p:nvSpPr>
        <p:spPr>
          <a:xfrm>
            <a:off x="4374396" y="5620286"/>
            <a:ext cx="3371850" cy="629107"/>
          </a:xfrm>
          <a:prstGeom prst="roundRect">
            <a:avLst>
              <a:gd fmla="val 880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3"/>
          <p:cNvSpPr txBox="1"/>
          <p:nvPr/>
        </p:nvSpPr>
        <p:spPr>
          <a:xfrm>
            <a:off x="4564591" y="5820540"/>
            <a:ext cx="22101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LiftOver_UU_Cfam_GSD_1.0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3"/>
          <p:cNvSpPr txBox="1"/>
          <p:nvPr/>
        </p:nvSpPr>
        <p:spPr>
          <a:xfrm>
            <a:off x="7210467" y="5762933"/>
            <a:ext cx="438912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3"/>
          <p:cNvSpPr/>
          <p:nvPr/>
        </p:nvSpPr>
        <p:spPr>
          <a:xfrm>
            <a:off x="7984732" y="5620286"/>
            <a:ext cx="3371850" cy="629107"/>
          </a:xfrm>
          <a:prstGeom prst="roundRect">
            <a:avLst>
              <a:gd fmla="val 880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3"/>
          <p:cNvSpPr txBox="1"/>
          <p:nvPr/>
        </p:nvSpPr>
        <p:spPr>
          <a:xfrm>
            <a:off x="8174927" y="5820540"/>
            <a:ext cx="240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LiftOver_Dog10K_Boxer_Tasha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3"/>
          <p:cNvSpPr txBox="1"/>
          <p:nvPr/>
        </p:nvSpPr>
        <p:spPr>
          <a:xfrm>
            <a:off x="10954305" y="5777944"/>
            <a:ext cx="3054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3"/>
          <p:cNvSpPr txBox="1"/>
          <p:nvPr/>
        </p:nvSpPr>
        <p:spPr>
          <a:xfrm>
            <a:off x="8940605" y="314705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3"/>
          <p:cNvSpPr txBox="1"/>
          <p:nvPr/>
        </p:nvSpPr>
        <p:spPr>
          <a:xfrm>
            <a:off x="6279167" y="549753"/>
            <a:ext cx="140048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매핑 2단계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3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4"/>
          <p:cNvSpPr/>
          <p:nvPr/>
        </p:nvSpPr>
        <p:spPr>
          <a:xfrm>
            <a:off x="793758" y="1085628"/>
            <a:ext cx="5116258" cy="2057400"/>
          </a:xfrm>
          <a:prstGeom prst="roundRect">
            <a:avLst>
              <a:gd fmla="val 823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4"/>
          <p:cNvSpPr/>
          <p:nvPr/>
        </p:nvSpPr>
        <p:spPr>
          <a:xfrm>
            <a:off x="793758" y="1085628"/>
            <a:ext cx="38405" cy="2057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4"/>
          <p:cNvSpPr/>
          <p:nvPr/>
        </p:nvSpPr>
        <p:spPr>
          <a:xfrm>
            <a:off x="984868" y="1238333"/>
            <a:ext cx="267005" cy="26700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4"/>
          <p:cNvSpPr txBox="1"/>
          <p:nvPr/>
        </p:nvSpPr>
        <p:spPr>
          <a:xfrm>
            <a:off x="1072650" y="1267060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 txBox="1"/>
          <p:nvPr/>
        </p:nvSpPr>
        <p:spPr>
          <a:xfrm>
            <a:off x="1346208" y="1249534"/>
            <a:ext cx="2009851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OMIA-ENSEMBL 매핑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4"/>
          <p:cNvSpPr txBox="1"/>
          <p:nvPr/>
        </p:nvSpPr>
        <p:spPr>
          <a:xfrm>
            <a:off x="1368916" y="1657128"/>
            <a:ext cx="42583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1. Ensembl GTF에서 gene feature만 추출해 BED 데이터 생성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 txBox="1"/>
          <p:nvPr/>
        </p:nvSpPr>
        <p:spPr>
          <a:xfrm>
            <a:off x="1365258" y="1885728"/>
            <a:ext cx="47439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GTF 파일 중 feature가 'gene'인 행만 선별하여 유전자 구간 정보를 얻음.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 txBox="1"/>
          <p:nvPr/>
        </p:nvSpPr>
        <p:spPr>
          <a:xfrm>
            <a:off x="1378441" y="2305438"/>
            <a:ext cx="35058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2. OMIA DB → Ensembl DB 유전자 구간 기반 매핑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 txBox="1"/>
          <p:nvPr/>
        </p:nvSpPr>
        <p:spPr>
          <a:xfrm>
            <a:off x="1365258" y="2534038"/>
            <a:ext cx="434915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OMIA 변이의 chr·pos 정보를 Ensembl GTF의 </a:t>
            </a:r>
            <a:br>
              <a:rPr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gene interval(chr–start–end)과 비교하여 가장 가까운 유전자에 매핑함.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4"/>
          <p:cNvSpPr/>
          <p:nvPr/>
        </p:nvSpPr>
        <p:spPr>
          <a:xfrm>
            <a:off x="6069182" y="1054907"/>
            <a:ext cx="5486400" cy="2729792"/>
          </a:xfrm>
          <a:prstGeom prst="roundRect">
            <a:avLst>
              <a:gd fmla="val 226" name="adj"/>
            </a:avLst>
          </a:prstGeom>
          <a:solidFill>
            <a:srgbClr val="E3F2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4"/>
          <p:cNvSpPr/>
          <p:nvPr/>
        </p:nvSpPr>
        <p:spPr>
          <a:xfrm>
            <a:off x="6086709" y="1054906"/>
            <a:ext cx="45719" cy="2743281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4"/>
          <p:cNvSpPr/>
          <p:nvPr/>
        </p:nvSpPr>
        <p:spPr>
          <a:xfrm>
            <a:off x="6261587" y="1171063"/>
            <a:ext cx="267005" cy="26700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4"/>
          <p:cNvSpPr txBox="1"/>
          <p:nvPr/>
        </p:nvSpPr>
        <p:spPr>
          <a:xfrm>
            <a:off x="6339844" y="1199790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4"/>
          <p:cNvSpPr txBox="1"/>
          <p:nvPr/>
        </p:nvSpPr>
        <p:spPr>
          <a:xfrm>
            <a:off x="6641977" y="1133535"/>
            <a:ext cx="2477110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OMIA-ENSEMBL-SNP 매핑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4"/>
          <p:cNvSpPr txBox="1"/>
          <p:nvPr/>
        </p:nvSpPr>
        <p:spPr>
          <a:xfrm>
            <a:off x="6578731" y="1873838"/>
            <a:ext cx="1362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1) 입력 데이터 규모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4"/>
          <p:cNvSpPr txBox="1"/>
          <p:nvPr/>
        </p:nvSpPr>
        <p:spPr>
          <a:xfrm>
            <a:off x="6781272" y="2112420"/>
            <a:ext cx="18580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OMIA_ENS 변이 수: 108개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4"/>
          <p:cNvSpPr txBox="1"/>
          <p:nvPr/>
        </p:nvSpPr>
        <p:spPr>
          <a:xfrm>
            <a:off x="6781272" y="2379425"/>
            <a:ext cx="21150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SNP 메타데이터 수: 477,903개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4"/>
          <p:cNvSpPr txBox="1"/>
          <p:nvPr/>
        </p:nvSpPr>
        <p:spPr>
          <a:xfrm>
            <a:off x="6590162" y="2722325"/>
            <a:ext cx="28675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2) 직접 매핑 결과 (정확 chr·pos·rsID 기반)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4"/>
          <p:cNvSpPr txBox="1"/>
          <p:nvPr/>
        </p:nvSpPr>
        <p:spPr>
          <a:xfrm>
            <a:off x="6792245" y="2950925"/>
            <a:ext cx="1353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rsID 매칭 성공: 0개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4"/>
          <p:cNvSpPr txBox="1"/>
          <p:nvPr/>
        </p:nvSpPr>
        <p:spPr>
          <a:xfrm>
            <a:off x="6792245" y="3217930"/>
            <a:ext cx="2124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Chr–Position 직매칭 성공: 0개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4"/>
          <p:cNvSpPr txBox="1"/>
          <p:nvPr/>
        </p:nvSpPr>
        <p:spPr>
          <a:xfrm>
            <a:off x="6585284" y="3487162"/>
            <a:ext cx="33960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i="1"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(➡ 개별 SNP과 OMIA 변이는 직접적 1:1 좌표 일치가 없음)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4"/>
          <p:cNvSpPr/>
          <p:nvPr/>
        </p:nvSpPr>
        <p:spPr>
          <a:xfrm>
            <a:off x="843295" y="3768820"/>
            <a:ext cx="1924811" cy="4571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4"/>
          <p:cNvSpPr txBox="1"/>
          <p:nvPr/>
        </p:nvSpPr>
        <p:spPr>
          <a:xfrm>
            <a:off x="843295" y="3435979"/>
            <a:ext cx="1724558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GTF 파일 처리 결과</a:t>
            </a:r>
            <a:endParaRPr sz="15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4"/>
          <p:cNvSpPr/>
          <p:nvPr/>
        </p:nvSpPr>
        <p:spPr>
          <a:xfrm>
            <a:off x="817039" y="3917054"/>
            <a:ext cx="1924811" cy="751378"/>
          </a:xfrm>
          <a:prstGeom prst="roundRect">
            <a:avLst>
              <a:gd fmla="val 51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9" name="Google Shape;6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234" y="4163684"/>
            <a:ext cx="142646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4"/>
          <p:cNvSpPr txBox="1"/>
          <p:nvPr/>
        </p:nvSpPr>
        <p:spPr>
          <a:xfrm>
            <a:off x="1265095" y="4010979"/>
            <a:ext cx="9482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GTF 행 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4"/>
          <p:cNvSpPr txBox="1"/>
          <p:nvPr/>
        </p:nvSpPr>
        <p:spPr>
          <a:xfrm>
            <a:off x="1265095" y="4182886"/>
            <a:ext cx="1248156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1,397,974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4"/>
          <p:cNvSpPr/>
          <p:nvPr/>
        </p:nvSpPr>
        <p:spPr>
          <a:xfrm>
            <a:off x="817039" y="4717756"/>
            <a:ext cx="1924811" cy="785386"/>
          </a:xfrm>
          <a:prstGeom prst="roundRect">
            <a:avLst>
              <a:gd fmla="val 51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3" name="Google Shape;6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7234" y="4998394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14"/>
          <p:cNvSpPr txBox="1"/>
          <p:nvPr/>
        </p:nvSpPr>
        <p:spPr>
          <a:xfrm>
            <a:off x="1306453" y="4851714"/>
            <a:ext cx="157642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gene feature만 필터링 후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4"/>
          <p:cNvSpPr txBox="1"/>
          <p:nvPr/>
        </p:nvSpPr>
        <p:spPr>
          <a:xfrm>
            <a:off x="1312644" y="5016682"/>
            <a:ext cx="1181405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30,951 행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4"/>
          <p:cNvSpPr/>
          <p:nvPr/>
        </p:nvSpPr>
        <p:spPr>
          <a:xfrm>
            <a:off x="821428" y="5563399"/>
            <a:ext cx="1924811" cy="742813"/>
          </a:xfrm>
          <a:prstGeom prst="roundRect">
            <a:avLst>
              <a:gd fmla="val 51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7" name="Google Shape;657;p14"/>
          <p:cNvPicPr preferRelativeResize="0"/>
          <p:nvPr/>
        </p:nvPicPr>
        <p:blipFill rotWithShape="1">
          <a:blip r:embed="rId5">
            <a:alphaModFix/>
          </a:blip>
          <a:srcRect b="0" l="-1648" r="-1647" t="0"/>
          <a:stretch/>
        </p:blipFill>
        <p:spPr>
          <a:xfrm>
            <a:off x="1011623" y="5826747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14"/>
          <p:cNvSpPr txBox="1"/>
          <p:nvPr/>
        </p:nvSpPr>
        <p:spPr>
          <a:xfrm>
            <a:off x="1297830" y="5674042"/>
            <a:ext cx="11576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유효 chr만 남긴 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4"/>
          <p:cNvSpPr txBox="1"/>
          <p:nvPr/>
        </p:nvSpPr>
        <p:spPr>
          <a:xfrm>
            <a:off x="1297830" y="5845949"/>
            <a:ext cx="1181405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30,424 행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4"/>
          <p:cNvSpPr/>
          <p:nvPr/>
        </p:nvSpPr>
        <p:spPr>
          <a:xfrm>
            <a:off x="2994537" y="3761840"/>
            <a:ext cx="2638948" cy="4571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4"/>
          <p:cNvSpPr txBox="1"/>
          <p:nvPr/>
        </p:nvSpPr>
        <p:spPr>
          <a:xfrm>
            <a:off x="2994536" y="3429000"/>
            <a:ext cx="2600554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OMIA-Ensembl DB매핑 결과</a:t>
            </a:r>
            <a:endParaRPr sz="15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4"/>
          <p:cNvSpPr/>
          <p:nvPr/>
        </p:nvSpPr>
        <p:spPr>
          <a:xfrm>
            <a:off x="2994537" y="3915415"/>
            <a:ext cx="2663636" cy="730016"/>
          </a:xfrm>
          <a:prstGeom prst="roundRect">
            <a:avLst>
              <a:gd fmla="val 51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3" name="Google Shape;66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84731" y="4178134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14"/>
          <p:cNvSpPr txBox="1"/>
          <p:nvPr/>
        </p:nvSpPr>
        <p:spPr>
          <a:xfrm>
            <a:off x="3537690" y="4025429"/>
            <a:ext cx="22055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ENSEMBL 매핑 성공 변이 수(행 기준)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4"/>
          <p:cNvSpPr txBox="1"/>
          <p:nvPr/>
        </p:nvSpPr>
        <p:spPr>
          <a:xfrm>
            <a:off x="3537690" y="4197337"/>
            <a:ext cx="781812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108개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4"/>
          <p:cNvSpPr/>
          <p:nvPr/>
        </p:nvSpPr>
        <p:spPr>
          <a:xfrm>
            <a:off x="3005581" y="4716117"/>
            <a:ext cx="2663637" cy="768095"/>
          </a:xfrm>
          <a:prstGeom prst="roundRect">
            <a:avLst>
              <a:gd fmla="val 51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7" name="Google Shape;667;p14"/>
          <p:cNvPicPr preferRelativeResize="0"/>
          <p:nvPr/>
        </p:nvPicPr>
        <p:blipFill rotWithShape="1">
          <a:blip r:embed="rId5">
            <a:alphaModFix/>
          </a:blip>
          <a:srcRect b="0" l="-1648" r="-1647" t="0"/>
          <a:stretch/>
        </p:blipFill>
        <p:spPr>
          <a:xfrm>
            <a:off x="3186363" y="5039414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14"/>
          <p:cNvSpPr txBox="1"/>
          <p:nvPr/>
        </p:nvSpPr>
        <p:spPr>
          <a:xfrm>
            <a:off x="3481983" y="4811631"/>
            <a:ext cx="1992433" cy="290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multi_gene_flag=True </a:t>
            </a:r>
            <a:b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(한 변이에 2개 이상 gene 매핑) 개수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4"/>
          <p:cNvSpPr txBox="1"/>
          <p:nvPr/>
        </p:nvSpPr>
        <p:spPr>
          <a:xfrm>
            <a:off x="3517436" y="5106128"/>
            <a:ext cx="438912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26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4"/>
          <p:cNvSpPr/>
          <p:nvPr/>
        </p:nvSpPr>
        <p:spPr>
          <a:xfrm>
            <a:off x="2997803" y="5563471"/>
            <a:ext cx="2663637" cy="768095"/>
          </a:xfrm>
          <a:prstGeom prst="roundRect">
            <a:avLst>
              <a:gd fmla="val 51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1" name="Google Shape;67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87998" y="5851530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14"/>
          <p:cNvSpPr txBox="1"/>
          <p:nvPr/>
        </p:nvSpPr>
        <p:spPr>
          <a:xfrm>
            <a:off x="3515993" y="5688996"/>
            <a:ext cx="24341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gene에도 속하지 않은 OMIA 변이 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4"/>
          <p:cNvSpPr txBox="1"/>
          <p:nvPr/>
        </p:nvSpPr>
        <p:spPr>
          <a:xfrm>
            <a:off x="3540957" y="5870733"/>
            <a:ext cx="30541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4"/>
          <p:cNvSpPr txBox="1"/>
          <p:nvPr/>
        </p:nvSpPr>
        <p:spPr>
          <a:xfrm>
            <a:off x="6641977" y="1390252"/>
            <a:ext cx="4581831" cy="639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Gene interval 주변 SNP 위치와의 거리를 계산하여 </a:t>
            </a:r>
            <a:b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연관성(LD) 있는 SNP 그룹을 매핑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4"/>
          <p:cNvSpPr/>
          <p:nvPr/>
        </p:nvSpPr>
        <p:spPr>
          <a:xfrm>
            <a:off x="6149803" y="4296625"/>
            <a:ext cx="5405779" cy="4571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4"/>
          <p:cNvSpPr txBox="1"/>
          <p:nvPr/>
        </p:nvSpPr>
        <p:spPr>
          <a:xfrm>
            <a:off x="6149803" y="3963785"/>
            <a:ext cx="2600554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매핑 결과</a:t>
            </a:r>
            <a:endParaRPr sz="15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4"/>
          <p:cNvSpPr/>
          <p:nvPr/>
        </p:nvSpPr>
        <p:spPr>
          <a:xfrm>
            <a:off x="6149804" y="4544429"/>
            <a:ext cx="2467969" cy="819302"/>
          </a:xfrm>
          <a:prstGeom prst="roundRect">
            <a:avLst>
              <a:gd fmla="val 51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78" name="Google Shape;67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51532" y="4859573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14"/>
          <p:cNvSpPr txBox="1"/>
          <p:nvPr/>
        </p:nvSpPr>
        <p:spPr>
          <a:xfrm>
            <a:off x="6604491" y="4706868"/>
            <a:ext cx="22055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Gene-interval 기반 SNP 매칭 성공 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4"/>
          <p:cNvSpPr txBox="1"/>
          <p:nvPr/>
        </p:nvSpPr>
        <p:spPr>
          <a:xfrm>
            <a:off x="6604491" y="4878776"/>
            <a:ext cx="1011478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1,610개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4"/>
          <p:cNvSpPr/>
          <p:nvPr/>
        </p:nvSpPr>
        <p:spPr>
          <a:xfrm>
            <a:off x="6149805" y="5516436"/>
            <a:ext cx="2488233" cy="819302"/>
          </a:xfrm>
          <a:prstGeom prst="roundRect">
            <a:avLst>
              <a:gd fmla="val 51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2" name="Google Shape;682;p14"/>
          <p:cNvPicPr preferRelativeResize="0"/>
          <p:nvPr/>
        </p:nvPicPr>
        <p:blipFill rotWithShape="1">
          <a:blip r:embed="rId5">
            <a:alphaModFix/>
          </a:blip>
          <a:srcRect b="0" l="-1648" r="-1647" t="0"/>
          <a:stretch/>
        </p:blipFill>
        <p:spPr>
          <a:xfrm>
            <a:off x="6339998" y="5830075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14"/>
          <p:cNvSpPr txBox="1"/>
          <p:nvPr/>
        </p:nvSpPr>
        <p:spPr>
          <a:xfrm>
            <a:off x="6626205" y="5628355"/>
            <a:ext cx="2612135" cy="290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대상 OMIA 변이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14"/>
          <p:cNvSpPr txBox="1"/>
          <p:nvPr/>
        </p:nvSpPr>
        <p:spPr>
          <a:xfrm>
            <a:off x="6641977" y="5846820"/>
            <a:ext cx="539194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108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4"/>
          <p:cNvSpPr/>
          <p:nvPr/>
        </p:nvSpPr>
        <p:spPr>
          <a:xfrm>
            <a:off x="8750356" y="4554621"/>
            <a:ext cx="2846525" cy="819302"/>
          </a:xfrm>
          <a:prstGeom prst="roundRect">
            <a:avLst>
              <a:gd fmla="val 519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4"/>
          <p:cNvSpPr txBox="1"/>
          <p:nvPr/>
        </p:nvSpPr>
        <p:spPr>
          <a:xfrm>
            <a:off x="9238340" y="4826218"/>
            <a:ext cx="1070330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5,808개</a:t>
            </a:r>
            <a:endParaRPr sz="18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4"/>
          <p:cNvSpPr txBox="1"/>
          <p:nvPr/>
        </p:nvSpPr>
        <p:spPr>
          <a:xfrm>
            <a:off x="9135554" y="5115739"/>
            <a:ext cx="319582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800"/>
              <a:buFont typeface="Noto Sans KR"/>
              <a:buNone/>
            </a:pPr>
            <a:r>
              <a:rPr i="1" lang="en-US" sz="8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(➡ 하나의 OMIA 변이가 평균 약 53.7개 SNP와 연결됨)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4"/>
          <p:cNvSpPr txBox="1"/>
          <p:nvPr/>
        </p:nvSpPr>
        <p:spPr>
          <a:xfrm>
            <a:off x="9219183" y="4615809"/>
            <a:ext cx="2858416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OMIA 변이 ↔ SNP 매핑 총 수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4"/>
          <p:cNvSpPr txBox="1"/>
          <p:nvPr/>
        </p:nvSpPr>
        <p:spPr>
          <a:xfrm>
            <a:off x="793758" y="543920"/>
            <a:ext cx="3176018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3.1.2.매핑 3단계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4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4"/>
          <p:cNvSpPr txBox="1"/>
          <p:nvPr/>
        </p:nvSpPr>
        <p:spPr>
          <a:xfrm>
            <a:off x="6077013" y="538718"/>
            <a:ext cx="140048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매핑 4단계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2" name="Google Shape;69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67620" y="4838955"/>
            <a:ext cx="265971" cy="267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5"/>
          <p:cNvSpPr/>
          <p:nvPr/>
        </p:nvSpPr>
        <p:spPr>
          <a:xfrm>
            <a:off x="6458407" y="1939443"/>
            <a:ext cx="4905834" cy="1643634"/>
          </a:xfrm>
          <a:prstGeom prst="roundRect">
            <a:avLst>
              <a:gd fmla="val 7995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5"/>
          <p:cNvSpPr/>
          <p:nvPr/>
        </p:nvSpPr>
        <p:spPr>
          <a:xfrm>
            <a:off x="647854" y="1274140"/>
            <a:ext cx="5524805" cy="933602"/>
          </a:xfrm>
          <a:prstGeom prst="roundRect">
            <a:avLst>
              <a:gd fmla="val 7995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5"/>
          <p:cNvSpPr/>
          <p:nvPr/>
        </p:nvSpPr>
        <p:spPr>
          <a:xfrm>
            <a:off x="647854" y="2318536"/>
            <a:ext cx="5524805" cy="933602"/>
          </a:xfrm>
          <a:prstGeom prst="roundRect">
            <a:avLst>
              <a:gd fmla="val 7995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5"/>
          <p:cNvSpPr/>
          <p:nvPr/>
        </p:nvSpPr>
        <p:spPr>
          <a:xfrm>
            <a:off x="650215" y="4423710"/>
            <a:ext cx="5524805" cy="933602"/>
          </a:xfrm>
          <a:prstGeom prst="roundRect">
            <a:avLst>
              <a:gd fmla="val 7995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5"/>
          <p:cNvSpPr/>
          <p:nvPr/>
        </p:nvSpPr>
        <p:spPr>
          <a:xfrm>
            <a:off x="660120" y="5464446"/>
            <a:ext cx="5524805" cy="933602"/>
          </a:xfrm>
          <a:prstGeom prst="roundRect">
            <a:avLst>
              <a:gd fmla="val 7995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5"/>
          <p:cNvSpPr txBox="1"/>
          <p:nvPr/>
        </p:nvSpPr>
        <p:spPr>
          <a:xfrm>
            <a:off x="1152603" y="1378915"/>
            <a:ext cx="79278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병합 검증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5"/>
          <p:cNvSpPr txBox="1"/>
          <p:nvPr/>
        </p:nvSpPr>
        <p:spPr>
          <a:xfrm>
            <a:off x="1105054" y="2432836"/>
            <a:ext cx="130759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불필요 메타 삭제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5"/>
          <p:cNvSpPr txBox="1"/>
          <p:nvPr/>
        </p:nvSpPr>
        <p:spPr>
          <a:xfrm>
            <a:off x="1107415" y="4538010"/>
            <a:ext cx="79278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경고 처리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5"/>
          <p:cNvSpPr txBox="1"/>
          <p:nvPr/>
        </p:nvSpPr>
        <p:spPr>
          <a:xfrm>
            <a:off x="1117320" y="5578746"/>
            <a:ext cx="592531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재현성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5"/>
          <p:cNvSpPr txBox="1"/>
          <p:nvPr/>
        </p:nvSpPr>
        <p:spPr>
          <a:xfrm>
            <a:off x="1152603" y="1668780"/>
            <a:ext cx="486186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통합본과 원본 OMIA의 공통 컬럼 정렬 비교 → 원본 메타데이터 보존 확인.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병합 과정에서 유전자형 정보가 추가된 것 외에, 원래 메타데이터는 손상 없이 유지됨.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5"/>
          <p:cNvSpPr/>
          <p:nvPr/>
        </p:nvSpPr>
        <p:spPr>
          <a:xfrm>
            <a:off x="660120" y="3382974"/>
            <a:ext cx="5524805" cy="933602"/>
          </a:xfrm>
          <a:prstGeom prst="roundRect">
            <a:avLst>
              <a:gd fmla="val 7995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5"/>
          <p:cNvSpPr txBox="1"/>
          <p:nvPr/>
        </p:nvSpPr>
        <p:spPr>
          <a:xfrm>
            <a:off x="1105054" y="2722701"/>
            <a:ext cx="5023714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위치/참조/중간 계산 등 21개 메타 컬럼 드랍 → 분석 핵심만 남김. 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start, end, gene_count_per_variant 등 스코어링에 필요 없는 메타데이터 제거.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5"/>
          <p:cNvSpPr txBox="1"/>
          <p:nvPr/>
        </p:nvSpPr>
        <p:spPr>
          <a:xfrm>
            <a:off x="1117320" y="3497274"/>
            <a:ext cx="94549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스키마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5"/>
          <p:cNvSpPr txBox="1"/>
          <p:nvPr/>
        </p:nvSpPr>
        <p:spPr>
          <a:xfrm>
            <a:off x="1107415" y="3737609"/>
            <a:ext cx="5169180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약 6,315행 × 126열의 최종 정제 데이터 구조. 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SNP ID, 질병 관련 정보, 개체별 유전자형 등 스코어링에 필요한 데이터만 담긴 파일 생성.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2" name="Google Shape;7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417" y="4551974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15"/>
          <p:cNvSpPr txBox="1"/>
          <p:nvPr/>
        </p:nvSpPr>
        <p:spPr>
          <a:xfrm>
            <a:off x="1107415" y="4799300"/>
            <a:ext cx="455043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혼합 dtype 경고는 명시적 dtype 설정으로 완화 권장. 일부 컬럼의 데이터 타입 혼합으로 인한 경고 발생, low_memory=False 옵션으로 임시 처리함.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5"/>
          <p:cNvSpPr txBox="1"/>
          <p:nvPr/>
        </p:nvSpPr>
        <p:spPr>
          <a:xfrm>
            <a:off x="1117320" y="5849561"/>
            <a:ext cx="4956962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버전/로그 명시, 동일 결과 재생산 가능. 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전처리 단계를 기록하여 독립적인 환경에서도 동일한 결과를 얻을 수 있도록 함.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5"/>
          <p:cNvSpPr txBox="1"/>
          <p:nvPr/>
        </p:nvSpPr>
        <p:spPr>
          <a:xfrm>
            <a:off x="6399886" y="1268273"/>
            <a:ext cx="2046427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600"/>
              <a:buFont typeface="Noto Sans KR"/>
              <a:buNone/>
            </a:pPr>
            <a:r>
              <a:rPr b="1" lang="en-US" sz="16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 정제 결과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6" name="Google Shape;7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9720" y="1639977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15"/>
          <p:cNvSpPr txBox="1"/>
          <p:nvPr/>
        </p:nvSpPr>
        <p:spPr>
          <a:xfrm>
            <a:off x="6695237" y="1617573"/>
            <a:ext cx="2288743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드랍된 메타데이터 컬럼 (21개)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5"/>
          <p:cNvSpPr txBox="1"/>
          <p:nvPr/>
        </p:nvSpPr>
        <p:spPr>
          <a:xfrm>
            <a:off x="6619040" y="2114167"/>
            <a:ext cx="4500978" cy="12097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start, end, gene_count_per_variant,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multi_gene_flag, chromosome_omia, genomic_coordinate, reference_sequence, variant_id, gene_chr, gene_map_location, gene_symbol_omia, gene_symbol_all, gene_symbol_ens, defect, gb_species_id, combined_text, original_pos, method, chromosome_x, match_method, allele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9" name="Google Shape;7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8407" y="3722293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15"/>
          <p:cNvSpPr txBox="1"/>
          <p:nvPr/>
        </p:nvSpPr>
        <p:spPr>
          <a:xfrm>
            <a:off x="6695237" y="3690976"/>
            <a:ext cx="130759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크기 변화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5"/>
          <p:cNvSpPr txBox="1"/>
          <p:nvPr/>
        </p:nvSpPr>
        <p:spPr>
          <a:xfrm>
            <a:off x="6695237" y="5001769"/>
            <a:ext cx="107899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QC 최종 결론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5"/>
          <p:cNvSpPr txBox="1"/>
          <p:nvPr/>
        </p:nvSpPr>
        <p:spPr>
          <a:xfrm>
            <a:off x="6695237" y="5383744"/>
            <a:ext cx="4220413" cy="724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분석 데이터셋은 개체별 유전자형과 질병 정보를 보존하면서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불필요한 컬럼을 제거하여 데이터 크기를 14% 감소시킴.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이 데이터는 다음 단계인 유전적 위험도 스코어링을 위한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최적화된 입력 파일로 준비됨</a:t>
            </a: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5"/>
          <p:cNvSpPr/>
          <p:nvPr/>
        </p:nvSpPr>
        <p:spPr>
          <a:xfrm>
            <a:off x="6489954" y="4077152"/>
            <a:ext cx="1078992" cy="733349"/>
          </a:xfrm>
          <a:prstGeom prst="roundRect">
            <a:avLst>
              <a:gd fmla="val 9716" name="adj"/>
            </a:avLst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5"/>
          <p:cNvSpPr txBox="1"/>
          <p:nvPr/>
        </p:nvSpPr>
        <p:spPr>
          <a:xfrm>
            <a:off x="6585049" y="4193052"/>
            <a:ext cx="827777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6,315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15"/>
          <p:cNvSpPr txBox="1"/>
          <p:nvPr/>
        </p:nvSpPr>
        <p:spPr>
          <a:xfrm>
            <a:off x="6648686" y="4507448"/>
            <a:ext cx="700501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총 SNP 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6" name="Google Shape;726;p15"/>
          <p:cNvPicPr preferRelativeResize="0"/>
          <p:nvPr/>
        </p:nvPicPr>
        <p:blipFill rotWithShape="1">
          <a:blip r:embed="rId6">
            <a:alphaModFix/>
          </a:blip>
          <a:srcRect b="-2724" l="0" r="0" t="-2724"/>
          <a:stretch/>
        </p:blipFill>
        <p:spPr>
          <a:xfrm>
            <a:off x="6401714" y="5033686"/>
            <a:ext cx="142646" cy="171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7" name="Google Shape;7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493" y="1384934"/>
            <a:ext cx="207570" cy="207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8" name="Google Shape;7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617" y="2449372"/>
            <a:ext cx="207570" cy="207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9" name="Google Shape;7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7759" y="3496359"/>
            <a:ext cx="207570" cy="207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0" name="Google Shape;73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7759" y="5583242"/>
            <a:ext cx="207570" cy="20757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15"/>
          <p:cNvSpPr txBox="1"/>
          <p:nvPr/>
        </p:nvSpPr>
        <p:spPr>
          <a:xfrm>
            <a:off x="647854" y="611733"/>
            <a:ext cx="2847822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3.1.3.데이터 전처리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5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5"/>
          <p:cNvSpPr/>
          <p:nvPr/>
        </p:nvSpPr>
        <p:spPr>
          <a:xfrm>
            <a:off x="7727678" y="4077152"/>
            <a:ext cx="1078992" cy="733349"/>
          </a:xfrm>
          <a:prstGeom prst="roundRect">
            <a:avLst>
              <a:gd fmla="val 9716" name="adj"/>
            </a:avLst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5"/>
          <p:cNvSpPr txBox="1"/>
          <p:nvPr/>
        </p:nvSpPr>
        <p:spPr>
          <a:xfrm>
            <a:off x="7822773" y="4193052"/>
            <a:ext cx="827777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147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5"/>
          <p:cNvSpPr txBox="1"/>
          <p:nvPr/>
        </p:nvSpPr>
        <p:spPr>
          <a:xfrm>
            <a:off x="7873506" y="4532936"/>
            <a:ext cx="764140" cy="15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병합 후 컬럼수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5"/>
          <p:cNvSpPr/>
          <p:nvPr/>
        </p:nvSpPr>
        <p:spPr>
          <a:xfrm>
            <a:off x="8972168" y="4077152"/>
            <a:ext cx="1078992" cy="733349"/>
          </a:xfrm>
          <a:prstGeom prst="roundRect">
            <a:avLst>
              <a:gd fmla="val 9716" name="adj"/>
            </a:avLst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5"/>
          <p:cNvSpPr txBox="1"/>
          <p:nvPr/>
        </p:nvSpPr>
        <p:spPr>
          <a:xfrm>
            <a:off x="9067263" y="4193052"/>
            <a:ext cx="827777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126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15"/>
          <p:cNvSpPr/>
          <p:nvPr/>
        </p:nvSpPr>
        <p:spPr>
          <a:xfrm>
            <a:off x="10224896" y="4077152"/>
            <a:ext cx="1078992" cy="733349"/>
          </a:xfrm>
          <a:prstGeom prst="roundRect">
            <a:avLst>
              <a:gd fmla="val 9716" name="adj"/>
            </a:avLst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5"/>
          <p:cNvSpPr txBox="1"/>
          <p:nvPr/>
        </p:nvSpPr>
        <p:spPr>
          <a:xfrm>
            <a:off x="10319991" y="4193052"/>
            <a:ext cx="827777" cy="33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94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15"/>
          <p:cNvSpPr txBox="1"/>
          <p:nvPr/>
        </p:nvSpPr>
        <p:spPr>
          <a:xfrm>
            <a:off x="9130900" y="4532936"/>
            <a:ext cx="764140" cy="15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정제 후 컬럼수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5"/>
          <p:cNvSpPr txBox="1"/>
          <p:nvPr/>
        </p:nvSpPr>
        <p:spPr>
          <a:xfrm>
            <a:off x="10302327" y="4547031"/>
            <a:ext cx="924130" cy="173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개체 유전자형  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16"/>
          <p:cNvSpPr/>
          <p:nvPr/>
        </p:nvSpPr>
        <p:spPr>
          <a:xfrm>
            <a:off x="3271265" y="4745039"/>
            <a:ext cx="1947673" cy="714930"/>
          </a:xfrm>
          <a:prstGeom prst="roundRect">
            <a:avLst>
              <a:gd fmla="val 5333" name="adj"/>
            </a:avLst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6"/>
          <p:cNvSpPr/>
          <p:nvPr/>
        </p:nvSpPr>
        <p:spPr>
          <a:xfrm>
            <a:off x="1049884" y="1404214"/>
            <a:ext cx="5715000" cy="647395"/>
          </a:xfrm>
          <a:prstGeom prst="roundRect">
            <a:avLst>
              <a:gd fmla="val 8308" name="adj"/>
            </a:avLst>
          </a:prstGeom>
          <a:solidFill>
            <a:srgbClr val="E6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6"/>
          <p:cNvSpPr/>
          <p:nvPr/>
        </p:nvSpPr>
        <p:spPr>
          <a:xfrm>
            <a:off x="1049884" y="1404214"/>
            <a:ext cx="38405" cy="647395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6"/>
          <p:cNvSpPr txBox="1"/>
          <p:nvPr/>
        </p:nvSpPr>
        <p:spPr>
          <a:xfrm>
            <a:off x="1202589" y="1499311"/>
            <a:ext cx="55056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유전체 QC 및 X-linked 질환 위험도 계산의 정확성을 확보하기 위해 성별을 먼저 판정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1" name="Google Shape;751;p16"/>
          <p:cNvPicPr preferRelativeResize="0"/>
          <p:nvPr/>
        </p:nvPicPr>
        <p:blipFill rotWithShape="1">
          <a:blip r:embed="rId3">
            <a:alphaModFix/>
          </a:blip>
          <a:srcRect b="0" l="-1082" r="-1082" t="0"/>
          <a:stretch/>
        </p:blipFill>
        <p:spPr>
          <a:xfrm>
            <a:off x="1104444" y="2296668"/>
            <a:ext cx="161849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16"/>
          <p:cNvSpPr txBox="1"/>
          <p:nvPr/>
        </p:nvSpPr>
        <p:spPr>
          <a:xfrm>
            <a:off x="1347521" y="2250033"/>
            <a:ext cx="480060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원리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6"/>
          <p:cNvSpPr txBox="1"/>
          <p:nvPr/>
        </p:nvSpPr>
        <p:spPr>
          <a:xfrm>
            <a:off x="1116635" y="2541726"/>
            <a:ext cx="46955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X 염색체 마커의 이형접합률(Heterozygosity) 기반으로 성별을 판정하며, 수컷(XY)은 동형접합이 많고 암컷(XX)은 이형접합 비율이 높음.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4" name="Google Shape;754;p16"/>
          <p:cNvPicPr preferRelativeResize="0"/>
          <p:nvPr/>
        </p:nvPicPr>
        <p:blipFill rotWithShape="1">
          <a:blip r:embed="rId4">
            <a:alphaModFix/>
          </a:blip>
          <a:srcRect b="0" l="-505" r="-504" t="0"/>
          <a:stretch/>
        </p:blipFill>
        <p:spPr>
          <a:xfrm>
            <a:off x="1088289" y="3211982"/>
            <a:ext cx="228600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16"/>
          <p:cNvSpPr txBox="1"/>
          <p:nvPr/>
        </p:nvSpPr>
        <p:spPr>
          <a:xfrm>
            <a:off x="1347521" y="3174949"/>
            <a:ext cx="1033272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임계값 로직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6"/>
          <p:cNvSpPr txBox="1"/>
          <p:nvPr/>
        </p:nvSpPr>
        <p:spPr>
          <a:xfrm>
            <a:off x="1331522" y="5584885"/>
            <a:ext cx="86136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활용 방안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6"/>
          <p:cNvSpPr txBox="1"/>
          <p:nvPr/>
        </p:nvSpPr>
        <p:spPr>
          <a:xfrm>
            <a:off x="1104444" y="3488589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사전 정의된 임계치를 기준으로 Male/Female을 분류.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이형접합률이 낮으면 수컷, 높으면 암컷으로 판정하며, 결측 과다 시 보류 처리.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16"/>
          <p:cNvSpPr txBox="1"/>
          <p:nvPr/>
        </p:nvSpPr>
        <p:spPr>
          <a:xfrm>
            <a:off x="1104901" y="5789296"/>
            <a:ext cx="91745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X-연관(XLR/XLD) MOI 해석의 전제 조건으로, Method 1/2에서 성별에 따라 유전자형 해석이 달라짐.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6"/>
          <p:cNvSpPr txBox="1"/>
          <p:nvPr/>
        </p:nvSpPr>
        <p:spPr>
          <a:xfrm>
            <a:off x="1073887" y="4002898"/>
            <a:ext cx="3926434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Noto Sans KR"/>
              <a:buNone/>
            </a:pPr>
            <a:r>
              <a:rPr i="1" lang="en-US" sz="1000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임계값: X-염색체 이형접합률 5% (Heterozygosity &gt; 0.05 → Female)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6"/>
          <p:cNvSpPr txBox="1"/>
          <p:nvPr/>
        </p:nvSpPr>
        <p:spPr>
          <a:xfrm>
            <a:off x="1069086" y="4193433"/>
            <a:ext cx="27166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Noto Sans KR"/>
              <a:buNone/>
            </a:pPr>
            <a:r>
              <a:rPr i="1" lang="en-US" sz="1000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Genotyping Error를 감안해 설정한 보수적 기준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1088289" y="4754144"/>
            <a:ext cx="1947673" cy="714930"/>
          </a:xfrm>
          <a:prstGeom prst="roundRect">
            <a:avLst>
              <a:gd fmla="val 5333" name="adj"/>
            </a:avLst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6"/>
          <p:cNvSpPr txBox="1"/>
          <p:nvPr/>
        </p:nvSpPr>
        <p:spPr>
          <a:xfrm>
            <a:off x="1102235" y="4456430"/>
            <a:ext cx="79278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분포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6"/>
          <p:cNvSpPr txBox="1"/>
          <p:nvPr/>
        </p:nvSpPr>
        <p:spPr>
          <a:xfrm>
            <a:off x="2093596" y="4906822"/>
            <a:ext cx="530352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2100"/>
              <a:buFont typeface="Noto Sans KR"/>
              <a:buNone/>
            </a:pPr>
            <a:r>
              <a:rPr b="1" lang="en-US" sz="21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59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16"/>
          <p:cNvSpPr txBox="1"/>
          <p:nvPr/>
        </p:nvSpPr>
        <p:spPr>
          <a:xfrm>
            <a:off x="4332809" y="4921758"/>
            <a:ext cx="530352" cy="391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2100"/>
              <a:buFont typeface="Noto Sans KR"/>
              <a:buNone/>
            </a:pPr>
            <a:r>
              <a:rPr b="1" lang="en-US" sz="21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35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6"/>
          <p:cNvSpPr txBox="1"/>
          <p:nvPr/>
        </p:nvSpPr>
        <p:spPr>
          <a:xfrm>
            <a:off x="1118921" y="4991097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Male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16"/>
          <p:cNvSpPr txBox="1"/>
          <p:nvPr/>
        </p:nvSpPr>
        <p:spPr>
          <a:xfrm>
            <a:off x="3361641" y="4988203"/>
            <a:ext cx="6382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Female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7" name="Google Shape;767;p16"/>
          <p:cNvPicPr preferRelativeResize="0"/>
          <p:nvPr/>
        </p:nvPicPr>
        <p:blipFill rotWithShape="1">
          <a:blip r:embed="rId5">
            <a:alphaModFix/>
          </a:blip>
          <a:srcRect b="-855" l="0" r="0" t="-856"/>
          <a:stretch/>
        </p:blipFill>
        <p:spPr>
          <a:xfrm>
            <a:off x="1119379" y="5624545"/>
            <a:ext cx="133502" cy="181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8" name="Google Shape;768;p16"/>
          <p:cNvPicPr preferRelativeResize="0"/>
          <p:nvPr/>
        </p:nvPicPr>
        <p:blipFill rotWithShape="1">
          <a:blip r:embed="rId6">
            <a:alphaModFix/>
          </a:blip>
          <a:srcRect b="107" l="0" r="0" t="108"/>
          <a:stretch/>
        </p:blipFill>
        <p:spPr>
          <a:xfrm>
            <a:off x="7448488" y="1581684"/>
            <a:ext cx="2830968" cy="3813810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16"/>
          <p:cNvSpPr txBox="1"/>
          <p:nvPr/>
        </p:nvSpPr>
        <p:spPr>
          <a:xfrm>
            <a:off x="7640574" y="5471485"/>
            <a:ext cx="2572207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로직은 determine_sex_robust 함수로 구현됨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16"/>
          <p:cNvSpPr txBox="1"/>
          <p:nvPr/>
        </p:nvSpPr>
        <p:spPr>
          <a:xfrm>
            <a:off x="1049884" y="812901"/>
            <a:ext cx="6283317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3.1.4. 성별 판정 시스템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6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7"/>
          <p:cNvSpPr/>
          <p:nvPr/>
        </p:nvSpPr>
        <p:spPr>
          <a:xfrm>
            <a:off x="-709" y="147903"/>
            <a:ext cx="6981036" cy="314554"/>
          </a:xfrm>
          <a:prstGeom prst="roundRect">
            <a:avLst>
              <a:gd fmla="val 35236" name="adj"/>
            </a:avLst>
          </a:prstGeom>
          <a:solidFill>
            <a:srgbClr val="E6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7"/>
          <p:cNvSpPr/>
          <p:nvPr/>
        </p:nvSpPr>
        <p:spPr>
          <a:xfrm>
            <a:off x="-710" y="147903"/>
            <a:ext cx="38405" cy="314554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7"/>
          <p:cNvSpPr txBox="1"/>
          <p:nvPr/>
        </p:nvSpPr>
        <p:spPr>
          <a:xfrm>
            <a:off x="113590" y="196366"/>
            <a:ext cx="7571232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Method 1은 개체의 유전병 발병 여부를 진단하기 위한 단계로, Clear / Carrier / At-risk 상태를 직접 판정하는 진단적 분석.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17"/>
          <p:cNvSpPr/>
          <p:nvPr/>
        </p:nvSpPr>
        <p:spPr>
          <a:xfrm>
            <a:off x="-709" y="511834"/>
            <a:ext cx="5027372" cy="314554"/>
          </a:xfrm>
          <a:prstGeom prst="roundRect">
            <a:avLst>
              <a:gd fmla="val 35236" name="adj"/>
            </a:avLst>
          </a:prstGeom>
          <a:solidFill>
            <a:srgbClr val="FFF3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7"/>
          <p:cNvSpPr/>
          <p:nvPr/>
        </p:nvSpPr>
        <p:spPr>
          <a:xfrm>
            <a:off x="-710" y="511834"/>
            <a:ext cx="38405" cy="31455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7"/>
          <p:cNvSpPr txBox="1"/>
          <p:nvPr/>
        </p:nvSpPr>
        <p:spPr>
          <a:xfrm>
            <a:off x="113590" y="559383"/>
            <a:ext cx="502737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B45309"/>
                </a:solidFill>
                <a:latin typeface="Noto Sans KR"/>
                <a:ea typeface="Noto Sans KR"/>
                <a:cs typeface="Noto Sans KR"/>
                <a:sym typeface="Noto Sans KR"/>
              </a:rPr>
              <a:t>본 단계는 점수 계산이 아닌, 개체의 발병 여부를 판정하기 위한 Diagnosis 절차.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3" name="Google Shape;7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352" y="2200770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17"/>
          <p:cNvSpPr txBox="1"/>
          <p:nvPr/>
        </p:nvSpPr>
        <p:spPr>
          <a:xfrm>
            <a:off x="985536" y="2162823"/>
            <a:ext cx="724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거리 필터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7"/>
          <p:cNvSpPr txBox="1"/>
          <p:nvPr/>
        </p:nvSpPr>
        <p:spPr>
          <a:xfrm>
            <a:off x="1092912" y="5839626"/>
            <a:ext cx="10771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다중 SNP 처리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7"/>
          <p:cNvSpPr txBox="1"/>
          <p:nvPr/>
        </p:nvSpPr>
        <p:spPr>
          <a:xfrm>
            <a:off x="985536" y="2401025"/>
            <a:ext cx="5679338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변이-유전자 간 거리가 20kb 이내인 경우만 질병 연관성을 인정. </a:t>
            </a:r>
            <a:b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이는 인과성을 판단하는 보수적인 기준으로, 원거리 변이의 오탐지 가능성을 최소화.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7"/>
          <p:cNvSpPr txBox="1"/>
          <p:nvPr/>
        </p:nvSpPr>
        <p:spPr>
          <a:xfrm>
            <a:off x="972203" y="2784995"/>
            <a:ext cx="5629961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Noto Sans KR"/>
              <a:buNone/>
            </a:pPr>
            <a:r>
              <a:rPr i="1" lang="en-US" sz="900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20kb 이내 거리 제한은 변이와 유전자 간 직접적인 인과성을 인정하기 위한 보수적 기준이며, 잘못된 매칭을 줄여 진단 정확도를 높이기 위한 필수 조건.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8" name="Google Shape;7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46" y="3194036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17"/>
          <p:cNvSpPr txBox="1"/>
          <p:nvPr/>
        </p:nvSpPr>
        <p:spPr>
          <a:xfrm>
            <a:off x="981897" y="3154947"/>
            <a:ext cx="724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상태 부여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7"/>
          <p:cNvSpPr txBox="1"/>
          <p:nvPr/>
        </p:nvSpPr>
        <p:spPr>
          <a:xfrm>
            <a:off x="985536" y="3420124"/>
            <a:ext cx="5707685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유전자형(0/1/2)과 MOI(멘델 유전양식), 성별을 모두 고려하여 각 개체의 상태를 판정. </a:t>
            </a:r>
            <a:b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판정 결과는 At-risk(위험), Carrier(보인자), Clear(정상) 중 하나로 산출.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7"/>
          <p:cNvSpPr txBox="1"/>
          <p:nvPr/>
        </p:nvSpPr>
        <p:spPr>
          <a:xfrm>
            <a:off x="1091540" y="6088267"/>
            <a:ext cx="5669280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동일 질병에 여러 SNP가 연관된 경우, 가장 높은 위험 상태를 최종 결과로 채택. </a:t>
            </a:r>
            <a:b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위험도 순위는 At-risk &gt; Carrier &gt; Clear 순으로, 보수적인 위험 평가 원칙을 적용.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7"/>
          <p:cNvSpPr txBox="1"/>
          <p:nvPr/>
        </p:nvSpPr>
        <p:spPr>
          <a:xfrm>
            <a:off x="1054506" y="6473916"/>
            <a:ext cx="505846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Noto Sans KR"/>
              <a:buNone/>
            </a:pPr>
            <a:r>
              <a:rPr i="1" lang="en-US" sz="900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SNP가 존재할 경우 At-risk &gt; Carrier &gt; Clear 순으로 위험도가 높은 상태를 최우선으로 채택.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7"/>
          <p:cNvSpPr/>
          <p:nvPr/>
        </p:nvSpPr>
        <p:spPr>
          <a:xfrm>
            <a:off x="996900" y="3842576"/>
            <a:ext cx="5629046" cy="990295"/>
          </a:xfrm>
          <a:prstGeom prst="roundRect">
            <a:avLst>
              <a:gd fmla="val 7103" name="adj"/>
            </a:avLst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7"/>
          <p:cNvSpPr/>
          <p:nvPr/>
        </p:nvSpPr>
        <p:spPr>
          <a:xfrm>
            <a:off x="996900" y="3842576"/>
            <a:ext cx="38405" cy="99029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7"/>
          <p:cNvSpPr txBox="1"/>
          <p:nvPr/>
        </p:nvSpPr>
        <p:spPr>
          <a:xfrm>
            <a:off x="1092912" y="3900184"/>
            <a:ext cx="3065983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059669"/>
                </a:solidFill>
                <a:latin typeface="Noto Sans KR"/>
                <a:ea typeface="Noto Sans KR"/>
                <a:cs typeface="Noto Sans KR"/>
                <a:sym typeface="Noto Sans KR"/>
              </a:rPr>
              <a:t>MOI(유전양상)에 따라 유전자형 해석이 달라짐: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7"/>
          <p:cNvSpPr txBox="1"/>
          <p:nvPr/>
        </p:nvSpPr>
        <p:spPr>
          <a:xfrm>
            <a:off x="1092912" y="4105924"/>
            <a:ext cx="2863901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열성(Recessive): 2개 변이 시 At-risk, 1개는 Carrier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17"/>
          <p:cNvSpPr txBox="1"/>
          <p:nvPr/>
        </p:nvSpPr>
        <p:spPr>
          <a:xfrm>
            <a:off x="1092912" y="4265029"/>
            <a:ext cx="382585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우성(Dominant): 변이 1개라도 존재하면 At-risk (Mitochondrial 포함)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7"/>
          <p:cNvSpPr txBox="1"/>
          <p:nvPr/>
        </p:nvSpPr>
        <p:spPr>
          <a:xfrm>
            <a:off x="1092912" y="4424135"/>
            <a:ext cx="280629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X-linked Male: 변이 존재 시 At-risk (X 염색체 1개)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7"/>
          <p:cNvSpPr txBox="1"/>
          <p:nvPr/>
        </p:nvSpPr>
        <p:spPr>
          <a:xfrm>
            <a:off x="1092912" y="4583240"/>
            <a:ext cx="3606394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X-linked Female: 열성 규칙 적용 (0=Clear, 1=Carrier, 2=At-risk)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7"/>
          <p:cNvSpPr/>
          <p:nvPr/>
        </p:nvSpPr>
        <p:spPr>
          <a:xfrm>
            <a:off x="996900" y="4884992"/>
            <a:ext cx="5629046" cy="857707"/>
          </a:xfrm>
          <a:prstGeom prst="roundRect">
            <a:avLst>
              <a:gd fmla="val 9476" name="adj"/>
            </a:avLst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7"/>
          <p:cNvSpPr txBox="1"/>
          <p:nvPr/>
        </p:nvSpPr>
        <p:spPr>
          <a:xfrm>
            <a:off x="1054506" y="4942600"/>
            <a:ext cx="1971599" cy="189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100"/>
              <a:buFont typeface="Noto Sans KR"/>
              <a:buNone/>
            </a:pPr>
            <a:r>
              <a:rPr b="1" lang="en-US" sz="11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A01 개체의 멘델 상태 분포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7"/>
          <p:cNvSpPr txBox="1"/>
          <p:nvPr/>
        </p:nvSpPr>
        <p:spPr>
          <a:xfrm>
            <a:off x="1837691" y="5188573"/>
            <a:ext cx="386791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36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7"/>
          <p:cNvSpPr txBox="1"/>
          <p:nvPr/>
        </p:nvSpPr>
        <p:spPr>
          <a:xfrm>
            <a:off x="3732785" y="5188573"/>
            <a:ext cx="386791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7"/>
          <p:cNvSpPr txBox="1"/>
          <p:nvPr/>
        </p:nvSpPr>
        <p:spPr>
          <a:xfrm>
            <a:off x="5562499" y="5188573"/>
            <a:ext cx="386791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7"/>
          <p:cNvSpPr txBox="1"/>
          <p:nvPr/>
        </p:nvSpPr>
        <p:spPr>
          <a:xfrm>
            <a:off x="1760881" y="5485753"/>
            <a:ext cx="48829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7"/>
          <p:cNvSpPr txBox="1"/>
          <p:nvPr/>
        </p:nvSpPr>
        <p:spPr>
          <a:xfrm>
            <a:off x="3643174" y="5485753"/>
            <a:ext cx="51663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Carrier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7"/>
          <p:cNvSpPr txBox="1"/>
          <p:nvPr/>
        </p:nvSpPr>
        <p:spPr>
          <a:xfrm>
            <a:off x="5524094" y="5485753"/>
            <a:ext cx="41148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Clear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8" name="Google Shape;808;p17"/>
          <p:cNvPicPr preferRelativeResize="0"/>
          <p:nvPr/>
        </p:nvPicPr>
        <p:blipFill rotWithShape="1">
          <a:blip r:embed="rId5">
            <a:alphaModFix/>
          </a:blip>
          <a:srcRect b="0" l="-33" r="-32" t="0"/>
          <a:stretch/>
        </p:blipFill>
        <p:spPr>
          <a:xfrm>
            <a:off x="863398" y="5867058"/>
            <a:ext cx="171907" cy="1527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809" name="Google Shape;809;p17"/>
          <p:cNvPicPr preferRelativeResize="0"/>
          <p:nvPr/>
        </p:nvPicPr>
        <p:blipFill rotWithShape="1">
          <a:blip r:embed="rId6">
            <a:alphaModFix/>
          </a:blip>
          <a:srcRect b="63" l="0" r="0" t="63"/>
          <a:stretch/>
        </p:blipFill>
        <p:spPr>
          <a:xfrm>
            <a:off x="7299858" y="2183207"/>
            <a:ext cx="3648456" cy="3619195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17"/>
          <p:cNvSpPr txBox="1"/>
          <p:nvPr/>
        </p:nvSpPr>
        <p:spPr>
          <a:xfrm>
            <a:off x="6940327" y="5885994"/>
            <a:ext cx="4258361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Noto Sans KR"/>
              <a:buNone/>
            </a:pPr>
            <a:r>
              <a:rPr i="1" lang="en-US" sz="9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※ MOI(우성/열성/X-linked/미토콘드리아)에 따라 상태 판정 기준이 다르게 적용.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7"/>
          <p:cNvSpPr txBox="1"/>
          <p:nvPr/>
        </p:nvSpPr>
        <p:spPr>
          <a:xfrm>
            <a:off x="757547" y="959052"/>
            <a:ext cx="6283317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3.1.5. Method 1 – 멘델 유전병 분석(거리/상태 로직)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7"/>
          <p:cNvSpPr/>
          <p:nvPr/>
        </p:nvSpPr>
        <p:spPr>
          <a:xfrm>
            <a:off x="-3200" y="-724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3" name="Google Shape;813;p17"/>
          <p:cNvPicPr preferRelativeResize="0"/>
          <p:nvPr/>
        </p:nvPicPr>
        <p:blipFill rotWithShape="1">
          <a:blip r:embed="rId7">
            <a:alphaModFix/>
          </a:blip>
          <a:srcRect b="0" l="-1082" r="-1082" t="0"/>
          <a:stretch/>
        </p:blipFill>
        <p:spPr>
          <a:xfrm>
            <a:off x="773608" y="1513637"/>
            <a:ext cx="161849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7"/>
          <p:cNvSpPr txBox="1"/>
          <p:nvPr/>
        </p:nvSpPr>
        <p:spPr>
          <a:xfrm>
            <a:off x="977612" y="1511388"/>
            <a:ext cx="5624628" cy="1828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Mendelian Score 핵심 로직</a:t>
            </a:r>
            <a:endParaRPr/>
          </a:p>
        </p:txBody>
      </p:sp>
      <p:sp>
        <p:nvSpPr>
          <p:cNvPr id="815" name="Google Shape;815;p17"/>
          <p:cNvSpPr txBox="1"/>
          <p:nvPr/>
        </p:nvSpPr>
        <p:spPr>
          <a:xfrm>
            <a:off x="971119" y="1761401"/>
            <a:ext cx="59332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유전 질환은 유전 방식(MOI : Mode of Inheritance)— AR(열성), AD(우성), X-linked — 에 따라</a:t>
            </a:r>
            <a:b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genotype를 Clear/Carrier/At-risk로 해석하는 게 기본 원칙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1" name="Google Shape;821;p18"/>
          <p:cNvPicPr preferRelativeResize="0"/>
          <p:nvPr/>
        </p:nvPicPr>
        <p:blipFill rotWithShape="1">
          <a:blip r:embed="rId3">
            <a:alphaModFix/>
          </a:blip>
          <a:srcRect b="0" l="-760" r="-759" t="0"/>
          <a:stretch/>
        </p:blipFill>
        <p:spPr>
          <a:xfrm>
            <a:off x="440893" y="992125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8"/>
          <p:cNvSpPr txBox="1"/>
          <p:nvPr/>
        </p:nvSpPr>
        <p:spPr>
          <a:xfrm>
            <a:off x="659589" y="955549"/>
            <a:ext cx="3475634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상염색체 열성 (AR, Autosomal Recessive)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8"/>
          <p:cNvSpPr txBox="1"/>
          <p:nvPr/>
        </p:nvSpPr>
        <p:spPr>
          <a:xfrm>
            <a:off x="437929" y="1256386"/>
            <a:ext cx="5576011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유전자형 2에서 At-risk 판정, 1은 Carrier, 0은 Clear로 분류. 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열성 유전의 특성상, 두 대립 유전자 모두 변이형일 때만 질병 발현 가능성 존재.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4" name="Google Shape;824;p18"/>
          <p:cNvPicPr preferRelativeResize="0"/>
          <p:nvPr/>
        </p:nvPicPr>
        <p:blipFill rotWithShape="1">
          <a:blip r:embed="rId3">
            <a:alphaModFix/>
          </a:blip>
          <a:srcRect b="0" l="-760" r="-759" t="0"/>
          <a:stretch/>
        </p:blipFill>
        <p:spPr>
          <a:xfrm>
            <a:off x="446692" y="1832762"/>
            <a:ext cx="152705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18"/>
          <p:cNvSpPr txBox="1"/>
          <p:nvPr/>
        </p:nvSpPr>
        <p:spPr>
          <a:xfrm>
            <a:off x="654559" y="1808684"/>
            <a:ext cx="3513125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상염색체 우성 (AD, Autosomal Dominant)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8"/>
          <p:cNvSpPr txBox="1"/>
          <p:nvPr/>
        </p:nvSpPr>
        <p:spPr>
          <a:xfrm>
            <a:off x="457200" y="2152724"/>
            <a:ext cx="547177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유전자형 1 또는 2에서 At-risk 판정, 0은 Clear로 분류. 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우성 유전은 단 하나의 변이형 대립 유전자만으로도 질병 발현이 가능.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7" name="Google Shape;827;p18"/>
          <p:cNvPicPr preferRelativeResize="0"/>
          <p:nvPr/>
        </p:nvPicPr>
        <p:blipFill rotWithShape="1">
          <a:blip r:embed="rId4">
            <a:alphaModFix/>
          </a:blip>
          <a:srcRect b="0" l="-1064" r="-1064" t="0"/>
          <a:stretch/>
        </p:blipFill>
        <p:spPr>
          <a:xfrm>
            <a:off x="447218" y="2747315"/>
            <a:ext cx="21945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18"/>
          <p:cNvSpPr txBox="1"/>
          <p:nvPr/>
        </p:nvSpPr>
        <p:spPr>
          <a:xfrm>
            <a:off x="709651" y="2711386"/>
            <a:ext cx="2741371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X-연관 유전 (XLR/XLD, X-linked)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18"/>
          <p:cNvSpPr txBox="1"/>
          <p:nvPr/>
        </p:nvSpPr>
        <p:spPr>
          <a:xfrm>
            <a:off x="472829" y="3059772"/>
            <a:ext cx="5394960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수컷(♂)은 헤미지구성(hemizygous) 상태로 1에서 At-risk 가능, 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암컷(♀)은 1=Carrier, 2=At-risk로 판정. X 염색체 유전은 성별에 따라 해석 기준이 다름.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457200" y="3599078"/>
            <a:ext cx="5033772" cy="323698"/>
          </a:xfrm>
          <a:prstGeom prst="roundRect">
            <a:avLst>
              <a:gd fmla="val 33234" name="adj"/>
            </a:avLst>
          </a:prstGeom>
          <a:solidFill>
            <a:srgbClr val="E6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8"/>
          <p:cNvSpPr/>
          <p:nvPr/>
        </p:nvSpPr>
        <p:spPr>
          <a:xfrm>
            <a:off x="457200" y="3599078"/>
            <a:ext cx="38405" cy="323698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18"/>
          <p:cNvSpPr txBox="1"/>
          <p:nvPr/>
        </p:nvSpPr>
        <p:spPr>
          <a:xfrm>
            <a:off x="571500" y="3646627"/>
            <a:ext cx="49194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수컷은 X 염색체가 하나뿐이므로 변이가 존재할 경우 바로 At-risk로 분류.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3" name="Google Shape;83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829" y="4096512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18"/>
          <p:cNvSpPr txBox="1"/>
          <p:nvPr/>
        </p:nvSpPr>
        <p:spPr>
          <a:xfrm>
            <a:off x="715373" y="4075024"/>
            <a:ext cx="1198778" cy="2478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충돌 처리 방식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18"/>
          <p:cNvSpPr txBox="1"/>
          <p:nvPr/>
        </p:nvSpPr>
        <p:spPr>
          <a:xfrm>
            <a:off x="447218" y="4351172"/>
            <a:ext cx="5557723" cy="4288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동일 질병에 대해 상충되는 SNP가 존재할 경우, 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가장 보수적으로 At-risk &gt; Carrier &gt; Clear 순서로 위험도가 높은 상태를 우선 채택.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8"/>
          <p:cNvSpPr/>
          <p:nvPr/>
        </p:nvSpPr>
        <p:spPr>
          <a:xfrm>
            <a:off x="470001" y="4885905"/>
            <a:ext cx="5020971" cy="1047902"/>
          </a:xfrm>
          <a:prstGeom prst="roundRect">
            <a:avLst>
              <a:gd fmla="val 6346" name="adj"/>
            </a:avLst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8"/>
          <p:cNvSpPr txBox="1"/>
          <p:nvPr/>
        </p:nvSpPr>
        <p:spPr>
          <a:xfrm>
            <a:off x="513824" y="4962715"/>
            <a:ext cx="1425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077B6"/>
                </a:solidFill>
                <a:latin typeface="Noto Sans KR"/>
                <a:ea typeface="Noto Sans KR"/>
                <a:cs typeface="Noto Sans KR"/>
                <a:sym typeface="Noto Sans KR"/>
              </a:rPr>
              <a:t>A01 샘플 상태 분포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8"/>
          <p:cNvSpPr txBox="1"/>
          <p:nvPr/>
        </p:nvSpPr>
        <p:spPr>
          <a:xfrm>
            <a:off x="928726" y="5261000"/>
            <a:ext cx="509321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36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8"/>
          <p:cNvSpPr txBox="1"/>
          <p:nvPr/>
        </p:nvSpPr>
        <p:spPr>
          <a:xfrm>
            <a:off x="2733752" y="5261000"/>
            <a:ext cx="509321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8"/>
          <p:cNvSpPr txBox="1"/>
          <p:nvPr/>
        </p:nvSpPr>
        <p:spPr>
          <a:xfrm>
            <a:off x="4495800" y="5261000"/>
            <a:ext cx="509321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2000"/>
              <a:buFont typeface="Noto Sans KR"/>
              <a:buNone/>
            </a:pPr>
            <a:r>
              <a:rPr b="1" lang="en-US" sz="20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8"/>
          <p:cNvSpPr txBox="1"/>
          <p:nvPr/>
        </p:nvSpPr>
        <p:spPr>
          <a:xfrm>
            <a:off x="864718" y="5649620"/>
            <a:ext cx="546811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8"/>
          <p:cNvSpPr txBox="1"/>
          <p:nvPr/>
        </p:nvSpPr>
        <p:spPr>
          <a:xfrm>
            <a:off x="2656028" y="5649620"/>
            <a:ext cx="5760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Carrier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8"/>
          <p:cNvSpPr txBox="1"/>
          <p:nvPr/>
        </p:nvSpPr>
        <p:spPr>
          <a:xfrm>
            <a:off x="4474769" y="5649620"/>
            <a:ext cx="4617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Clear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8"/>
          <p:cNvSpPr txBox="1"/>
          <p:nvPr/>
        </p:nvSpPr>
        <p:spPr>
          <a:xfrm>
            <a:off x="8009236" y="1061619"/>
            <a:ext cx="1983334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MOI별 유전자형 해석 규칙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8"/>
          <p:cNvSpPr/>
          <p:nvPr/>
        </p:nvSpPr>
        <p:spPr>
          <a:xfrm>
            <a:off x="6058821" y="1427379"/>
            <a:ext cx="5762549" cy="418795"/>
          </a:xfrm>
          <a:prstGeom prst="rect">
            <a:avLst/>
          </a:prstGeom>
          <a:solidFill>
            <a:srgbClr val="0A4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8"/>
          <p:cNvSpPr txBox="1"/>
          <p:nvPr/>
        </p:nvSpPr>
        <p:spPr>
          <a:xfrm>
            <a:off x="6291079" y="1522477"/>
            <a:ext cx="4096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MOI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8"/>
          <p:cNvSpPr txBox="1"/>
          <p:nvPr/>
        </p:nvSpPr>
        <p:spPr>
          <a:xfrm>
            <a:off x="7168903" y="1522477"/>
            <a:ext cx="8293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Genotype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18"/>
          <p:cNvSpPr txBox="1"/>
          <p:nvPr/>
        </p:nvSpPr>
        <p:spPr>
          <a:xfrm>
            <a:off x="8572507" y="1522477"/>
            <a:ext cx="4672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Male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8"/>
          <p:cNvSpPr txBox="1"/>
          <p:nvPr/>
        </p:nvSpPr>
        <p:spPr>
          <a:xfrm>
            <a:off x="9564631" y="1522477"/>
            <a:ext cx="6574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Female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8"/>
          <p:cNvSpPr txBox="1"/>
          <p:nvPr/>
        </p:nvSpPr>
        <p:spPr>
          <a:xfrm>
            <a:off x="10968235" y="1522477"/>
            <a:ext cx="4005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해석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8"/>
          <p:cNvSpPr/>
          <p:nvPr/>
        </p:nvSpPr>
        <p:spPr>
          <a:xfrm>
            <a:off x="6058821" y="1847089"/>
            <a:ext cx="5762549" cy="390449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8"/>
          <p:cNvSpPr/>
          <p:nvPr/>
        </p:nvSpPr>
        <p:spPr>
          <a:xfrm>
            <a:off x="6058821" y="2232051"/>
            <a:ext cx="5762549" cy="3904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8"/>
          <p:cNvSpPr/>
          <p:nvPr/>
        </p:nvSpPr>
        <p:spPr>
          <a:xfrm>
            <a:off x="6058821" y="2623414"/>
            <a:ext cx="5762549" cy="390449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8"/>
          <p:cNvSpPr/>
          <p:nvPr/>
        </p:nvSpPr>
        <p:spPr>
          <a:xfrm>
            <a:off x="6058821" y="3013863"/>
            <a:ext cx="5762549" cy="3904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18"/>
          <p:cNvSpPr/>
          <p:nvPr/>
        </p:nvSpPr>
        <p:spPr>
          <a:xfrm>
            <a:off x="6058821" y="3404312"/>
            <a:ext cx="5762549" cy="390449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8"/>
          <p:cNvSpPr/>
          <p:nvPr/>
        </p:nvSpPr>
        <p:spPr>
          <a:xfrm>
            <a:off x="6058821" y="3794761"/>
            <a:ext cx="5762549" cy="3904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18"/>
          <p:cNvSpPr/>
          <p:nvPr/>
        </p:nvSpPr>
        <p:spPr>
          <a:xfrm>
            <a:off x="6058821" y="4185209"/>
            <a:ext cx="5762549" cy="390449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8"/>
          <p:cNvSpPr/>
          <p:nvPr/>
        </p:nvSpPr>
        <p:spPr>
          <a:xfrm>
            <a:off x="6058821" y="4575658"/>
            <a:ext cx="5762549" cy="3904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8"/>
          <p:cNvSpPr/>
          <p:nvPr/>
        </p:nvSpPr>
        <p:spPr>
          <a:xfrm>
            <a:off x="6058821" y="4966107"/>
            <a:ext cx="5762549" cy="390449"/>
          </a:xfrm>
          <a:prstGeom prst="rect">
            <a:avLst/>
          </a:prstGeom>
          <a:solidFill>
            <a:srgbClr val="F0F7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8"/>
          <p:cNvSpPr/>
          <p:nvPr/>
        </p:nvSpPr>
        <p:spPr>
          <a:xfrm>
            <a:off x="6058821" y="2228393"/>
            <a:ext cx="7616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18"/>
          <p:cNvSpPr/>
          <p:nvPr/>
        </p:nvSpPr>
        <p:spPr>
          <a:xfrm>
            <a:off x="6816859" y="2228393"/>
            <a:ext cx="1419149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8"/>
          <p:cNvSpPr/>
          <p:nvPr/>
        </p:nvSpPr>
        <p:spPr>
          <a:xfrm>
            <a:off x="10406793" y="2228393"/>
            <a:ext cx="141000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18"/>
          <p:cNvSpPr/>
          <p:nvPr/>
        </p:nvSpPr>
        <p:spPr>
          <a:xfrm>
            <a:off x="6058821" y="2613356"/>
            <a:ext cx="7616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8"/>
          <p:cNvSpPr/>
          <p:nvPr/>
        </p:nvSpPr>
        <p:spPr>
          <a:xfrm>
            <a:off x="6816859" y="2613356"/>
            <a:ext cx="1419149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8"/>
          <p:cNvSpPr/>
          <p:nvPr/>
        </p:nvSpPr>
        <p:spPr>
          <a:xfrm>
            <a:off x="10406793" y="2613356"/>
            <a:ext cx="141000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8"/>
          <p:cNvSpPr/>
          <p:nvPr/>
        </p:nvSpPr>
        <p:spPr>
          <a:xfrm>
            <a:off x="6058821" y="3004719"/>
            <a:ext cx="7616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8"/>
          <p:cNvSpPr/>
          <p:nvPr/>
        </p:nvSpPr>
        <p:spPr>
          <a:xfrm>
            <a:off x="6816859" y="3004719"/>
            <a:ext cx="1419149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8"/>
          <p:cNvSpPr/>
          <p:nvPr/>
        </p:nvSpPr>
        <p:spPr>
          <a:xfrm>
            <a:off x="10406793" y="3004719"/>
            <a:ext cx="141000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18"/>
          <p:cNvSpPr/>
          <p:nvPr/>
        </p:nvSpPr>
        <p:spPr>
          <a:xfrm>
            <a:off x="6058821" y="3395168"/>
            <a:ext cx="7616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8"/>
          <p:cNvSpPr/>
          <p:nvPr/>
        </p:nvSpPr>
        <p:spPr>
          <a:xfrm>
            <a:off x="6816859" y="3395168"/>
            <a:ext cx="1419149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8"/>
          <p:cNvSpPr/>
          <p:nvPr/>
        </p:nvSpPr>
        <p:spPr>
          <a:xfrm>
            <a:off x="10406793" y="3395168"/>
            <a:ext cx="141000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8"/>
          <p:cNvSpPr/>
          <p:nvPr/>
        </p:nvSpPr>
        <p:spPr>
          <a:xfrm>
            <a:off x="6058821" y="3785617"/>
            <a:ext cx="7616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18"/>
          <p:cNvSpPr/>
          <p:nvPr/>
        </p:nvSpPr>
        <p:spPr>
          <a:xfrm>
            <a:off x="6816859" y="3785617"/>
            <a:ext cx="1419149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8"/>
          <p:cNvSpPr/>
          <p:nvPr/>
        </p:nvSpPr>
        <p:spPr>
          <a:xfrm>
            <a:off x="10406793" y="3785617"/>
            <a:ext cx="141000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8"/>
          <p:cNvSpPr/>
          <p:nvPr/>
        </p:nvSpPr>
        <p:spPr>
          <a:xfrm>
            <a:off x="6058821" y="4176065"/>
            <a:ext cx="7616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18"/>
          <p:cNvSpPr/>
          <p:nvPr/>
        </p:nvSpPr>
        <p:spPr>
          <a:xfrm>
            <a:off x="6816859" y="4176065"/>
            <a:ext cx="1419149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8"/>
          <p:cNvSpPr/>
          <p:nvPr/>
        </p:nvSpPr>
        <p:spPr>
          <a:xfrm>
            <a:off x="10406793" y="4176065"/>
            <a:ext cx="141000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8"/>
          <p:cNvSpPr/>
          <p:nvPr/>
        </p:nvSpPr>
        <p:spPr>
          <a:xfrm>
            <a:off x="6058821" y="4566514"/>
            <a:ext cx="7616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18"/>
          <p:cNvSpPr/>
          <p:nvPr/>
        </p:nvSpPr>
        <p:spPr>
          <a:xfrm>
            <a:off x="6816859" y="4566514"/>
            <a:ext cx="1419149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8"/>
          <p:cNvSpPr/>
          <p:nvPr/>
        </p:nvSpPr>
        <p:spPr>
          <a:xfrm>
            <a:off x="10406793" y="4566514"/>
            <a:ext cx="141000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18"/>
          <p:cNvSpPr/>
          <p:nvPr/>
        </p:nvSpPr>
        <p:spPr>
          <a:xfrm>
            <a:off x="6058821" y="4956963"/>
            <a:ext cx="7616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8"/>
          <p:cNvSpPr/>
          <p:nvPr/>
        </p:nvSpPr>
        <p:spPr>
          <a:xfrm>
            <a:off x="6816859" y="4956963"/>
            <a:ext cx="1419149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18"/>
          <p:cNvSpPr/>
          <p:nvPr/>
        </p:nvSpPr>
        <p:spPr>
          <a:xfrm>
            <a:off x="10406793" y="4956963"/>
            <a:ext cx="141000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18"/>
          <p:cNvSpPr/>
          <p:nvPr/>
        </p:nvSpPr>
        <p:spPr>
          <a:xfrm>
            <a:off x="6058821" y="5347412"/>
            <a:ext cx="76169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8"/>
          <p:cNvSpPr/>
          <p:nvPr/>
        </p:nvSpPr>
        <p:spPr>
          <a:xfrm>
            <a:off x="6816859" y="5347412"/>
            <a:ext cx="1419149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18"/>
          <p:cNvSpPr/>
          <p:nvPr/>
        </p:nvSpPr>
        <p:spPr>
          <a:xfrm>
            <a:off x="8234179" y="5347412"/>
            <a:ext cx="10287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8"/>
          <p:cNvSpPr/>
          <p:nvPr/>
        </p:nvSpPr>
        <p:spPr>
          <a:xfrm>
            <a:off x="10406793" y="5347412"/>
            <a:ext cx="1410005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8" name="Google Shape;888;p18"/>
          <p:cNvSpPr txBox="1"/>
          <p:nvPr/>
        </p:nvSpPr>
        <p:spPr>
          <a:xfrm>
            <a:off x="6343200" y="1922984"/>
            <a:ext cx="3054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18"/>
          <p:cNvSpPr txBox="1"/>
          <p:nvPr/>
        </p:nvSpPr>
        <p:spPr>
          <a:xfrm>
            <a:off x="7482542" y="1922984"/>
            <a:ext cx="200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18"/>
          <p:cNvSpPr txBox="1"/>
          <p:nvPr/>
        </p:nvSpPr>
        <p:spPr>
          <a:xfrm>
            <a:off x="10968235" y="1922984"/>
            <a:ext cx="4005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8"/>
          <p:cNvSpPr txBox="1"/>
          <p:nvPr/>
        </p:nvSpPr>
        <p:spPr>
          <a:xfrm>
            <a:off x="6343200" y="2313433"/>
            <a:ext cx="3054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18"/>
          <p:cNvSpPr txBox="1"/>
          <p:nvPr/>
        </p:nvSpPr>
        <p:spPr>
          <a:xfrm>
            <a:off x="7482542" y="2313433"/>
            <a:ext cx="200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18"/>
          <p:cNvSpPr txBox="1"/>
          <p:nvPr/>
        </p:nvSpPr>
        <p:spPr>
          <a:xfrm>
            <a:off x="10898740" y="2313433"/>
            <a:ext cx="5431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보인자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18"/>
          <p:cNvSpPr txBox="1"/>
          <p:nvPr/>
        </p:nvSpPr>
        <p:spPr>
          <a:xfrm>
            <a:off x="6343200" y="2703881"/>
            <a:ext cx="3054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18"/>
          <p:cNvSpPr txBox="1"/>
          <p:nvPr/>
        </p:nvSpPr>
        <p:spPr>
          <a:xfrm>
            <a:off x="7482542" y="2703881"/>
            <a:ext cx="200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18"/>
          <p:cNvSpPr txBox="1"/>
          <p:nvPr/>
        </p:nvSpPr>
        <p:spPr>
          <a:xfrm>
            <a:off x="10968235" y="2703881"/>
            <a:ext cx="4005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위험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18"/>
          <p:cNvSpPr txBox="1"/>
          <p:nvPr/>
        </p:nvSpPr>
        <p:spPr>
          <a:xfrm>
            <a:off x="6338628" y="3094330"/>
            <a:ext cx="3145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8"/>
          <p:cNvSpPr txBox="1"/>
          <p:nvPr/>
        </p:nvSpPr>
        <p:spPr>
          <a:xfrm>
            <a:off x="7482542" y="3094330"/>
            <a:ext cx="200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18"/>
          <p:cNvSpPr txBox="1"/>
          <p:nvPr/>
        </p:nvSpPr>
        <p:spPr>
          <a:xfrm>
            <a:off x="10968235" y="3094330"/>
            <a:ext cx="4005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18"/>
          <p:cNvSpPr txBox="1"/>
          <p:nvPr/>
        </p:nvSpPr>
        <p:spPr>
          <a:xfrm>
            <a:off x="6338628" y="3484779"/>
            <a:ext cx="3145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18"/>
          <p:cNvSpPr txBox="1"/>
          <p:nvPr/>
        </p:nvSpPr>
        <p:spPr>
          <a:xfrm>
            <a:off x="7482542" y="3484779"/>
            <a:ext cx="200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18"/>
          <p:cNvSpPr txBox="1"/>
          <p:nvPr/>
        </p:nvSpPr>
        <p:spPr>
          <a:xfrm>
            <a:off x="10968235" y="3484779"/>
            <a:ext cx="4005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위험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18"/>
          <p:cNvSpPr txBox="1"/>
          <p:nvPr/>
        </p:nvSpPr>
        <p:spPr>
          <a:xfrm>
            <a:off x="6338628" y="3875228"/>
            <a:ext cx="3145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18"/>
          <p:cNvSpPr txBox="1"/>
          <p:nvPr/>
        </p:nvSpPr>
        <p:spPr>
          <a:xfrm>
            <a:off x="7482542" y="3875228"/>
            <a:ext cx="200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8"/>
          <p:cNvSpPr txBox="1"/>
          <p:nvPr/>
        </p:nvSpPr>
        <p:spPr>
          <a:xfrm>
            <a:off x="10968235" y="3875228"/>
            <a:ext cx="4005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위험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18"/>
          <p:cNvSpPr txBox="1"/>
          <p:nvPr/>
        </p:nvSpPr>
        <p:spPr>
          <a:xfrm>
            <a:off x="6303880" y="4265677"/>
            <a:ext cx="391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XLR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18"/>
          <p:cNvSpPr txBox="1"/>
          <p:nvPr/>
        </p:nvSpPr>
        <p:spPr>
          <a:xfrm>
            <a:off x="7482542" y="4265677"/>
            <a:ext cx="200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18"/>
          <p:cNvSpPr txBox="1"/>
          <p:nvPr/>
        </p:nvSpPr>
        <p:spPr>
          <a:xfrm>
            <a:off x="10968235" y="4265677"/>
            <a:ext cx="4005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정상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18"/>
          <p:cNvSpPr txBox="1"/>
          <p:nvPr/>
        </p:nvSpPr>
        <p:spPr>
          <a:xfrm>
            <a:off x="6303880" y="4657040"/>
            <a:ext cx="391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XLR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18"/>
          <p:cNvSpPr txBox="1"/>
          <p:nvPr/>
        </p:nvSpPr>
        <p:spPr>
          <a:xfrm>
            <a:off x="7482542" y="4657040"/>
            <a:ext cx="200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18"/>
          <p:cNvSpPr txBox="1"/>
          <p:nvPr/>
        </p:nvSpPr>
        <p:spPr>
          <a:xfrm>
            <a:off x="10807300" y="4657040"/>
            <a:ext cx="724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성별 차이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8"/>
          <p:cNvSpPr txBox="1"/>
          <p:nvPr/>
        </p:nvSpPr>
        <p:spPr>
          <a:xfrm>
            <a:off x="6303880" y="5047489"/>
            <a:ext cx="3913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XLR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18"/>
          <p:cNvSpPr txBox="1"/>
          <p:nvPr/>
        </p:nvSpPr>
        <p:spPr>
          <a:xfrm>
            <a:off x="7482542" y="5047489"/>
            <a:ext cx="2002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18"/>
          <p:cNvSpPr txBox="1"/>
          <p:nvPr/>
        </p:nvSpPr>
        <p:spPr>
          <a:xfrm>
            <a:off x="8616398" y="5047489"/>
            <a:ext cx="381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N/A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18"/>
          <p:cNvSpPr txBox="1"/>
          <p:nvPr/>
        </p:nvSpPr>
        <p:spPr>
          <a:xfrm>
            <a:off x="10736892" y="5047489"/>
            <a:ext cx="866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암컷만 해당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18"/>
          <p:cNvSpPr/>
          <p:nvPr/>
        </p:nvSpPr>
        <p:spPr>
          <a:xfrm>
            <a:off x="8234179" y="2228393"/>
            <a:ext cx="10287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18"/>
          <p:cNvSpPr/>
          <p:nvPr/>
        </p:nvSpPr>
        <p:spPr>
          <a:xfrm>
            <a:off x="9261964" y="2228393"/>
            <a:ext cx="1152144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8"/>
          <p:cNvSpPr/>
          <p:nvPr/>
        </p:nvSpPr>
        <p:spPr>
          <a:xfrm>
            <a:off x="8234179" y="3395168"/>
            <a:ext cx="10287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18"/>
          <p:cNvSpPr/>
          <p:nvPr/>
        </p:nvSpPr>
        <p:spPr>
          <a:xfrm>
            <a:off x="9261964" y="3395168"/>
            <a:ext cx="1152144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18"/>
          <p:cNvSpPr/>
          <p:nvPr/>
        </p:nvSpPr>
        <p:spPr>
          <a:xfrm>
            <a:off x="8234179" y="4566514"/>
            <a:ext cx="10287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18"/>
          <p:cNvSpPr/>
          <p:nvPr/>
        </p:nvSpPr>
        <p:spPr>
          <a:xfrm>
            <a:off x="9261964" y="4566514"/>
            <a:ext cx="1152144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18"/>
          <p:cNvSpPr txBox="1"/>
          <p:nvPr/>
        </p:nvSpPr>
        <p:spPr>
          <a:xfrm>
            <a:off x="8558791" y="1922984"/>
            <a:ext cx="495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2D6A4F"/>
                </a:solidFill>
                <a:latin typeface="Noto Sans KR"/>
                <a:ea typeface="Noto Sans KR"/>
                <a:cs typeface="Noto Sans KR"/>
                <a:sym typeface="Noto Sans KR"/>
              </a:rPr>
              <a:t>Clear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18"/>
          <p:cNvSpPr txBox="1"/>
          <p:nvPr/>
        </p:nvSpPr>
        <p:spPr>
          <a:xfrm>
            <a:off x="9645098" y="1922984"/>
            <a:ext cx="495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2D6A4F"/>
                </a:solidFill>
                <a:latin typeface="Noto Sans KR"/>
                <a:ea typeface="Noto Sans KR"/>
                <a:cs typeface="Noto Sans KR"/>
                <a:sym typeface="Noto Sans KR"/>
              </a:rPr>
              <a:t>Clear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18"/>
          <p:cNvSpPr txBox="1"/>
          <p:nvPr/>
        </p:nvSpPr>
        <p:spPr>
          <a:xfrm>
            <a:off x="8558791" y="3094330"/>
            <a:ext cx="495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2D6A4F"/>
                </a:solidFill>
                <a:latin typeface="Noto Sans KR"/>
                <a:ea typeface="Noto Sans KR"/>
                <a:cs typeface="Noto Sans KR"/>
                <a:sym typeface="Noto Sans KR"/>
              </a:rPr>
              <a:t>Clear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18"/>
          <p:cNvSpPr txBox="1"/>
          <p:nvPr/>
        </p:nvSpPr>
        <p:spPr>
          <a:xfrm>
            <a:off x="9645098" y="3094330"/>
            <a:ext cx="495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2D6A4F"/>
                </a:solidFill>
                <a:latin typeface="Noto Sans KR"/>
                <a:ea typeface="Noto Sans KR"/>
                <a:cs typeface="Noto Sans KR"/>
                <a:sym typeface="Noto Sans KR"/>
              </a:rPr>
              <a:t>Clear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8"/>
          <p:cNvSpPr txBox="1"/>
          <p:nvPr/>
        </p:nvSpPr>
        <p:spPr>
          <a:xfrm>
            <a:off x="8558791" y="4265677"/>
            <a:ext cx="495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2D6A4F"/>
                </a:solidFill>
                <a:latin typeface="Noto Sans KR"/>
                <a:ea typeface="Noto Sans KR"/>
                <a:cs typeface="Noto Sans KR"/>
                <a:sym typeface="Noto Sans KR"/>
              </a:rPr>
              <a:t>Clear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18"/>
          <p:cNvSpPr txBox="1"/>
          <p:nvPr/>
        </p:nvSpPr>
        <p:spPr>
          <a:xfrm>
            <a:off x="9645098" y="4265677"/>
            <a:ext cx="4956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2D6A4F"/>
                </a:solidFill>
                <a:latin typeface="Noto Sans KR"/>
                <a:ea typeface="Noto Sans KR"/>
                <a:cs typeface="Noto Sans KR"/>
                <a:sym typeface="Noto Sans KR"/>
              </a:rPr>
              <a:t>Clear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18"/>
          <p:cNvSpPr/>
          <p:nvPr/>
        </p:nvSpPr>
        <p:spPr>
          <a:xfrm>
            <a:off x="8234179" y="2613356"/>
            <a:ext cx="10287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8"/>
          <p:cNvSpPr/>
          <p:nvPr/>
        </p:nvSpPr>
        <p:spPr>
          <a:xfrm>
            <a:off x="9261964" y="2613356"/>
            <a:ext cx="1152144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8"/>
          <p:cNvSpPr/>
          <p:nvPr/>
        </p:nvSpPr>
        <p:spPr>
          <a:xfrm>
            <a:off x="9261964" y="4956963"/>
            <a:ext cx="1152144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8"/>
          <p:cNvSpPr txBox="1"/>
          <p:nvPr/>
        </p:nvSpPr>
        <p:spPr>
          <a:xfrm>
            <a:off x="8495697" y="2313433"/>
            <a:ext cx="619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97706"/>
                </a:solidFill>
                <a:latin typeface="Noto Sans KR"/>
                <a:ea typeface="Noto Sans KR"/>
                <a:cs typeface="Noto Sans KR"/>
                <a:sym typeface="Noto Sans KR"/>
              </a:rPr>
              <a:t>Carrier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18"/>
          <p:cNvSpPr txBox="1"/>
          <p:nvPr/>
        </p:nvSpPr>
        <p:spPr>
          <a:xfrm>
            <a:off x="9582004" y="2313433"/>
            <a:ext cx="619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97706"/>
                </a:solidFill>
                <a:latin typeface="Noto Sans KR"/>
                <a:ea typeface="Noto Sans KR"/>
                <a:cs typeface="Noto Sans KR"/>
                <a:sym typeface="Noto Sans KR"/>
              </a:rPr>
              <a:t>Carrier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8"/>
          <p:cNvSpPr txBox="1"/>
          <p:nvPr/>
        </p:nvSpPr>
        <p:spPr>
          <a:xfrm>
            <a:off x="9582004" y="4657040"/>
            <a:ext cx="6199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97706"/>
                </a:solidFill>
                <a:latin typeface="Noto Sans KR"/>
                <a:ea typeface="Noto Sans KR"/>
                <a:cs typeface="Noto Sans KR"/>
                <a:sym typeface="Noto Sans KR"/>
              </a:rPr>
              <a:t>Carrier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18"/>
          <p:cNvSpPr/>
          <p:nvPr/>
        </p:nvSpPr>
        <p:spPr>
          <a:xfrm>
            <a:off x="8234179" y="3004719"/>
            <a:ext cx="10287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18"/>
          <p:cNvSpPr/>
          <p:nvPr/>
        </p:nvSpPr>
        <p:spPr>
          <a:xfrm>
            <a:off x="9261964" y="3004719"/>
            <a:ext cx="1152144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18"/>
          <p:cNvSpPr/>
          <p:nvPr/>
        </p:nvSpPr>
        <p:spPr>
          <a:xfrm>
            <a:off x="8234179" y="3785617"/>
            <a:ext cx="10287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8"/>
          <p:cNvSpPr/>
          <p:nvPr/>
        </p:nvSpPr>
        <p:spPr>
          <a:xfrm>
            <a:off x="9261964" y="3785617"/>
            <a:ext cx="1152144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8"/>
          <p:cNvSpPr/>
          <p:nvPr/>
        </p:nvSpPr>
        <p:spPr>
          <a:xfrm>
            <a:off x="8234179" y="4176065"/>
            <a:ext cx="10287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8"/>
          <p:cNvSpPr/>
          <p:nvPr/>
        </p:nvSpPr>
        <p:spPr>
          <a:xfrm>
            <a:off x="9261964" y="4176065"/>
            <a:ext cx="1152144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8"/>
          <p:cNvSpPr/>
          <p:nvPr/>
        </p:nvSpPr>
        <p:spPr>
          <a:xfrm>
            <a:off x="8234179" y="4956963"/>
            <a:ext cx="1028700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8"/>
          <p:cNvSpPr/>
          <p:nvPr/>
        </p:nvSpPr>
        <p:spPr>
          <a:xfrm>
            <a:off x="9261964" y="5347412"/>
            <a:ext cx="1152144" cy="914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8"/>
          <p:cNvSpPr txBox="1"/>
          <p:nvPr/>
        </p:nvSpPr>
        <p:spPr>
          <a:xfrm>
            <a:off x="8511242" y="2703881"/>
            <a:ext cx="5907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18"/>
          <p:cNvSpPr txBox="1"/>
          <p:nvPr/>
        </p:nvSpPr>
        <p:spPr>
          <a:xfrm>
            <a:off x="9597549" y="2703881"/>
            <a:ext cx="5907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18"/>
          <p:cNvSpPr txBox="1"/>
          <p:nvPr/>
        </p:nvSpPr>
        <p:spPr>
          <a:xfrm>
            <a:off x="8511242" y="3484779"/>
            <a:ext cx="5907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18"/>
          <p:cNvSpPr txBox="1"/>
          <p:nvPr/>
        </p:nvSpPr>
        <p:spPr>
          <a:xfrm>
            <a:off x="9597549" y="3484779"/>
            <a:ext cx="5907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18"/>
          <p:cNvSpPr txBox="1"/>
          <p:nvPr/>
        </p:nvSpPr>
        <p:spPr>
          <a:xfrm>
            <a:off x="8511242" y="3875228"/>
            <a:ext cx="5907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8"/>
          <p:cNvSpPr txBox="1"/>
          <p:nvPr/>
        </p:nvSpPr>
        <p:spPr>
          <a:xfrm>
            <a:off x="9597549" y="3875228"/>
            <a:ext cx="5907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18"/>
          <p:cNvSpPr txBox="1"/>
          <p:nvPr/>
        </p:nvSpPr>
        <p:spPr>
          <a:xfrm>
            <a:off x="8511242" y="4657040"/>
            <a:ext cx="5907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18"/>
          <p:cNvSpPr txBox="1"/>
          <p:nvPr/>
        </p:nvSpPr>
        <p:spPr>
          <a:xfrm>
            <a:off x="9597549" y="5047489"/>
            <a:ext cx="5907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000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D00000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8"/>
          <p:cNvSpPr/>
          <p:nvPr/>
        </p:nvSpPr>
        <p:spPr>
          <a:xfrm>
            <a:off x="7386530" y="5681168"/>
            <a:ext cx="114300" cy="114300"/>
          </a:xfrm>
          <a:prstGeom prst="roundRect">
            <a:avLst>
              <a:gd fmla="val 133333" name="adj"/>
            </a:avLst>
          </a:prstGeom>
          <a:solidFill>
            <a:srgbClr val="D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18"/>
          <p:cNvSpPr txBox="1"/>
          <p:nvPr/>
        </p:nvSpPr>
        <p:spPr>
          <a:xfrm>
            <a:off x="7558437" y="5647335"/>
            <a:ext cx="1015898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At-risk: 발병 위험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18"/>
          <p:cNvSpPr txBox="1"/>
          <p:nvPr/>
        </p:nvSpPr>
        <p:spPr>
          <a:xfrm>
            <a:off x="8789220" y="5647335"/>
            <a:ext cx="891540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Carrier: 보인자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18"/>
          <p:cNvSpPr txBox="1"/>
          <p:nvPr/>
        </p:nvSpPr>
        <p:spPr>
          <a:xfrm>
            <a:off x="9897472" y="5647335"/>
            <a:ext cx="682142" cy="1810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Clear: 정상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18"/>
          <p:cNvSpPr/>
          <p:nvPr/>
        </p:nvSpPr>
        <p:spPr>
          <a:xfrm>
            <a:off x="8617312" y="5681168"/>
            <a:ext cx="114300" cy="114300"/>
          </a:xfrm>
          <a:prstGeom prst="roundRect">
            <a:avLst>
              <a:gd fmla="val 133333" name="adj"/>
            </a:avLst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8"/>
          <p:cNvSpPr/>
          <p:nvPr/>
        </p:nvSpPr>
        <p:spPr>
          <a:xfrm>
            <a:off x="9725565" y="5681168"/>
            <a:ext cx="114300" cy="114300"/>
          </a:xfrm>
          <a:prstGeom prst="roundRect">
            <a:avLst>
              <a:gd fmla="val 133333" name="adj"/>
            </a:avLst>
          </a:prstGeom>
          <a:solidFill>
            <a:srgbClr val="2D6A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18"/>
          <p:cNvSpPr txBox="1"/>
          <p:nvPr/>
        </p:nvSpPr>
        <p:spPr>
          <a:xfrm>
            <a:off x="7128669" y="5913425"/>
            <a:ext cx="4031590" cy="15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Noto Sans KR"/>
              <a:buNone/>
            </a:pPr>
            <a:r>
              <a:rPr lang="en-US" sz="800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※ X-linked Female은 열성 유전 규칙을 따르며, Male과 Female의 해석 기준이 다름.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18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"/>
          <p:cNvSpPr txBox="1"/>
          <p:nvPr/>
        </p:nvSpPr>
        <p:spPr>
          <a:xfrm>
            <a:off x="248259" y="188669"/>
            <a:ext cx="6283317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3.1.5. Method 1 – MOI별 해석 규칙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9"/>
          <p:cNvSpPr/>
          <p:nvPr/>
        </p:nvSpPr>
        <p:spPr>
          <a:xfrm>
            <a:off x="706930" y="1057460"/>
            <a:ext cx="10715854" cy="905256"/>
          </a:xfrm>
          <a:prstGeom prst="roundRect">
            <a:avLst>
              <a:gd fmla="val 12759" name="adj"/>
            </a:avLst>
          </a:prstGeom>
          <a:solidFill>
            <a:srgbClr val="F0F7FB"/>
          </a:solidFill>
          <a:ln cap="flat" cmpd="sng" w="12700">
            <a:solidFill>
              <a:srgbClr val="B3E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9"/>
          <p:cNvSpPr txBox="1"/>
          <p:nvPr/>
        </p:nvSpPr>
        <p:spPr>
          <a:xfrm>
            <a:off x="3342229" y="1225710"/>
            <a:ext cx="5557723" cy="372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2600"/>
              <a:buFont typeface="Times New Roman"/>
              <a:buNone/>
            </a:pPr>
            <a:r>
              <a:rPr b="1" lang="en-US" sz="2600">
                <a:solidFill>
                  <a:srgbClr val="005A8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PRS = ∑SNP [Wfunc × Wdist × Wgt]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19"/>
          <p:cNvSpPr txBox="1"/>
          <p:nvPr/>
        </p:nvSpPr>
        <p:spPr>
          <a:xfrm>
            <a:off x="2054755" y="1679101"/>
            <a:ext cx="8132674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Noto Sans KR"/>
              <a:buNone/>
            </a:pPr>
            <a:r>
              <a:rPr i="1" lang="en-US" sz="10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여기서 Wfunc × Wdist × Wgt는 각 SNP의 효과크기(β)를 의미하고, Wgt는 MOI를 반영해 보정된 유전자형 점수(Gscore′)로 구현.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19"/>
          <p:cNvSpPr/>
          <p:nvPr/>
        </p:nvSpPr>
        <p:spPr>
          <a:xfrm>
            <a:off x="756490" y="4881215"/>
            <a:ext cx="3441078" cy="1399457"/>
          </a:xfrm>
          <a:prstGeom prst="roundRect">
            <a:avLst>
              <a:gd fmla="val 192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9"/>
          <p:cNvSpPr/>
          <p:nvPr/>
        </p:nvSpPr>
        <p:spPr>
          <a:xfrm>
            <a:off x="756490" y="4881215"/>
            <a:ext cx="49078" cy="1399457"/>
          </a:xfrm>
          <a:prstGeom prst="rect">
            <a:avLst/>
          </a:prstGeom>
          <a:solidFill>
            <a:srgbClr val="005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9" name="Google Shape;9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2" y="4994757"/>
            <a:ext cx="177433" cy="126307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19"/>
          <p:cNvSpPr/>
          <p:nvPr/>
        </p:nvSpPr>
        <p:spPr>
          <a:xfrm>
            <a:off x="4393878" y="4881215"/>
            <a:ext cx="3441078" cy="1399457"/>
          </a:xfrm>
          <a:prstGeom prst="roundRect">
            <a:avLst>
              <a:gd fmla="val 192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9"/>
          <p:cNvSpPr/>
          <p:nvPr/>
        </p:nvSpPr>
        <p:spPr>
          <a:xfrm>
            <a:off x="4393878" y="4881215"/>
            <a:ext cx="49078" cy="1399457"/>
          </a:xfrm>
          <a:prstGeom prst="rect">
            <a:avLst/>
          </a:prstGeom>
          <a:solidFill>
            <a:srgbClr val="005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19"/>
          <p:cNvSpPr txBox="1"/>
          <p:nvPr/>
        </p:nvSpPr>
        <p:spPr>
          <a:xfrm>
            <a:off x="1163266" y="4984679"/>
            <a:ext cx="2381196" cy="175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기능적 심각도 가중치 (Wfunc)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19"/>
          <p:cNvSpPr txBox="1"/>
          <p:nvPr/>
        </p:nvSpPr>
        <p:spPr>
          <a:xfrm>
            <a:off x="923542" y="5180995"/>
            <a:ext cx="3213624" cy="1021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질병의 심각도와 유전자의 기능적 중요도를 반영한 가중치.</a:t>
            </a:r>
            <a:b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치명적 질환과 핵심 기능 유전자에 높은 가중치를 부여. Frameshift·Nonsense &gt; Splicing·In-frame deletion &gt; Missense &gt; Regulatory &gt; 기타/NaN 순으로 ACMG 변이 병원성 가이드라인을 참고하여 2.0 ~ 0.1점의 단계적 가중치를 부여.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4" name="Google Shape;974;p19"/>
          <p:cNvPicPr preferRelativeResize="0"/>
          <p:nvPr/>
        </p:nvPicPr>
        <p:blipFill rotWithShape="1">
          <a:blip r:embed="rId4">
            <a:alphaModFix/>
          </a:blip>
          <a:srcRect b="-2222" l="0" r="0" t="-2222"/>
          <a:stretch/>
        </p:blipFill>
        <p:spPr>
          <a:xfrm>
            <a:off x="4560929" y="4994757"/>
            <a:ext cx="127412" cy="126307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19"/>
          <p:cNvSpPr/>
          <p:nvPr/>
        </p:nvSpPr>
        <p:spPr>
          <a:xfrm>
            <a:off x="8031266" y="4881215"/>
            <a:ext cx="3441078" cy="1399457"/>
          </a:xfrm>
          <a:prstGeom prst="roundRect">
            <a:avLst>
              <a:gd fmla="val 1920" name="adj"/>
            </a:avLst>
          </a:prstGeom>
          <a:solidFill>
            <a:srgbClr val="F8F9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19"/>
          <p:cNvSpPr/>
          <p:nvPr/>
        </p:nvSpPr>
        <p:spPr>
          <a:xfrm>
            <a:off x="8031266" y="4881215"/>
            <a:ext cx="49078" cy="1399457"/>
          </a:xfrm>
          <a:prstGeom prst="rect">
            <a:avLst/>
          </a:prstGeom>
          <a:solidFill>
            <a:srgbClr val="005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19"/>
          <p:cNvSpPr txBox="1"/>
          <p:nvPr/>
        </p:nvSpPr>
        <p:spPr>
          <a:xfrm>
            <a:off x="4760083" y="4984679"/>
            <a:ext cx="1634654" cy="175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거리 신뢰도 (Wdist)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19"/>
          <p:cNvSpPr txBox="1"/>
          <p:nvPr/>
        </p:nvSpPr>
        <p:spPr>
          <a:xfrm>
            <a:off x="4560929" y="5198998"/>
            <a:ext cx="3223062" cy="10364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SNP와 유전자 간 물리적 거리에 기반한 신뢰도.</a:t>
            </a:r>
            <a:b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거리가 가까울수록 높은 가중치가 부여되며, 20kb 이내의 변이를 중점적으로 평가. 거리 구간별로는 0~20kb: 1.0, 20~100kb: 0.7, 100~300kb: 0.4, 300kb~1Mb: 0.1, 1Mb 이상: 0.0으로 떨어지도록 설계.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9" name="Google Shape;979;p19"/>
          <p:cNvPicPr preferRelativeResize="0"/>
          <p:nvPr/>
        </p:nvPicPr>
        <p:blipFill rotWithShape="1">
          <a:blip r:embed="rId5">
            <a:alphaModFix/>
          </a:blip>
          <a:srcRect b="-2724" l="0" r="0" t="-2724"/>
          <a:stretch/>
        </p:blipFill>
        <p:spPr>
          <a:xfrm>
            <a:off x="8198318" y="4994757"/>
            <a:ext cx="147232" cy="126307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19"/>
          <p:cNvSpPr txBox="1"/>
          <p:nvPr/>
        </p:nvSpPr>
        <p:spPr>
          <a:xfrm>
            <a:off x="8403424" y="4965196"/>
            <a:ext cx="1811144" cy="175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유전자형 기여도 (Wgt)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19"/>
          <p:cNvSpPr txBox="1"/>
          <p:nvPr/>
        </p:nvSpPr>
        <p:spPr>
          <a:xfrm>
            <a:off x="8198318" y="5198998"/>
            <a:ext cx="3252319" cy="994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개체의 실제 유전자형(0, 1, 2)에 따른 기여도.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위험 대립형질의 수에 비례하여 가중치가 증가하며, 결측치(NaN)는 무기여(0) 처리. 열성 질환은 Carrier(G=1)를 거의 0점(0.01)으로 낮추고 G=2에 점수를 집중하며, 우성·불완전우성은 가산 모델(0, 1, 2)을 적용. X-연관 및 미토콘드리아 유전은 성별에 따라 별도의 변환 규칙을 적용.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19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19"/>
          <p:cNvSpPr txBox="1"/>
          <p:nvPr/>
        </p:nvSpPr>
        <p:spPr>
          <a:xfrm>
            <a:off x="248259" y="236104"/>
            <a:ext cx="4466387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3.1.6. Method 2 – PRS 가중치 모델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19"/>
          <p:cNvSpPr/>
          <p:nvPr/>
        </p:nvSpPr>
        <p:spPr>
          <a:xfrm>
            <a:off x="747205" y="2344885"/>
            <a:ext cx="10690771" cy="13383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19"/>
          <p:cNvSpPr txBox="1"/>
          <p:nvPr/>
        </p:nvSpPr>
        <p:spPr>
          <a:xfrm>
            <a:off x="747205" y="2112911"/>
            <a:ext cx="994215" cy="193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가중치 부여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19"/>
          <p:cNvSpPr txBox="1"/>
          <p:nvPr/>
        </p:nvSpPr>
        <p:spPr>
          <a:xfrm>
            <a:off x="747205" y="2384262"/>
            <a:ext cx="1525926" cy="17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1) 기능영향도 가중치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19"/>
          <p:cNvSpPr txBox="1"/>
          <p:nvPr/>
        </p:nvSpPr>
        <p:spPr>
          <a:xfrm>
            <a:off x="4357777" y="2384262"/>
            <a:ext cx="1912472" cy="17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2) 거리 기반 신뢰도 가중치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19"/>
          <p:cNvSpPr txBox="1"/>
          <p:nvPr/>
        </p:nvSpPr>
        <p:spPr>
          <a:xfrm>
            <a:off x="7968350" y="2384262"/>
            <a:ext cx="1235596" cy="1727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3) 유해성 가중치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19"/>
          <p:cNvSpPr/>
          <p:nvPr/>
        </p:nvSpPr>
        <p:spPr>
          <a:xfrm>
            <a:off x="747205" y="2616872"/>
            <a:ext cx="3473002" cy="1792691"/>
          </a:xfrm>
          <a:prstGeom prst="roundRect">
            <a:avLst>
              <a:gd fmla="val 527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9"/>
          <p:cNvSpPr/>
          <p:nvPr/>
        </p:nvSpPr>
        <p:spPr>
          <a:xfrm>
            <a:off x="4357777" y="2616872"/>
            <a:ext cx="3473002" cy="1905491"/>
          </a:xfrm>
          <a:prstGeom prst="roundRect">
            <a:avLst>
              <a:gd fmla="val 466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9"/>
          <p:cNvSpPr/>
          <p:nvPr/>
        </p:nvSpPr>
        <p:spPr>
          <a:xfrm>
            <a:off x="7968350" y="2616872"/>
            <a:ext cx="3473002" cy="1088488"/>
          </a:xfrm>
          <a:prstGeom prst="roundRect">
            <a:avLst>
              <a:gd fmla="val 1428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19"/>
          <p:cNvSpPr/>
          <p:nvPr/>
        </p:nvSpPr>
        <p:spPr>
          <a:xfrm>
            <a:off x="756489" y="2623245"/>
            <a:ext cx="3455279" cy="2657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9"/>
          <p:cNvSpPr/>
          <p:nvPr/>
        </p:nvSpPr>
        <p:spPr>
          <a:xfrm>
            <a:off x="4366217" y="2623245"/>
            <a:ext cx="3455279" cy="2657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9"/>
          <p:cNvSpPr/>
          <p:nvPr/>
        </p:nvSpPr>
        <p:spPr>
          <a:xfrm>
            <a:off x="7976790" y="2623245"/>
            <a:ext cx="3455279" cy="2657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19"/>
          <p:cNvSpPr txBox="1"/>
          <p:nvPr/>
        </p:nvSpPr>
        <p:spPr>
          <a:xfrm>
            <a:off x="861988" y="2676140"/>
            <a:ext cx="1582474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Variant Effect (영향도)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19"/>
          <p:cNvSpPr txBox="1"/>
          <p:nvPr/>
        </p:nvSpPr>
        <p:spPr>
          <a:xfrm>
            <a:off x="4471715" y="2676140"/>
            <a:ext cx="1416208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SNP–Gene 거리(bp)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19"/>
          <p:cNvSpPr txBox="1"/>
          <p:nvPr/>
        </p:nvSpPr>
        <p:spPr>
          <a:xfrm>
            <a:off x="8082288" y="2676140"/>
            <a:ext cx="1205212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Deleterious 구분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19"/>
          <p:cNvSpPr txBox="1"/>
          <p:nvPr/>
        </p:nvSpPr>
        <p:spPr>
          <a:xfrm>
            <a:off x="2695124" y="2676140"/>
            <a:ext cx="1249099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weight_function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19"/>
          <p:cNvSpPr txBox="1"/>
          <p:nvPr/>
        </p:nvSpPr>
        <p:spPr>
          <a:xfrm>
            <a:off x="6311604" y="2676140"/>
            <a:ext cx="1249099" cy="15932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weight_distance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19"/>
          <p:cNvSpPr txBox="1"/>
          <p:nvPr/>
        </p:nvSpPr>
        <p:spPr>
          <a:xfrm>
            <a:off x="9715399" y="2676140"/>
            <a:ext cx="1450812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weight_deleterious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19"/>
          <p:cNvSpPr/>
          <p:nvPr/>
        </p:nvSpPr>
        <p:spPr>
          <a:xfrm>
            <a:off x="756490" y="2888994"/>
            <a:ext cx="3454434" cy="15135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19"/>
          <p:cNvSpPr/>
          <p:nvPr/>
        </p:nvSpPr>
        <p:spPr>
          <a:xfrm>
            <a:off x="4366217" y="2888994"/>
            <a:ext cx="3455279" cy="16263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9"/>
          <p:cNvSpPr/>
          <p:nvPr/>
        </p:nvSpPr>
        <p:spPr>
          <a:xfrm>
            <a:off x="7976790" y="2888994"/>
            <a:ext cx="3455279" cy="8099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19"/>
          <p:cNvSpPr/>
          <p:nvPr/>
        </p:nvSpPr>
        <p:spPr>
          <a:xfrm>
            <a:off x="756489" y="3314065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19"/>
          <p:cNvSpPr/>
          <p:nvPr/>
        </p:nvSpPr>
        <p:spPr>
          <a:xfrm>
            <a:off x="756489" y="3855122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19"/>
          <p:cNvSpPr/>
          <p:nvPr/>
        </p:nvSpPr>
        <p:spPr>
          <a:xfrm>
            <a:off x="4366217" y="3154743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19"/>
          <p:cNvSpPr/>
          <p:nvPr/>
        </p:nvSpPr>
        <p:spPr>
          <a:xfrm>
            <a:off x="4366217" y="3695801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9"/>
          <p:cNvSpPr/>
          <p:nvPr/>
        </p:nvSpPr>
        <p:spPr>
          <a:xfrm>
            <a:off x="4366217" y="4240045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19"/>
          <p:cNvSpPr/>
          <p:nvPr/>
        </p:nvSpPr>
        <p:spPr>
          <a:xfrm>
            <a:off x="7976790" y="3154743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19"/>
          <p:cNvSpPr txBox="1"/>
          <p:nvPr/>
        </p:nvSpPr>
        <p:spPr>
          <a:xfrm>
            <a:off x="861988" y="2941889"/>
            <a:ext cx="1697255" cy="318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Frameshift / Stop_gain / Stop_lost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19"/>
          <p:cNvSpPr txBox="1"/>
          <p:nvPr/>
        </p:nvSpPr>
        <p:spPr>
          <a:xfrm>
            <a:off x="861988" y="3645455"/>
            <a:ext cx="1371477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Splice region / UTR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19"/>
          <p:cNvSpPr txBox="1"/>
          <p:nvPr/>
        </p:nvSpPr>
        <p:spPr>
          <a:xfrm>
            <a:off x="861988" y="4189699"/>
            <a:ext cx="1134318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Unknown / 기타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19"/>
          <p:cNvSpPr txBox="1"/>
          <p:nvPr/>
        </p:nvSpPr>
        <p:spPr>
          <a:xfrm>
            <a:off x="4471715" y="2941889"/>
            <a:ext cx="632989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0–50 bp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19"/>
          <p:cNvSpPr txBox="1"/>
          <p:nvPr/>
        </p:nvSpPr>
        <p:spPr>
          <a:xfrm>
            <a:off x="4471715" y="3486133"/>
            <a:ext cx="1416208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100,000–200,000 bp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19"/>
          <p:cNvSpPr txBox="1"/>
          <p:nvPr/>
        </p:nvSpPr>
        <p:spPr>
          <a:xfrm>
            <a:off x="4471715" y="4030377"/>
            <a:ext cx="1530146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400,000–1,000,000 bp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19"/>
          <p:cNvSpPr txBox="1"/>
          <p:nvPr/>
        </p:nvSpPr>
        <p:spPr>
          <a:xfrm>
            <a:off x="4471715" y="4303136"/>
            <a:ext cx="1064266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&gt; 1,000,000 bp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19"/>
          <p:cNvSpPr txBox="1"/>
          <p:nvPr/>
        </p:nvSpPr>
        <p:spPr>
          <a:xfrm>
            <a:off x="8082288" y="2941889"/>
            <a:ext cx="765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High / Yes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19"/>
          <p:cNvSpPr txBox="1"/>
          <p:nvPr/>
        </p:nvSpPr>
        <p:spPr>
          <a:xfrm>
            <a:off x="8082288" y="3486133"/>
            <a:ext cx="70388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Low / No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19"/>
          <p:cNvSpPr txBox="1"/>
          <p:nvPr/>
        </p:nvSpPr>
        <p:spPr>
          <a:xfrm>
            <a:off x="3277897" y="3038819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1.0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19"/>
          <p:cNvSpPr txBox="1"/>
          <p:nvPr/>
        </p:nvSpPr>
        <p:spPr>
          <a:xfrm>
            <a:off x="3277897" y="3662724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0.4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19"/>
          <p:cNvSpPr txBox="1"/>
          <p:nvPr/>
        </p:nvSpPr>
        <p:spPr>
          <a:xfrm>
            <a:off x="3277897" y="4206968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0.2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19"/>
          <p:cNvSpPr txBox="1"/>
          <p:nvPr/>
        </p:nvSpPr>
        <p:spPr>
          <a:xfrm>
            <a:off x="6888469" y="2959158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1.0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19"/>
          <p:cNvSpPr txBox="1"/>
          <p:nvPr/>
        </p:nvSpPr>
        <p:spPr>
          <a:xfrm>
            <a:off x="6888469" y="3503402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0.5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19"/>
          <p:cNvSpPr txBox="1"/>
          <p:nvPr/>
        </p:nvSpPr>
        <p:spPr>
          <a:xfrm>
            <a:off x="6888469" y="4047646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0.1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19"/>
          <p:cNvSpPr txBox="1"/>
          <p:nvPr/>
        </p:nvSpPr>
        <p:spPr>
          <a:xfrm>
            <a:off x="6429341" y="4320405"/>
            <a:ext cx="77393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제외(drop)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19"/>
          <p:cNvSpPr txBox="1"/>
          <p:nvPr/>
        </p:nvSpPr>
        <p:spPr>
          <a:xfrm>
            <a:off x="10499041" y="2959158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1.0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19"/>
          <p:cNvSpPr txBox="1"/>
          <p:nvPr/>
        </p:nvSpPr>
        <p:spPr>
          <a:xfrm>
            <a:off x="10499041" y="3503402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0.3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19"/>
          <p:cNvSpPr/>
          <p:nvPr/>
        </p:nvSpPr>
        <p:spPr>
          <a:xfrm>
            <a:off x="756489" y="3317251"/>
            <a:ext cx="3455279" cy="27212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19"/>
          <p:cNvSpPr/>
          <p:nvPr/>
        </p:nvSpPr>
        <p:spPr>
          <a:xfrm>
            <a:off x="756489" y="3583000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19"/>
          <p:cNvSpPr/>
          <p:nvPr/>
        </p:nvSpPr>
        <p:spPr>
          <a:xfrm>
            <a:off x="756489" y="3861495"/>
            <a:ext cx="3455279" cy="27212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9"/>
          <p:cNvSpPr/>
          <p:nvPr/>
        </p:nvSpPr>
        <p:spPr>
          <a:xfrm>
            <a:off x="756489" y="4127245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9"/>
          <p:cNvSpPr/>
          <p:nvPr/>
        </p:nvSpPr>
        <p:spPr>
          <a:xfrm>
            <a:off x="4366217" y="3157929"/>
            <a:ext cx="3455279" cy="27212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19"/>
          <p:cNvSpPr/>
          <p:nvPr/>
        </p:nvSpPr>
        <p:spPr>
          <a:xfrm>
            <a:off x="4366217" y="3423678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19"/>
          <p:cNvSpPr/>
          <p:nvPr/>
        </p:nvSpPr>
        <p:spPr>
          <a:xfrm>
            <a:off x="4366217" y="3702173"/>
            <a:ext cx="3455279" cy="27212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19"/>
          <p:cNvSpPr/>
          <p:nvPr/>
        </p:nvSpPr>
        <p:spPr>
          <a:xfrm>
            <a:off x="4366217" y="3967923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9"/>
          <p:cNvSpPr/>
          <p:nvPr/>
        </p:nvSpPr>
        <p:spPr>
          <a:xfrm>
            <a:off x="7976790" y="3157929"/>
            <a:ext cx="3455279" cy="27212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9"/>
          <p:cNvSpPr/>
          <p:nvPr/>
        </p:nvSpPr>
        <p:spPr>
          <a:xfrm>
            <a:off x="7976790" y="3423678"/>
            <a:ext cx="3455279" cy="6373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9"/>
          <p:cNvSpPr txBox="1"/>
          <p:nvPr/>
        </p:nvSpPr>
        <p:spPr>
          <a:xfrm>
            <a:off x="861988" y="3373333"/>
            <a:ext cx="1996027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Missense (Non-synonymous)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19"/>
          <p:cNvSpPr txBox="1"/>
          <p:nvPr/>
        </p:nvSpPr>
        <p:spPr>
          <a:xfrm>
            <a:off x="861988" y="3917577"/>
            <a:ext cx="147697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Synonymous (Silent)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19"/>
          <p:cNvSpPr txBox="1"/>
          <p:nvPr/>
        </p:nvSpPr>
        <p:spPr>
          <a:xfrm>
            <a:off x="4471715" y="3214011"/>
            <a:ext cx="163564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50–100,000 bp (100 kb)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19"/>
          <p:cNvSpPr txBox="1"/>
          <p:nvPr/>
        </p:nvSpPr>
        <p:spPr>
          <a:xfrm>
            <a:off x="4471715" y="3758255"/>
            <a:ext cx="1416208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200,000–400,000 bp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19"/>
          <p:cNvSpPr txBox="1"/>
          <p:nvPr/>
        </p:nvSpPr>
        <p:spPr>
          <a:xfrm>
            <a:off x="8082288" y="3214011"/>
            <a:ext cx="642273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Medium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9"/>
          <p:cNvSpPr txBox="1"/>
          <p:nvPr/>
        </p:nvSpPr>
        <p:spPr>
          <a:xfrm>
            <a:off x="3277897" y="3390602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0.7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19"/>
          <p:cNvSpPr txBox="1"/>
          <p:nvPr/>
        </p:nvSpPr>
        <p:spPr>
          <a:xfrm>
            <a:off x="3277897" y="3934846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0.1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19"/>
          <p:cNvSpPr txBox="1"/>
          <p:nvPr/>
        </p:nvSpPr>
        <p:spPr>
          <a:xfrm>
            <a:off x="6888469" y="3231280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0.7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19"/>
          <p:cNvSpPr txBox="1"/>
          <p:nvPr/>
        </p:nvSpPr>
        <p:spPr>
          <a:xfrm>
            <a:off x="6888469" y="3775524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0.3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9"/>
          <p:cNvSpPr txBox="1"/>
          <p:nvPr/>
        </p:nvSpPr>
        <p:spPr>
          <a:xfrm>
            <a:off x="10499041" y="3231280"/>
            <a:ext cx="316495" cy="159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0.7</a:t>
            </a:r>
            <a:endParaRPr sz="9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19"/>
          <p:cNvSpPr txBox="1"/>
          <p:nvPr/>
        </p:nvSpPr>
        <p:spPr>
          <a:xfrm>
            <a:off x="747205" y="4435691"/>
            <a:ext cx="1947919" cy="133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* '단백질을 박살낼수록 점수를 크게'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19"/>
          <p:cNvSpPr txBox="1"/>
          <p:nvPr/>
        </p:nvSpPr>
        <p:spPr>
          <a:xfrm>
            <a:off x="4357777" y="4548492"/>
            <a:ext cx="2326025" cy="133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* "gene 중심에서 얼마나 가까운 SNP인가"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19"/>
          <p:cNvSpPr txBox="1"/>
          <p:nvPr/>
        </p:nvSpPr>
        <p:spPr>
          <a:xfrm>
            <a:off x="7968350" y="3732126"/>
            <a:ext cx="3415611" cy="1331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* 'deleterious=Yes' 또는 high-impact 변이에 추가 가중치 부여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56" name="Google Shape;1056;p20"/>
          <p:cNvPicPr preferRelativeResize="0"/>
          <p:nvPr/>
        </p:nvPicPr>
        <p:blipFill rotWithShape="1">
          <a:blip r:embed="rId3">
            <a:alphaModFix/>
          </a:blip>
          <a:srcRect b="0" l="-837" r="-837" t="0"/>
          <a:stretch/>
        </p:blipFill>
        <p:spPr>
          <a:xfrm>
            <a:off x="721460" y="1371443"/>
            <a:ext cx="152705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057" name="Google Shape;1057;p20"/>
          <p:cNvSpPr txBox="1"/>
          <p:nvPr/>
        </p:nvSpPr>
        <p:spPr>
          <a:xfrm>
            <a:off x="968349" y="1340315"/>
            <a:ext cx="1587398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Min-Max 정규화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20"/>
          <p:cNvSpPr/>
          <p:nvPr/>
        </p:nvSpPr>
        <p:spPr>
          <a:xfrm>
            <a:off x="705002" y="1722381"/>
            <a:ext cx="5333695" cy="418795"/>
          </a:xfrm>
          <a:prstGeom prst="roundRect">
            <a:avLst>
              <a:gd fmla="val 2481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0"/>
          <p:cNvSpPr txBox="1"/>
          <p:nvPr/>
        </p:nvSpPr>
        <p:spPr>
          <a:xfrm>
            <a:off x="800100" y="1845825"/>
            <a:ext cx="4506163" cy="171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77B6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0077B6"/>
                </a:solidFill>
                <a:latin typeface="Courier New"/>
                <a:ea typeface="Courier New"/>
                <a:cs typeface="Courier New"/>
                <a:sym typeface="Courier New"/>
              </a:rPr>
              <a:t>PRS_norm = (PRS - PRS_min) / (PRS_max - PRS_min)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20"/>
          <p:cNvSpPr txBox="1"/>
          <p:nvPr/>
        </p:nvSpPr>
        <p:spPr>
          <a:xfrm>
            <a:off x="705002" y="2253648"/>
            <a:ext cx="5277917" cy="5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질병별로 개체 간 0~1 스케일로 정규화하여 코호트 내 상대 순위를 제공합니다. 모든 질병의 점수 범위를 동일하게 조정하여 비교 가능한 상대적 위험도로 변환.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1" name="Google Shape;106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033" y="2916930"/>
            <a:ext cx="200254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20"/>
          <p:cNvSpPr txBox="1"/>
          <p:nvPr/>
        </p:nvSpPr>
        <p:spPr>
          <a:xfrm>
            <a:off x="968349" y="2878182"/>
            <a:ext cx="940003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해석 방법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0"/>
          <p:cNvSpPr txBox="1"/>
          <p:nvPr/>
        </p:nvSpPr>
        <p:spPr>
          <a:xfrm>
            <a:off x="726033" y="3211101"/>
            <a:ext cx="5431536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1에 가까울수록 해당 질병에 대한 상대적 위험이 높음.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즉, 0.8 이상은 상위 20% 위험군, 0.5는 평균적 위험,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0.2 이하는 하위 20% 저위험군으로 해석 가능.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20"/>
          <p:cNvSpPr/>
          <p:nvPr/>
        </p:nvSpPr>
        <p:spPr>
          <a:xfrm>
            <a:off x="705002" y="4057342"/>
            <a:ext cx="5333695" cy="967091"/>
          </a:xfrm>
          <a:prstGeom prst="rect">
            <a:avLst/>
          </a:prstGeom>
          <a:solidFill>
            <a:srgbClr val="FFF4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20"/>
          <p:cNvSpPr/>
          <p:nvPr/>
        </p:nvSpPr>
        <p:spPr>
          <a:xfrm>
            <a:off x="705002" y="4066868"/>
            <a:ext cx="45719" cy="957566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66" name="Google Shape;106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707" y="4211876"/>
            <a:ext cx="171907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20"/>
          <p:cNvSpPr txBox="1"/>
          <p:nvPr/>
        </p:nvSpPr>
        <p:spPr>
          <a:xfrm>
            <a:off x="1068780" y="4183986"/>
            <a:ext cx="792785" cy="2578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700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D95700"/>
                </a:solidFill>
                <a:latin typeface="Noto Sans KR"/>
                <a:ea typeface="Noto Sans KR"/>
                <a:cs typeface="Noto Sans KR"/>
                <a:sym typeface="Noto Sans KR"/>
              </a:rPr>
              <a:t>편향 주의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20"/>
          <p:cNvSpPr txBox="1"/>
          <p:nvPr/>
        </p:nvSpPr>
        <p:spPr>
          <a:xfrm>
            <a:off x="857707" y="4305061"/>
            <a:ext cx="5116982" cy="743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샘플 수가 매우 적은 질병은 변동성이 높아 정규화 결과가 불안정할 수 있음.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최소 샘플 수 기준을 설정하여 통계적 유의성을 확보하는 것이 권장.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9" name="Google Shape;1069;p20"/>
          <p:cNvPicPr preferRelativeResize="0"/>
          <p:nvPr/>
        </p:nvPicPr>
        <p:blipFill rotWithShape="1">
          <a:blip r:embed="rId6">
            <a:alphaModFix/>
          </a:blip>
          <a:srcRect b="-506" l="0" r="0" t="-507"/>
          <a:stretch/>
        </p:blipFill>
        <p:spPr>
          <a:xfrm>
            <a:off x="671625" y="5243053"/>
            <a:ext cx="247802" cy="200254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20"/>
          <p:cNvSpPr txBox="1"/>
          <p:nvPr/>
        </p:nvSpPr>
        <p:spPr>
          <a:xfrm>
            <a:off x="1003096" y="5160834"/>
            <a:ext cx="758952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구현 팁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0"/>
          <p:cNvSpPr txBox="1"/>
          <p:nvPr/>
        </p:nvSpPr>
        <p:spPr>
          <a:xfrm>
            <a:off x="678332" y="5443307"/>
            <a:ext cx="5364785" cy="5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컬럼 반복 삽입으로 인한 DataFrame 파편화 문제는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일괄 concat으로 성능을 개선할 수 있음.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특히 많은 샘플에 대해 정규화할 때 속도가 크게 향상.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2" name="Google Shape;1072;p20"/>
          <p:cNvPicPr preferRelativeResize="0"/>
          <p:nvPr/>
        </p:nvPicPr>
        <p:blipFill rotWithShape="1">
          <a:blip r:embed="rId7">
            <a:alphaModFix/>
          </a:blip>
          <a:srcRect b="-4" l="0" r="0" t="-4"/>
          <a:stretch/>
        </p:blipFill>
        <p:spPr>
          <a:xfrm>
            <a:off x="6209083" y="1056473"/>
            <a:ext cx="5619902" cy="4286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3" name="Google Shape;1073;p20"/>
          <p:cNvPicPr preferRelativeResize="0"/>
          <p:nvPr/>
        </p:nvPicPr>
        <p:blipFill rotWithShape="1">
          <a:blip r:embed="rId8">
            <a:alphaModFix/>
          </a:blip>
          <a:srcRect b="0" l="-19" r="-19" t="0"/>
          <a:stretch/>
        </p:blipFill>
        <p:spPr>
          <a:xfrm>
            <a:off x="6533388" y="5603443"/>
            <a:ext cx="5238598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4" name="Google Shape;1074;p20"/>
          <p:cNvPicPr preferRelativeResize="0"/>
          <p:nvPr/>
        </p:nvPicPr>
        <p:blipFill rotWithShape="1">
          <a:blip r:embed="rId8">
            <a:alphaModFix/>
          </a:blip>
          <a:srcRect b="0" l="-19" r="-19" t="0"/>
          <a:stretch/>
        </p:blipFill>
        <p:spPr>
          <a:xfrm>
            <a:off x="6432804" y="5672938"/>
            <a:ext cx="5238598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5" name="Google Shape;1075;p20"/>
          <p:cNvPicPr preferRelativeResize="0"/>
          <p:nvPr/>
        </p:nvPicPr>
        <p:blipFill rotWithShape="1">
          <a:blip r:embed="rId8">
            <a:alphaModFix/>
          </a:blip>
          <a:srcRect b="0" l="-19" r="-19" t="0"/>
          <a:stretch/>
        </p:blipFill>
        <p:spPr>
          <a:xfrm>
            <a:off x="6381598" y="7822692"/>
            <a:ext cx="5238598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6" name="Google Shape;1076;p20"/>
          <p:cNvPicPr preferRelativeResize="0"/>
          <p:nvPr/>
        </p:nvPicPr>
        <p:blipFill rotWithShape="1">
          <a:blip r:embed="rId8">
            <a:alphaModFix/>
          </a:blip>
          <a:srcRect b="0" l="-19" r="-19" t="0"/>
          <a:stretch/>
        </p:blipFill>
        <p:spPr>
          <a:xfrm>
            <a:off x="6381598" y="8584387"/>
            <a:ext cx="5238598" cy="761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77" name="Google Shape;1077;p20"/>
          <p:cNvPicPr preferRelativeResize="0"/>
          <p:nvPr/>
        </p:nvPicPr>
        <p:blipFill rotWithShape="1">
          <a:blip r:embed="rId9">
            <a:alphaModFix/>
          </a:blip>
          <a:srcRect b="0" l="-19" r="-19" t="0"/>
          <a:stretch/>
        </p:blipFill>
        <p:spPr>
          <a:xfrm>
            <a:off x="6399735" y="5533948"/>
            <a:ext cx="5238598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20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20"/>
          <p:cNvSpPr txBox="1"/>
          <p:nvPr/>
        </p:nvSpPr>
        <p:spPr>
          <a:xfrm>
            <a:off x="248259" y="283000"/>
            <a:ext cx="5333695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3.1.6. Method 2 – 정규화와 상대적 위험도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21"/>
          <p:cNvSpPr txBox="1"/>
          <p:nvPr/>
        </p:nvSpPr>
        <p:spPr>
          <a:xfrm>
            <a:off x="694944" y="2395271"/>
            <a:ext cx="4620463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기능적 가중치(W_func)는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데이터의 variant-effect-name 분포를 기반으로 설계.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21"/>
          <p:cNvSpPr txBox="1"/>
          <p:nvPr/>
        </p:nvSpPr>
        <p:spPr>
          <a:xfrm>
            <a:off x="694944" y="3223260"/>
            <a:ext cx="3705913" cy="4764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Frameshift, Nonsense, Splicing과 같은 고위험 변이가 충분히 관찰되어, ACMG 병원성 기준에 따라 2.0~0.1의 </a:t>
            </a:r>
            <a:b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단계 가중치를 부여.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21"/>
          <p:cNvSpPr/>
          <p:nvPr/>
        </p:nvSpPr>
        <p:spPr>
          <a:xfrm>
            <a:off x="694944" y="3986328"/>
            <a:ext cx="28346" cy="418795"/>
          </a:xfrm>
          <a:prstGeom prst="rect">
            <a:avLst/>
          </a:prstGeom>
          <a:solidFill>
            <a:srgbClr val="005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21"/>
          <p:cNvSpPr txBox="1"/>
          <p:nvPr/>
        </p:nvSpPr>
        <p:spPr>
          <a:xfrm>
            <a:off x="818388" y="3986328"/>
            <a:ext cx="4325419" cy="409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Noto Sans KR"/>
              <a:buNone/>
            </a:pPr>
            <a:r>
              <a:rPr i="1" lang="en-US" sz="10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※ 결측치(NaN) 비율도 실제로 확인하여, 정보가 부족한 변이는 가장 낮은 가중치로 설정.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9" name="Google Shape;1089;p21"/>
          <p:cNvPicPr preferRelativeResize="0"/>
          <p:nvPr/>
        </p:nvPicPr>
        <p:blipFill rotWithShape="1">
          <a:blip r:embed="rId3">
            <a:alphaModFix/>
          </a:blip>
          <a:srcRect b="0" l="63" r="63" t="0"/>
          <a:stretch/>
        </p:blipFill>
        <p:spPr>
          <a:xfrm>
            <a:off x="5619902" y="1143000"/>
            <a:ext cx="6001207" cy="29809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090" name="Google Shape;1090;p21"/>
          <p:cNvPicPr preferRelativeResize="0"/>
          <p:nvPr/>
        </p:nvPicPr>
        <p:blipFill rotWithShape="1">
          <a:blip r:embed="rId4">
            <a:alphaModFix/>
          </a:blip>
          <a:srcRect b="0" l="291" r="291" t="0"/>
          <a:stretch/>
        </p:blipFill>
        <p:spPr>
          <a:xfrm>
            <a:off x="5619902" y="4310482"/>
            <a:ext cx="6001207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21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1"/>
          <p:cNvSpPr txBox="1"/>
          <p:nvPr/>
        </p:nvSpPr>
        <p:spPr>
          <a:xfrm>
            <a:off x="248259" y="236104"/>
            <a:ext cx="7867041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3.1.6. Method 2 – 기능적 가중치(Variant Effect) 설계 근거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2"/>
          <p:cNvSpPr/>
          <p:nvPr/>
        </p:nvSpPr>
        <p:spPr>
          <a:xfrm>
            <a:off x="1657550" y="1194774"/>
            <a:ext cx="4286707" cy="1809598"/>
          </a:xfrm>
          <a:prstGeom prst="rect">
            <a:avLst/>
          </a:prstGeom>
          <a:solidFill>
            <a:srgbClr val="F3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2"/>
          <p:cNvSpPr/>
          <p:nvPr/>
        </p:nvSpPr>
        <p:spPr>
          <a:xfrm>
            <a:off x="1657550" y="1194774"/>
            <a:ext cx="38405" cy="1809598"/>
          </a:xfrm>
          <a:prstGeom prst="rect">
            <a:avLst/>
          </a:prstGeom>
          <a:solidFill>
            <a:srgbClr val="005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22"/>
          <p:cNvSpPr/>
          <p:nvPr/>
        </p:nvSpPr>
        <p:spPr>
          <a:xfrm>
            <a:off x="1657550" y="3143361"/>
            <a:ext cx="4286707" cy="1505102"/>
          </a:xfrm>
          <a:prstGeom prst="rect">
            <a:avLst/>
          </a:prstGeom>
          <a:solidFill>
            <a:srgbClr val="F3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2"/>
          <p:cNvSpPr/>
          <p:nvPr/>
        </p:nvSpPr>
        <p:spPr>
          <a:xfrm>
            <a:off x="1657550" y="3143361"/>
            <a:ext cx="38405" cy="1505102"/>
          </a:xfrm>
          <a:prstGeom prst="rect">
            <a:avLst/>
          </a:prstGeom>
          <a:solidFill>
            <a:srgbClr val="005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2"/>
          <p:cNvSpPr txBox="1"/>
          <p:nvPr/>
        </p:nvSpPr>
        <p:spPr>
          <a:xfrm>
            <a:off x="1838601" y="1337421"/>
            <a:ext cx="4052621" cy="1515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MOI 가중치(W_MOI)와 유전자형 보정점수(Gscore′)는 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OMIA moi_code 분포를 기반으로 설계. 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상염색체 우성·불완전 우성은 가산 모델(0,1,2)에 적합하여 그대로 적용하고, 열성 유전(AR 계열)은 G=1 보인자 위험도를 0.01로 낮추어 표현형 중심 PRS 목적에 맞게 보정.</a:t>
            </a:r>
            <a:b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X-linked와 Mitochondrial 유전은 성별·모계 유전 특성을 반영해 별도의 변환 규칙을 적용.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3" name="Google Shape;1103;p22"/>
          <p:cNvPicPr preferRelativeResize="0"/>
          <p:nvPr/>
        </p:nvPicPr>
        <p:blipFill rotWithShape="1">
          <a:blip r:embed="rId3">
            <a:alphaModFix/>
          </a:blip>
          <a:srcRect b="-2724" l="0" r="0" t="-2724"/>
          <a:stretch/>
        </p:blipFill>
        <p:spPr>
          <a:xfrm>
            <a:off x="1838601" y="3326241"/>
            <a:ext cx="142646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22"/>
          <p:cNvSpPr/>
          <p:nvPr/>
        </p:nvSpPr>
        <p:spPr>
          <a:xfrm>
            <a:off x="1657550" y="4787452"/>
            <a:ext cx="4286707" cy="1505102"/>
          </a:xfrm>
          <a:prstGeom prst="rect">
            <a:avLst/>
          </a:prstGeom>
          <a:solidFill>
            <a:srgbClr val="F3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2"/>
          <p:cNvSpPr/>
          <p:nvPr/>
        </p:nvSpPr>
        <p:spPr>
          <a:xfrm>
            <a:off x="1657550" y="4787452"/>
            <a:ext cx="38405" cy="1505102"/>
          </a:xfrm>
          <a:prstGeom prst="rect">
            <a:avLst/>
          </a:prstGeom>
          <a:solidFill>
            <a:srgbClr val="005A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2"/>
          <p:cNvSpPr txBox="1"/>
          <p:nvPr/>
        </p:nvSpPr>
        <p:spPr>
          <a:xfrm>
            <a:off x="1838601" y="3632565"/>
            <a:ext cx="33000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상염색체 우성(AD): 한 개 변이만으로도 표현형 발현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22"/>
          <p:cNvSpPr txBox="1"/>
          <p:nvPr/>
        </p:nvSpPr>
        <p:spPr>
          <a:xfrm>
            <a:off x="1838601" y="3850192"/>
            <a:ext cx="3375965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상염색체 열성(AR): 두 개 변이 필요, 보인자는 무증상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2"/>
          <p:cNvSpPr txBox="1"/>
          <p:nvPr/>
        </p:nvSpPr>
        <p:spPr>
          <a:xfrm>
            <a:off x="1838601" y="4066905"/>
            <a:ext cx="2966314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X-연관 유전(XLR): 성별에 따라 다른 발현 양상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22"/>
          <p:cNvSpPr txBox="1"/>
          <p:nvPr/>
        </p:nvSpPr>
        <p:spPr>
          <a:xfrm>
            <a:off x="1838601" y="4284532"/>
            <a:ext cx="30906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미토콘드리아(MIT): 모계 유전, 다양한 발현 정도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2"/>
          <p:cNvSpPr txBox="1"/>
          <p:nvPr/>
        </p:nvSpPr>
        <p:spPr>
          <a:xfrm>
            <a:off x="1838601" y="5276656"/>
            <a:ext cx="23088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AR 열성: G=1 → 0.01, G=2 → 1.0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22"/>
          <p:cNvSpPr txBox="1"/>
          <p:nvPr/>
        </p:nvSpPr>
        <p:spPr>
          <a:xfrm>
            <a:off x="1838601" y="5710996"/>
            <a:ext cx="21570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X-linked: 성별에 따른 별도 계산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2"/>
          <p:cNvSpPr txBox="1"/>
          <p:nvPr/>
        </p:nvSpPr>
        <p:spPr>
          <a:xfrm>
            <a:off x="1838601" y="5928623"/>
            <a:ext cx="215707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MIT: 존재 시 모든 자손에게 영향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22"/>
          <p:cNvSpPr txBox="1"/>
          <p:nvPr/>
        </p:nvSpPr>
        <p:spPr>
          <a:xfrm>
            <a:off x="2021177" y="3286007"/>
            <a:ext cx="1325880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MOI 유형별 특성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4" name="Google Shape;1114;p22"/>
          <p:cNvPicPr preferRelativeResize="0"/>
          <p:nvPr/>
        </p:nvPicPr>
        <p:blipFill rotWithShape="1">
          <a:blip r:embed="rId4">
            <a:alphaModFix/>
          </a:blip>
          <a:srcRect b="-2222" l="0" r="0" t="-2222"/>
          <a:stretch/>
        </p:blipFill>
        <p:spPr>
          <a:xfrm>
            <a:off x="1838601" y="4970332"/>
            <a:ext cx="123444" cy="17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22"/>
          <p:cNvSpPr txBox="1"/>
          <p:nvPr/>
        </p:nvSpPr>
        <p:spPr>
          <a:xfrm>
            <a:off x="1838601" y="5494283"/>
            <a:ext cx="2880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- AD 우성: G=0 → 0, G=1 → 1.0, G=2 → 1.0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2"/>
          <p:cNvSpPr txBox="1"/>
          <p:nvPr/>
        </p:nvSpPr>
        <p:spPr>
          <a:xfrm>
            <a:off x="2021177" y="4943545"/>
            <a:ext cx="1459382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유전자형 점수 보정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7" name="Google Shape;1117;p22"/>
          <p:cNvPicPr preferRelativeResize="0"/>
          <p:nvPr/>
        </p:nvPicPr>
        <p:blipFill rotWithShape="1">
          <a:blip r:embed="rId5">
            <a:alphaModFix/>
          </a:blip>
          <a:srcRect b="0" l="111" r="110" t="0"/>
          <a:stretch/>
        </p:blipFill>
        <p:spPr>
          <a:xfrm>
            <a:off x="6604723" y="1197553"/>
            <a:ext cx="3759744" cy="1869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8" name="Google Shape;1118;p22"/>
          <p:cNvPicPr preferRelativeResize="0"/>
          <p:nvPr/>
        </p:nvPicPr>
        <p:blipFill rotWithShape="1">
          <a:blip r:embed="rId6">
            <a:alphaModFix/>
          </a:blip>
          <a:srcRect b="0" l="130" r="129" t="0"/>
          <a:stretch/>
        </p:blipFill>
        <p:spPr>
          <a:xfrm>
            <a:off x="6669685" y="3373942"/>
            <a:ext cx="3881949" cy="11754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19" name="Google Shape;1119;p22"/>
          <p:cNvPicPr preferRelativeResize="0"/>
          <p:nvPr/>
        </p:nvPicPr>
        <p:blipFill rotWithShape="1">
          <a:blip r:embed="rId7">
            <a:alphaModFix/>
          </a:blip>
          <a:srcRect b="0" l="118" r="118" t="0"/>
          <a:stretch/>
        </p:blipFill>
        <p:spPr>
          <a:xfrm>
            <a:off x="6687469" y="4891972"/>
            <a:ext cx="3846380" cy="1175454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22"/>
          <p:cNvSpPr txBox="1"/>
          <p:nvPr/>
        </p:nvSpPr>
        <p:spPr>
          <a:xfrm>
            <a:off x="6534046" y="3115396"/>
            <a:ext cx="390494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Noto Sans KR"/>
              <a:buNone/>
            </a:pPr>
            <a:r>
              <a:rPr lang="en-US" sz="7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그림 1: moi_code 분포 차트 - XLR(X-linked recessive)과 AR(Autosomal Recessive) 비중이 가장 높음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2"/>
          <p:cNvSpPr txBox="1"/>
          <p:nvPr/>
        </p:nvSpPr>
        <p:spPr>
          <a:xfrm>
            <a:off x="6669685" y="4583761"/>
            <a:ext cx="36219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Noto Sans KR"/>
              <a:buNone/>
            </a:pPr>
            <a:r>
              <a:rPr lang="en-US" sz="7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그림 2: moi_code 분포 테이블 - XLR(67.01%), R(24.59%) 순서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2"/>
          <p:cNvSpPr txBox="1"/>
          <p:nvPr/>
        </p:nvSpPr>
        <p:spPr>
          <a:xfrm>
            <a:off x="7138018" y="6134862"/>
            <a:ext cx="29452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00"/>
              <a:buFont typeface="Noto Sans KR"/>
              <a:buNone/>
            </a:pPr>
            <a:r>
              <a:rPr lang="en-US" sz="7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그림 3: 각 MOI 코드별 대응되는 유전 양식 (1:1 매핑)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22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22"/>
          <p:cNvSpPr txBox="1"/>
          <p:nvPr/>
        </p:nvSpPr>
        <p:spPr>
          <a:xfrm>
            <a:off x="248259" y="236104"/>
            <a:ext cx="6895186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3.1.6. Method 2 – MOI 및 유전자형 가중치 설계 근거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23"/>
          <p:cNvSpPr txBox="1"/>
          <p:nvPr/>
        </p:nvSpPr>
        <p:spPr>
          <a:xfrm>
            <a:off x="590244" y="2473451"/>
            <a:ext cx="4669841" cy="781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deleterious 컬럼은 대부분이 결측치(NaN)이며, </a:t>
            </a:r>
            <a:br>
              <a:rPr lang="en-US" sz="13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특정 알고리즘에만 예측값이 존재하는 편향이 발견되어 </a:t>
            </a:r>
            <a:br>
              <a:rPr lang="en-US" sz="13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PRS 모델에서 제외하는 것이 통계적으로 타당하다고 판단.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23"/>
          <p:cNvSpPr txBox="1"/>
          <p:nvPr/>
        </p:nvSpPr>
        <p:spPr>
          <a:xfrm>
            <a:off x="590244" y="3255263"/>
            <a:ext cx="4707331" cy="514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Noto Sans KR"/>
              <a:buNone/>
            </a:pPr>
            <a:r>
              <a:rPr lang="en-US" sz="13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대신 기능적 가중치(W_func)가 변이의 실제 손상도 차이를 </a:t>
            </a:r>
            <a:br>
              <a:rPr lang="en-US" sz="13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3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안정적으로 반영하도록 설계.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2" name="Google Shape;1132;p23"/>
          <p:cNvPicPr preferRelativeResize="0"/>
          <p:nvPr/>
        </p:nvPicPr>
        <p:blipFill rotWithShape="1">
          <a:blip r:embed="rId3">
            <a:alphaModFix/>
          </a:blip>
          <a:srcRect b="0" l="25" r="24" t="0"/>
          <a:stretch/>
        </p:blipFill>
        <p:spPr>
          <a:xfrm>
            <a:off x="5486249" y="1246327"/>
            <a:ext cx="6115507" cy="30294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33" name="Google Shape;1133;p23"/>
          <p:cNvPicPr preferRelativeResize="0"/>
          <p:nvPr/>
        </p:nvPicPr>
        <p:blipFill rotWithShape="1">
          <a:blip r:embed="rId4">
            <a:alphaModFix/>
          </a:blip>
          <a:srcRect b="0" l="268" r="267" t="0"/>
          <a:stretch/>
        </p:blipFill>
        <p:spPr>
          <a:xfrm>
            <a:off x="5486249" y="4654296"/>
            <a:ext cx="6115507" cy="7616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23"/>
          <p:cNvSpPr txBox="1"/>
          <p:nvPr/>
        </p:nvSpPr>
        <p:spPr>
          <a:xfrm>
            <a:off x="6320637" y="4342485"/>
            <a:ext cx="4446727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Noto Sans KR"/>
              <a:buNone/>
            </a:pPr>
            <a:r>
              <a:rPr i="1" lang="en-US" sz="10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deleterious 컬럼 분포 - 'yes' 5,764건(99.24%), 'unknown' 44건(0.76%)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23"/>
          <p:cNvSpPr txBox="1"/>
          <p:nvPr/>
        </p:nvSpPr>
        <p:spPr>
          <a:xfrm>
            <a:off x="7249211" y="5511546"/>
            <a:ext cx="2589581" cy="200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Noto Sans KR"/>
              <a:buNone/>
            </a:pPr>
            <a:r>
              <a:rPr i="1" lang="en-US" sz="10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대다수가 NaN이며 특정 알고리즘 편향 존재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23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23"/>
          <p:cNvSpPr txBox="1"/>
          <p:nvPr/>
        </p:nvSpPr>
        <p:spPr>
          <a:xfrm>
            <a:off x="248259" y="236104"/>
            <a:ext cx="6847866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3.1.6. Method 2 – deleterious 가중치를 제외한 이유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43" name="Google Shape;1143;p24"/>
          <p:cNvPicPr preferRelativeResize="0"/>
          <p:nvPr/>
        </p:nvPicPr>
        <p:blipFill rotWithShape="1">
          <a:blip r:embed="rId3">
            <a:alphaModFix/>
          </a:blip>
          <a:srcRect b="-179" l="0" r="0" t="-180"/>
          <a:stretch/>
        </p:blipFill>
        <p:spPr>
          <a:xfrm>
            <a:off x="450454" y="1159460"/>
            <a:ext cx="19019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24"/>
          <p:cNvSpPr txBox="1"/>
          <p:nvPr/>
        </p:nvSpPr>
        <p:spPr>
          <a:xfrm>
            <a:off x="681800" y="1127782"/>
            <a:ext cx="993038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정의 및 목적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4"/>
          <p:cNvSpPr txBox="1"/>
          <p:nvPr/>
        </p:nvSpPr>
        <p:spPr>
          <a:xfrm>
            <a:off x="681800" y="1344788"/>
            <a:ext cx="5561381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Method 3은 신체 시스템 단위로 위험도를 통합하여 '이 개체가 어떤 시스템에 가장 취약한가?’를 </a:t>
            </a:r>
            <a:b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직관적으로 보여주기 위한 단계.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6" name="Google Shape;11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091" y="2527092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24"/>
          <p:cNvSpPr txBox="1"/>
          <p:nvPr/>
        </p:nvSpPr>
        <p:spPr>
          <a:xfrm>
            <a:off x="654404" y="2484116"/>
            <a:ext cx="1793138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RAW/NORM 이중 지표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4"/>
          <p:cNvSpPr txBox="1"/>
          <p:nvPr/>
        </p:nvSpPr>
        <p:spPr>
          <a:xfrm>
            <a:off x="692353" y="2773411"/>
            <a:ext cx="5580583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RAW: 무상한(unbounded) 총합으로, 시스템 내 절대적인 유전 부담 총량을 나타냄. </a:t>
            </a:r>
            <a:b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NORM: 0~1 사이로 정규화된 지표로, 코호트 내 다른 개체들과의 상대적 비교에 활용.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4"/>
          <p:cNvSpPr txBox="1"/>
          <p:nvPr/>
        </p:nvSpPr>
        <p:spPr>
          <a:xfrm>
            <a:off x="683208" y="3207860"/>
            <a:ext cx="5618074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RAW 점수는 유전적 변이의 절대적 부하량을 의미하며, NORM 점수는 개체가 집단 내에서 어느 정도 위치(0~1)를 차지하는지 나타냄. 두 지표를 함께 사용해 절대 위험과 상대적 취약점을 동시에 파악 가능.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0" name="Google Shape;115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699" y="3894724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24"/>
          <p:cNvSpPr txBox="1"/>
          <p:nvPr/>
        </p:nvSpPr>
        <p:spPr>
          <a:xfrm>
            <a:off x="691438" y="3851748"/>
            <a:ext cx="792785" cy="238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해석 방법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24"/>
          <p:cNvSpPr txBox="1"/>
          <p:nvPr/>
        </p:nvSpPr>
        <p:spPr>
          <a:xfrm>
            <a:off x="711555" y="4109609"/>
            <a:ext cx="5589727" cy="40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개체 내에서 가장 높은 점수를 받은 시스템이 유전적으로 가장 취약한 부위로 판단. </a:t>
            </a:r>
            <a:b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이 정보는 예방 검진 우선순위, 생활 및 운동 가이드라인, 번식 위험 회피 전략 수립에 활용 가능.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4"/>
          <p:cNvSpPr txBox="1"/>
          <p:nvPr/>
        </p:nvSpPr>
        <p:spPr>
          <a:xfrm>
            <a:off x="711555" y="4503527"/>
            <a:ext cx="5637276" cy="590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질병마다 관여하는 변이 수가 달라 단순 합산 시 특정 시스템 점수가 과도하게 커질 수 있음. </a:t>
            </a:r>
            <a:b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이를 방지하기 위해 Min-Max Scaling을 적용하여 시스템 간 점수 범위를 통일함. </a:t>
            </a:r>
            <a:b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이로 인해 개체별 취약 부위를 명확하게 비교 가능.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24"/>
          <p:cNvSpPr/>
          <p:nvPr/>
        </p:nvSpPr>
        <p:spPr>
          <a:xfrm>
            <a:off x="688695" y="5125319"/>
            <a:ext cx="5553151" cy="761695"/>
          </a:xfrm>
          <a:prstGeom prst="rect">
            <a:avLst/>
          </a:prstGeom>
          <a:solidFill>
            <a:srgbClr val="E6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24"/>
          <p:cNvSpPr/>
          <p:nvPr/>
        </p:nvSpPr>
        <p:spPr>
          <a:xfrm>
            <a:off x="688695" y="5125319"/>
            <a:ext cx="38405" cy="761695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4"/>
          <p:cNvSpPr txBox="1"/>
          <p:nvPr/>
        </p:nvSpPr>
        <p:spPr>
          <a:xfrm>
            <a:off x="802995" y="5201214"/>
            <a:ext cx="13624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5A87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샘플 A01 분석 사례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4"/>
          <p:cNvSpPr txBox="1"/>
          <p:nvPr/>
        </p:nvSpPr>
        <p:spPr>
          <a:xfrm>
            <a:off x="802995" y="5449017"/>
            <a:ext cx="5383987" cy="36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• spine_neuro: RAW 7.43 (NORM 0.675) - 가장 취약 • joint: RAW 4.94 (NORM 0.585) - 중간 • muscle: RAW 4.75 (NORM 0.371) - 양호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24"/>
          <p:cNvSpPr txBox="1"/>
          <p:nvPr/>
        </p:nvSpPr>
        <p:spPr>
          <a:xfrm>
            <a:off x="727099" y="5932394"/>
            <a:ext cx="55302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Noto Sans KR"/>
              <a:buNone/>
            </a:pPr>
            <a:r>
              <a:rPr i="1" lang="en-US" sz="9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RAW는 시스템에 쌓인 유전적 변이량(절대 부하)이며, NORM은 신체 시스템 내에서 해당 개체의 상대적 건강 순위를 </a:t>
            </a:r>
            <a:br>
              <a:rPr i="1" lang="en-US" sz="9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i="1" lang="en-US" sz="9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의미. 두 점수를 함께 보면 '가장 약한 부위'를 정확히 알 수 있음.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9" name="Google Shape;1159;p24"/>
          <p:cNvPicPr preferRelativeResize="0"/>
          <p:nvPr/>
        </p:nvPicPr>
        <p:blipFill rotWithShape="1">
          <a:blip r:embed="rId6">
            <a:alphaModFix/>
          </a:blip>
          <a:srcRect b="-5" l="0" r="0" t="-6"/>
          <a:stretch/>
        </p:blipFill>
        <p:spPr>
          <a:xfrm>
            <a:off x="6405030" y="2063017"/>
            <a:ext cx="5514747" cy="31490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24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24"/>
          <p:cNvSpPr txBox="1"/>
          <p:nvPr/>
        </p:nvSpPr>
        <p:spPr>
          <a:xfrm>
            <a:off x="248259" y="236104"/>
            <a:ext cx="6847866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3.1.7. Method 3 – 시스템 부담 점수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2" name="Google Shape;1162;p24"/>
          <p:cNvPicPr preferRelativeResize="0"/>
          <p:nvPr/>
        </p:nvPicPr>
        <p:blipFill rotWithShape="1">
          <a:blip r:embed="rId7">
            <a:alphaModFix/>
          </a:blip>
          <a:srcRect b="0" l="-1082" r="-1082" t="0"/>
          <a:stretch/>
        </p:blipFill>
        <p:spPr>
          <a:xfrm>
            <a:off x="478953" y="1791632"/>
            <a:ext cx="155487" cy="173934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24"/>
          <p:cNvSpPr txBox="1"/>
          <p:nvPr/>
        </p:nvSpPr>
        <p:spPr>
          <a:xfrm>
            <a:off x="676595" y="1782266"/>
            <a:ext cx="5624628" cy="1828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5A87"/>
                </a:solidFill>
                <a:latin typeface="Noto Sans KR"/>
                <a:ea typeface="Noto Sans KR"/>
                <a:cs typeface="Noto Sans KR"/>
                <a:sym typeface="Noto Sans KR"/>
              </a:rPr>
              <a:t>Burden Score 로직</a:t>
            </a:r>
            <a:endParaRPr/>
          </a:p>
        </p:txBody>
      </p:sp>
      <p:sp>
        <p:nvSpPr>
          <p:cNvPr id="1164" name="Google Shape;1164;p24"/>
          <p:cNvSpPr txBox="1"/>
          <p:nvPr/>
        </p:nvSpPr>
        <p:spPr>
          <a:xfrm>
            <a:off x="670102" y="1986669"/>
            <a:ext cx="59332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System Tag 부여 </a:t>
            </a: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SNP 위험도 합산 </a:t>
            </a: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System 간 SNP 수 보정 (√정규화) </a:t>
            </a: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System-level ranking </a:t>
            </a:r>
            <a:b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Actionable risk 생성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25"/>
          <p:cNvSpPr/>
          <p:nvPr/>
        </p:nvSpPr>
        <p:spPr>
          <a:xfrm>
            <a:off x="891032" y="1520532"/>
            <a:ext cx="4859846" cy="1424558"/>
          </a:xfrm>
          <a:prstGeom prst="roundRect">
            <a:avLst>
              <a:gd fmla="val 333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5"/>
          <p:cNvSpPr/>
          <p:nvPr/>
        </p:nvSpPr>
        <p:spPr>
          <a:xfrm>
            <a:off x="5979477" y="1520533"/>
            <a:ext cx="5187550" cy="1424558"/>
          </a:xfrm>
          <a:prstGeom prst="roundRect">
            <a:avLst>
              <a:gd fmla="val 333" name="adj"/>
            </a:avLst>
          </a:prstGeom>
          <a:solidFill>
            <a:srgbClr val="FFFFFF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5"/>
          <p:cNvSpPr txBox="1"/>
          <p:nvPr/>
        </p:nvSpPr>
        <p:spPr>
          <a:xfrm>
            <a:off x="6629578" y="1653500"/>
            <a:ext cx="16578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전략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5"/>
          <p:cNvSpPr txBox="1"/>
          <p:nvPr/>
        </p:nvSpPr>
        <p:spPr>
          <a:xfrm>
            <a:off x="6629577" y="1893936"/>
            <a:ext cx="4314603" cy="9622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소수의 품종 마커는 다른 연구 집단에서 정의된 가이드라인.</a:t>
            </a:r>
            <a:endParaRPr sz="1200">
              <a:solidFill>
                <a:srgbClr val="4B556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개체의 유전 역사가 가이드라인과 다를 수 있으므로, </a:t>
            </a:r>
            <a:b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편향을 배제하고 모든 SNP들이 보여주는 가장 큰 유전적 거리를</a:t>
            </a:r>
            <a:b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우선적으로 파악하는 전략을 취함(모든 마커 기준)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3" name="Google Shape;1173;p25"/>
          <p:cNvPicPr preferRelativeResize="0"/>
          <p:nvPr/>
        </p:nvPicPr>
        <p:blipFill rotWithShape="1">
          <a:blip r:embed="rId3">
            <a:alphaModFix/>
          </a:blip>
          <a:srcRect b="0" l="-505" r="-504" t="0"/>
          <a:stretch/>
        </p:blipFill>
        <p:spPr>
          <a:xfrm>
            <a:off x="1123097" y="1671864"/>
            <a:ext cx="228600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25"/>
          <p:cNvSpPr txBox="1"/>
          <p:nvPr/>
        </p:nvSpPr>
        <p:spPr>
          <a:xfrm>
            <a:off x="1427592" y="1625230"/>
            <a:ext cx="861365" cy="267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기술 스택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25"/>
          <p:cNvSpPr/>
          <p:nvPr/>
        </p:nvSpPr>
        <p:spPr>
          <a:xfrm>
            <a:off x="1121947" y="1976207"/>
            <a:ext cx="911218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6" name="Google Shape;1176;p25"/>
          <p:cNvPicPr preferRelativeResize="0"/>
          <p:nvPr/>
        </p:nvPicPr>
        <p:blipFill rotWithShape="1">
          <a:blip r:embed="rId4">
            <a:alphaModFix/>
          </a:blip>
          <a:srcRect b="-42" l="0" r="0" t="-43"/>
          <a:stretch/>
        </p:blipFill>
        <p:spPr>
          <a:xfrm>
            <a:off x="1238997" y="2078620"/>
            <a:ext cx="133502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25"/>
          <p:cNvSpPr/>
          <p:nvPr/>
        </p:nvSpPr>
        <p:spPr>
          <a:xfrm>
            <a:off x="1163102" y="2448952"/>
            <a:ext cx="1784211" cy="362102"/>
          </a:xfrm>
          <a:prstGeom prst="roundRect">
            <a:avLst>
              <a:gd fmla="val 39872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5"/>
          <p:cNvSpPr txBox="1"/>
          <p:nvPr/>
        </p:nvSpPr>
        <p:spPr>
          <a:xfrm>
            <a:off x="1427592" y="2052103"/>
            <a:ext cx="595007" cy="186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Python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9" name="Google Shape;1179;p25"/>
          <p:cNvGrpSpPr/>
          <p:nvPr/>
        </p:nvGrpSpPr>
        <p:grpSpPr>
          <a:xfrm>
            <a:off x="2128857" y="1962262"/>
            <a:ext cx="1397956" cy="362102"/>
            <a:chOff x="2694918" y="1962262"/>
            <a:chExt cx="1397956" cy="362102"/>
          </a:xfrm>
        </p:grpSpPr>
        <p:sp>
          <p:nvSpPr>
            <p:cNvPr id="1180" name="Google Shape;1180;p25"/>
            <p:cNvSpPr/>
            <p:nvPr/>
          </p:nvSpPr>
          <p:spPr>
            <a:xfrm>
              <a:off x="2694918" y="1962262"/>
              <a:ext cx="1386358" cy="362102"/>
            </a:xfrm>
            <a:prstGeom prst="roundRect">
              <a:avLst>
                <a:gd fmla="val 39872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181" name="Google Shape;1181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817289" y="2064675"/>
              <a:ext cx="152705" cy="152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25"/>
            <p:cNvSpPr txBox="1"/>
            <p:nvPr/>
          </p:nvSpPr>
          <p:spPr>
            <a:xfrm>
              <a:off x="3002453" y="2038157"/>
              <a:ext cx="1090421" cy="2285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Pandas, numpy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reencoded.png" id="1183" name="Google Shape;118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8997" y="2551365"/>
            <a:ext cx="152705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84" name="Google Shape;1184;p25"/>
          <p:cNvSpPr txBox="1"/>
          <p:nvPr/>
        </p:nvSpPr>
        <p:spPr>
          <a:xfrm>
            <a:off x="1423910" y="2522216"/>
            <a:ext cx="1508570" cy="2182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PCA, t-SNE, UMAP, K-means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5" name="Google Shape;1185;p25"/>
          <p:cNvGrpSpPr/>
          <p:nvPr/>
        </p:nvGrpSpPr>
        <p:grpSpPr>
          <a:xfrm>
            <a:off x="3619017" y="1958833"/>
            <a:ext cx="946901" cy="362102"/>
            <a:chOff x="3764190" y="1958833"/>
            <a:chExt cx="946901" cy="362102"/>
          </a:xfrm>
        </p:grpSpPr>
        <p:sp>
          <p:nvSpPr>
            <p:cNvPr id="1186" name="Google Shape;1186;p25"/>
            <p:cNvSpPr/>
            <p:nvPr/>
          </p:nvSpPr>
          <p:spPr>
            <a:xfrm>
              <a:off x="3764190" y="1958833"/>
              <a:ext cx="946901" cy="362102"/>
            </a:xfrm>
            <a:prstGeom prst="roundRect">
              <a:avLst>
                <a:gd fmla="val 39872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187" name="Google Shape;1187;p2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841000" y="2061246"/>
              <a:ext cx="152705" cy="152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8" name="Google Shape;1188;p25"/>
            <p:cNvSpPr txBox="1"/>
            <p:nvPr/>
          </p:nvSpPr>
          <p:spPr>
            <a:xfrm>
              <a:off x="4049928" y="2038158"/>
              <a:ext cx="646481" cy="2002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Scikit-learn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9" name="Google Shape;1189;p25"/>
          <p:cNvGrpSpPr/>
          <p:nvPr/>
        </p:nvGrpSpPr>
        <p:grpSpPr>
          <a:xfrm>
            <a:off x="3037585" y="2463735"/>
            <a:ext cx="1523593" cy="362102"/>
            <a:chOff x="2195758" y="2463735"/>
            <a:chExt cx="1523593" cy="362102"/>
          </a:xfrm>
        </p:grpSpPr>
        <p:sp>
          <p:nvSpPr>
            <p:cNvPr id="1190" name="Google Shape;1190;p25"/>
            <p:cNvSpPr/>
            <p:nvPr/>
          </p:nvSpPr>
          <p:spPr>
            <a:xfrm>
              <a:off x="2195758" y="2463735"/>
              <a:ext cx="1433322" cy="362102"/>
            </a:xfrm>
            <a:prstGeom prst="roundRect">
              <a:avLst>
                <a:gd fmla="val 39872" name="adj"/>
              </a:avLst>
            </a:prstGeom>
            <a:solidFill>
              <a:srgbClr val="F0F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191" name="Google Shape;1191;p2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93262" y="2567062"/>
              <a:ext cx="152705" cy="152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2" name="Google Shape;1192;p25"/>
            <p:cNvSpPr txBox="1"/>
            <p:nvPr/>
          </p:nvSpPr>
          <p:spPr>
            <a:xfrm>
              <a:off x="2518537" y="2540544"/>
              <a:ext cx="1200814" cy="184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None/>
              </a:pPr>
              <a:r>
                <a:rPr lang="en-U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Matplotlb, seaborn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3" name="Google Shape;1193;p25"/>
          <p:cNvSpPr/>
          <p:nvPr/>
        </p:nvSpPr>
        <p:spPr>
          <a:xfrm>
            <a:off x="1065947" y="1587663"/>
            <a:ext cx="342900" cy="342900"/>
          </a:xfrm>
          <a:prstGeom prst="roundRect">
            <a:avLst>
              <a:gd fmla="val 44444" name="adj"/>
            </a:avLst>
          </a:prstGeom>
          <a:solidFill>
            <a:srgbClr val="0891B2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25"/>
          <p:cNvSpPr/>
          <p:nvPr/>
        </p:nvSpPr>
        <p:spPr>
          <a:xfrm>
            <a:off x="6187618" y="1671864"/>
            <a:ext cx="342900" cy="342900"/>
          </a:xfrm>
          <a:prstGeom prst="ellipse">
            <a:avLst/>
          </a:prstGeom>
          <a:solidFill>
            <a:srgbClr val="10B98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5" name="Google Shape;1195;p25"/>
          <p:cNvPicPr preferRelativeResize="0"/>
          <p:nvPr/>
        </p:nvPicPr>
        <p:blipFill rotWithShape="1">
          <a:blip r:embed="rId9">
            <a:alphaModFix/>
          </a:blip>
          <a:srcRect b="-100" l="0" r="0" t="-100"/>
          <a:stretch/>
        </p:blipFill>
        <p:spPr>
          <a:xfrm>
            <a:off x="6301918" y="1766961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25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25"/>
          <p:cNvSpPr txBox="1"/>
          <p:nvPr/>
        </p:nvSpPr>
        <p:spPr>
          <a:xfrm>
            <a:off x="427549" y="355319"/>
            <a:ext cx="4668057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3.2.데이터 분석(개체 간 유사 품종 분석)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5"/>
          <p:cNvSpPr txBox="1"/>
          <p:nvPr/>
        </p:nvSpPr>
        <p:spPr>
          <a:xfrm>
            <a:off x="421707" y="792549"/>
            <a:ext cx="33631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유전체 데이터 분석 파이프라인의 작업 흐름 및 목적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25"/>
          <p:cNvSpPr/>
          <p:nvPr/>
        </p:nvSpPr>
        <p:spPr>
          <a:xfrm>
            <a:off x="1170504" y="3385793"/>
            <a:ext cx="1143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Noto Sans KR"/>
              <a:buNone/>
            </a:pPr>
            <a:r>
              <a:rPr b="1" lang="en-US" sz="18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파이프라인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0" name="Google Shape;1200;p25"/>
          <p:cNvGrpSpPr/>
          <p:nvPr/>
        </p:nvGrpSpPr>
        <p:grpSpPr>
          <a:xfrm>
            <a:off x="1914793" y="3964217"/>
            <a:ext cx="2785197" cy="1292810"/>
            <a:chOff x="1569082" y="4109577"/>
            <a:chExt cx="2785197" cy="1292810"/>
          </a:xfrm>
        </p:grpSpPr>
        <p:sp>
          <p:nvSpPr>
            <p:cNvPr id="1201" name="Google Shape;1201;p25"/>
            <p:cNvSpPr/>
            <p:nvPr/>
          </p:nvSpPr>
          <p:spPr>
            <a:xfrm>
              <a:off x="1693440" y="4233021"/>
              <a:ext cx="2241509" cy="1169366"/>
            </a:xfrm>
            <a:prstGeom prst="roundRect">
              <a:avLst>
                <a:gd fmla="val 1051" name="adj"/>
              </a:avLst>
            </a:prstGeom>
            <a:solidFill>
              <a:srgbClr val="FFFFFF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5"/>
            <p:cNvSpPr/>
            <p:nvPr/>
          </p:nvSpPr>
          <p:spPr>
            <a:xfrm>
              <a:off x="1569082" y="4109577"/>
              <a:ext cx="304495" cy="304495"/>
            </a:xfrm>
            <a:prstGeom prst="ellipse">
              <a:avLst/>
            </a:prstGeom>
            <a:solidFill>
              <a:srgbClr val="F8FAFC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5"/>
            <p:cNvSpPr txBox="1"/>
            <p:nvPr/>
          </p:nvSpPr>
          <p:spPr>
            <a:xfrm>
              <a:off x="1616173" y="4147982"/>
              <a:ext cx="210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891B2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0891B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25"/>
            <p:cNvSpPr/>
            <p:nvPr/>
          </p:nvSpPr>
          <p:spPr>
            <a:xfrm>
              <a:off x="1989044" y="4407966"/>
              <a:ext cx="1574448" cy="257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전처리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25"/>
            <p:cNvSpPr/>
            <p:nvPr/>
          </p:nvSpPr>
          <p:spPr>
            <a:xfrm>
              <a:off x="1980499" y="4712766"/>
              <a:ext cx="185985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 분석을 위한 </a:t>
              </a:r>
              <a:b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최소한의 전처리 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t/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1206" name="Google Shape;1206;p2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087274" y="4674666"/>
              <a:ext cx="267005" cy="2670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reencoded.png" id="1207" name="Google Shape;1207;p25"/>
          <p:cNvPicPr preferRelativeResize="0"/>
          <p:nvPr/>
        </p:nvPicPr>
        <p:blipFill rotWithShape="1">
          <a:blip r:embed="rId11">
            <a:alphaModFix/>
          </a:blip>
          <a:srcRect b="-3184" l="0" r="0" t="-3185"/>
          <a:stretch/>
        </p:blipFill>
        <p:spPr>
          <a:xfrm>
            <a:off x="718296" y="3390274"/>
            <a:ext cx="345920" cy="2943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8" name="Google Shape;1208;p25"/>
          <p:cNvGrpSpPr/>
          <p:nvPr/>
        </p:nvGrpSpPr>
        <p:grpSpPr>
          <a:xfrm>
            <a:off x="4955680" y="3964217"/>
            <a:ext cx="2785197" cy="1292810"/>
            <a:chOff x="4609969" y="4083689"/>
            <a:chExt cx="2785197" cy="1292810"/>
          </a:xfrm>
        </p:grpSpPr>
        <p:sp>
          <p:nvSpPr>
            <p:cNvPr id="1209" name="Google Shape;1209;p25"/>
            <p:cNvSpPr/>
            <p:nvPr/>
          </p:nvSpPr>
          <p:spPr>
            <a:xfrm>
              <a:off x="4734327" y="4207133"/>
              <a:ext cx="2241509" cy="1169366"/>
            </a:xfrm>
            <a:prstGeom prst="roundRect">
              <a:avLst>
                <a:gd fmla="val 1051" name="adj"/>
              </a:avLst>
            </a:prstGeom>
            <a:solidFill>
              <a:srgbClr val="FFFFFF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5"/>
            <p:cNvSpPr/>
            <p:nvPr/>
          </p:nvSpPr>
          <p:spPr>
            <a:xfrm>
              <a:off x="4609969" y="4083689"/>
              <a:ext cx="304495" cy="304495"/>
            </a:xfrm>
            <a:prstGeom prst="ellipse">
              <a:avLst/>
            </a:prstGeom>
            <a:solidFill>
              <a:srgbClr val="F8FAFC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5"/>
            <p:cNvSpPr txBox="1"/>
            <p:nvPr/>
          </p:nvSpPr>
          <p:spPr>
            <a:xfrm>
              <a:off x="4657060" y="4122094"/>
              <a:ext cx="210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891B2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0891B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25"/>
            <p:cNvSpPr/>
            <p:nvPr/>
          </p:nvSpPr>
          <p:spPr>
            <a:xfrm>
              <a:off x="5029931" y="4382078"/>
              <a:ext cx="1509862" cy="257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모델링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25"/>
            <p:cNvSpPr/>
            <p:nvPr/>
          </p:nvSpPr>
          <p:spPr>
            <a:xfrm>
              <a:off x="5039033" y="4696307"/>
              <a:ext cx="1793319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비선형 패턴 포착을 위한 </a:t>
              </a:r>
              <a:b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모델 분석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1214" name="Google Shape;1214;p2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128161" y="4648778"/>
              <a:ext cx="267005" cy="2670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5" name="Google Shape;1215;p25"/>
          <p:cNvGrpSpPr/>
          <p:nvPr/>
        </p:nvGrpSpPr>
        <p:grpSpPr>
          <a:xfrm>
            <a:off x="7996567" y="3930430"/>
            <a:ext cx="2365867" cy="1292810"/>
            <a:chOff x="7650856" y="4112178"/>
            <a:chExt cx="2365867" cy="1292810"/>
          </a:xfrm>
        </p:grpSpPr>
        <p:sp>
          <p:nvSpPr>
            <p:cNvPr id="1216" name="Google Shape;1216;p25"/>
            <p:cNvSpPr/>
            <p:nvPr/>
          </p:nvSpPr>
          <p:spPr>
            <a:xfrm>
              <a:off x="7775214" y="4235622"/>
              <a:ext cx="2241509" cy="1169366"/>
            </a:xfrm>
            <a:prstGeom prst="roundRect">
              <a:avLst>
                <a:gd fmla="val 1051" name="adj"/>
              </a:avLst>
            </a:prstGeom>
            <a:solidFill>
              <a:srgbClr val="FFFFFF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14300" rotWithShape="0" algn="bl" dir="5400000" dist="38100">
                <a:srgbClr val="000000">
                  <a:alpha val="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5"/>
            <p:cNvSpPr/>
            <p:nvPr/>
          </p:nvSpPr>
          <p:spPr>
            <a:xfrm>
              <a:off x="7650856" y="4112178"/>
              <a:ext cx="304495" cy="304495"/>
            </a:xfrm>
            <a:prstGeom prst="ellipse">
              <a:avLst/>
            </a:prstGeom>
            <a:solidFill>
              <a:srgbClr val="F8FAFC"/>
            </a:solidFill>
            <a:ln cap="flat" cmpd="sng" w="25400">
              <a:solidFill>
                <a:srgbClr val="0891B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5"/>
            <p:cNvSpPr txBox="1"/>
            <p:nvPr/>
          </p:nvSpPr>
          <p:spPr>
            <a:xfrm>
              <a:off x="7697947" y="4150583"/>
              <a:ext cx="210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891B2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0891B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25"/>
            <p:cNvSpPr/>
            <p:nvPr/>
          </p:nvSpPr>
          <p:spPr>
            <a:xfrm>
              <a:off x="8070818" y="4410567"/>
              <a:ext cx="130302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비율 계산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25"/>
            <p:cNvSpPr/>
            <p:nvPr/>
          </p:nvSpPr>
          <p:spPr>
            <a:xfrm>
              <a:off x="8079921" y="4737496"/>
              <a:ext cx="1808006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363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B556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마커의 유전자형의 패턴으로 품종의 비율을 계산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26"/>
          <p:cNvSpPr/>
          <p:nvPr/>
        </p:nvSpPr>
        <p:spPr>
          <a:xfrm>
            <a:off x="1273151" y="1553797"/>
            <a:ext cx="2081580" cy="1333195"/>
          </a:xfrm>
          <a:prstGeom prst="roundRect">
            <a:avLst>
              <a:gd fmla="val 3919" name="adj"/>
            </a:avLst>
          </a:prstGeom>
          <a:solidFill>
            <a:schemeClr val="lt1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6"/>
          <p:cNvSpPr/>
          <p:nvPr/>
        </p:nvSpPr>
        <p:spPr>
          <a:xfrm>
            <a:off x="1445057" y="1724790"/>
            <a:ext cx="267005" cy="26700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26"/>
          <p:cNvSpPr txBox="1"/>
          <p:nvPr/>
        </p:nvSpPr>
        <p:spPr>
          <a:xfrm>
            <a:off x="1532840" y="1743992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6"/>
          <p:cNvSpPr txBox="1"/>
          <p:nvPr/>
        </p:nvSpPr>
        <p:spPr>
          <a:xfrm>
            <a:off x="1825448" y="1724790"/>
            <a:ext cx="866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로딩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26"/>
          <p:cNvSpPr txBox="1"/>
          <p:nvPr/>
        </p:nvSpPr>
        <p:spPr>
          <a:xfrm>
            <a:off x="1445057" y="2067690"/>
            <a:ext cx="151058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샘플 수: 94개 샘플 (개체)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6"/>
          <p:cNvSpPr txBox="1"/>
          <p:nvPr/>
        </p:nvSpPr>
        <p:spPr>
          <a:xfrm>
            <a:off x="1445057" y="2296290"/>
            <a:ext cx="13295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원본 SNP: 477,903개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26"/>
          <p:cNvSpPr txBox="1"/>
          <p:nvPr/>
        </p:nvSpPr>
        <p:spPr>
          <a:xfrm>
            <a:off x="1445057" y="2524890"/>
            <a:ext cx="13770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CSV (477,903 × 124)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6"/>
          <p:cNvSpPr/>
          <p:nvPr/>
        </p:nvSpPr>
        <p:spPr>
          <a:xfrm>
            <a:off x="3824226" y="1553797"/>
            <a:ext cx="2084424" cy="1333195"/>
          </a:xfrm>
          <a:prstGeom prst="roundRect">
            <a:avLst>
              <a:gd fmla="val 3919" name="adj"/>
            </a:avLst>
          </a:prstGeom>
          <a:solidFill>
            <a:schemeClr val="lt1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6"/>
          <p:cNvSpPr/>
          <p:nvPr/>
        </p:nvSpPr>
        <p:spPr>
          <a:xfrm>
            <a:off x="3996132" y="1724790"/>
            <a:ext cx="267005" cy="26700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26"/>
          <p:cNvSpPr txBox="1"/>
          <p:nvPr/>
        </p:nvSpPr>
        <p:spPr>
          <a:xfrm>
            <a:off x="4083914" y="1743992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26"/>
          <p:cNvSpPr txBox="1"/>
          <p:nvPr/>
        </p:nvSpPr>
        <p:spPr>
          <a:xfrm>
            <a:off x="4376522" y="1724790"/>
            <a:ext cx="866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결측치 처리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6"/>
          <p:cNvSpPr txBox="1"/>
          <p:nvPr/>
        </p:nvSpPr>
        <p:spPr>
          <a:xfrm>
            <a:off x="3996132" y="2067690"/>
            <a:ext cx="131947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SimpleImputer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26"/>
          <p:cNvSpPr txBox="1"/>
          <p:nvPr/>
        </p:nvSpPr>
        <p:spPr>
          <a:xfrm>
            <a:off x="3996132" y="2296290"/>
            <a:ext cx="134782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전략: most_frequent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26"/>
          <p:cNvSpPr txBox="1"/>
          <p:nvPr/>
        </p:nvSpPr>
        <p:spPr>
          <a:xfrm>
            <a:off x="3996132" y="2524890"/>
            <a:ext cx="1405433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최빈값으로 결측치 대체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6"/>
          <p:cNvSpPr/>
          <p:nvPr/>
        </p:nvSpPr>
        <p:spPr>
          <a:xfrm>
            <a:off x="6378146" y="1532971"/>
            <a:ext cx="2081580" cy="1333195"/>
          </a:xfrm>
          <a:prstGeom prst="roundRect">
            <a:avLst>
              <a:gd fmla="val 3919" name="adj"/>
            </a:avLst>
          </a:prstGeom>
          <a:solidFill>
            <a:schemeClr val="lt1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6"/>
          <p:cNvSpPr/>
          <p:nvPr/>
        </p:nvSpPr>
        <p:spPr>
          <a:xfrm>
            <a:off x="6550052" y="1703964"/>
            <a:ext cx="267005" cy="26700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26"/>
          <p:cNvSpPr txBox="1"/>
          <p:nvPr/>
        </p:nvSpPr>
        <p:spPr>
          <a:xfrm>
            <a:off x="6637834" y="1723166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6"/>
          <p:cNvSpPr txBox="1"/>
          <p:nvPr/>
        </p:nvSpPr>
        <p:spPr>
          <a:xfrm>
            <a:off x="6930442" y="1703964"/>
            <a:ext cx="12097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무변동 SNP 제거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26"/>
          <p:cNvSpPr txBox="1"/>
          <p:nvPr/>
        </p:nvSpPr>
        <p:spPr>
          <a:xfrm>
            <a:off x="6550052" y="2046864"/>
            <a:ext cx="121523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52,040개 SNP 제거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6"/>
          <p:cNvSpPr txBox="1"/>
          <p:nvPr/>
        </p:nvSpPr>
        <p:spPr>
          <a:xfrm>
            <a:off x="6550052" y="2275464"/>
            <a:ext cx="12627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Variance = 0 필터링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6"/>
          <p:cNvSpPr txBox="1"/>
          <p:nvPr/>
        </p:nvSpPr>
        <p:spPr>
          <a:xfrm>
            <a:off x="6550052" y="2504064"/>
            <a:ext cx="13002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극저변동 SNP는 유지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26"/>
          <p:cNvSpPr/>
          <p:nvPr/>
        </p:nvSpPr>
        <p:spPr>
          <a:xfrm>
            <a:off x="8929223" y="1526467"/>
            <a:ext cx="2081580" cy="1333195"/>
          </a:xfrm>
          <a:prstGeom prst="roundRect">
            <a:avLst>
              <a:gd fmla="val 3919" name="adj"/>
            </a:avLst>
          </a:prstGeom>
          <a:solidFill>
            <a:schemeClr val="lt1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26"/>
          <p:cNvSpPr/>
          <p:nvPr/>
        </p:nvSpPr>
        <p:spPr>
          <a:xfrm>
            <a:off x="9101130" y="1697460"/>
            <a:ext cx="267005" cy="26700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6"/>
          <p:cNvSpPr txBox="1"/>
          <p:nvPr/>
        </p:nvSpPr>
        <p:spPr>
          <a:xfrm>
            <a:off x="9188912" y="1716662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26"/>
          <p:cNvSpPr txBox="1"/>
          <p:nvPr/>
        </p:nvSpPr>
        <p:spPr>
          <a:xfrm>
            <a:off x="9481520" y="1697460"/>
            <a:ext cx="5431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표준화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26"/>
          <p:cNvSpPr txBox="1"/>
          <p:nvPr/>
        </p:nvSpPr>
        <p:spPr>
          <a:xfrm>
            <a:off x="9101130" y="2040360"/>
            <a:ext cx="1338682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StandardScaler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6"/>
          <p:cNvSpPr txBox="1"/>
          <p:nvPr/>
        </p:nvSpPr>
        <p:spPr>
          <a:xfrm>
            <a:off x="9101130" y="2268960"/>
            <a:ext cx="116768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Mean = 0, Std =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26"/>
          <p:cNvSpPr txBox="1"/>
          <p:nvPr/>
        </p:nvSpPr>
        <p:spPr>
          <a:xfrm>
            <a:off x="9101130" y="2497560"/>
            <a:ext cx="128198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정규화된 데이터 생성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6"/>
          <p:cNvSpPr/>
          <p:nvPr/>
        </p:nvSpPr>
        <p:spPr>
          <a:xfrm>
            <a:off x="1271727" y="3395144"/>
            <a:ext cx="4636922" cy="1086307"/>
          </a:xfrm>
          <a:prstGeom prst="roundRect">
            <a:avLst>
              <a:gd fmla="val 4430" name="adj"/>
            </a:avLst>
          </a:prstGeom>
          <a:solidFill>
            <a:srgbClr val="E6F3F8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26"/>
          <p:cNvSpPr txBox="1"/>
          <p:nvPr/>
        </p:nvSpPr>
        <p:spPr>
          <a:xfrm>
            <a:off x="1433575" y="3556993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피처 엔지니어링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6"/>
          <p:cNvSpPr txBox="1"/>
          <p:nvPr/>
        </p:nvSpPr>
        <p:spPr>
          <a:xfrm>
            <a:off x="1433575" y="3862403"/>
            <a:ext cx="345826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분산 상위 20%/10% 고분산 SNP만 선택적으로 사용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26"/>
          <p:cNvSpPr txBox="1"/>
          <p:nvPr/>
        </p:nvSpPr>
        <p:spPr>
          <a:xfrm>
            <a:off x="1433575" y="4091003"/>
            <a:ext cx="351495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→ 정보량이 높은 변이만 선별하여 분석 효율성 극대화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6"/>
          <p:cNvSpPr/>
          <p:nvPr/>
        </p:nvSpPr>
        <p:spPr>
          <a:xfrm>
            <a:off x="6175515" y="3395144"/>
            <a:ext cx="4814008" cy="1086307"/>
          </a:xfrm>
          <a:prstGeom prst="roundRect">
            <a:avLst>
              <a:gd fmla="val 4430" name="adj"/>
            </a:avLst>
          </a:prstGeom>
          <a:solidFill>
            <a:srgbClr val="E6F3F8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26"/>
          <p:cNvSpPr txBox="1"/>
          <p:nvPr/>
        </p:nvSpPr>
        <p:spPr>
          <a:xfrm>
            <a:off x="6337363" y="3556993"/>
            <a:ext cx="160649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재현 가능한 파이프라인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26"/>
          <p:cNvSpPr txBox="1"/>
          <p:nvPr/>
        </p:nvSpPr>
        <p:spPr>
          <a:xfrm>
            <a:off x="6337364" y="3862403"/>
            <a:ext cx="33553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각 단계는 파이썬 모듈로 분리 구현되어 일관성 유지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26"/>
          <p:cNvSpPr txBox="1"/>
          <p:nvPr/>
        </p:nvSpPr>
        <p:spPr>
          <a:xfrm>
            <a:off x="6337363" y="4091003"/>
            <a:ext cx="37348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→ 엔드투엔드 데이터 처리 과정 완전 자동화 및 검증 가능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26"/>
          <p:cNvSpPr/>
          <p:nvPr/>
        </p:nvSpPr>
        <p:spPr>
          <a:xfrm>
            <a:off x="3824226" y="4830984"/>
            <a:ext cx="4635500" cy="914400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26"/>
          <p:cNvSpPr txBox="1"/>
          <p:nvPr/>
        </p:nvSpPr>
        <p:spPr>
          <a:xfrm>
            <a:off x="5535812" y="5017212"/>
            <a:ext cx="11914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전처리 결과 요약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6"/>
          <p:cNvSpPr txBox="1"/>
          <p:nvPr/>
        </p:nvSpPr>
        <p:spPr>
          <a:xfrm>
            <a:off x="4567790" y="5304203"/>
            <a:ext cx="981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샘플 수: 94개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26"/>
          <p:cNvSpPr txBox="1"/>
          <p:nvPr/>
        </p:nvSpPr>
        <p:spPr>
          <a:xfrm>
            <a:off x="6292504" y="5343512"/>
            <a:ext cx="16962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SNP: 약 425,863개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26"/>
          <p:cNvSpPr txBox="1"/>
          <p:nvPr/>
        </p:nvSpPr>
        <p:spPr>
          <a:xfrm>
            <a:off x="4396639" y="5889150"/>
            <a:ext cx="3743554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Noto Sans KR"/>
              <a:buNone/>
            </a:pPr>
            <a:r>
              <a:rPr i="1" lang="en-US" sz="90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단계는 scikit-learn 파이프라인으로 통합되어 자동화된 워크플로우 구성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26"/>
          <p:cNvSpPr txBox="1"/>
          <p:nvPr/>
        </p:nvSpPr>
        <p:spPr>
          <a:xfrm>
            <a:off x="403758" y="385724"/>
            <a:ext cx="2847822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3.2.1.데이터 전처리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6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8" name="Google Shape;126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6685" y="2104471"/>
            <a:ext cx="267005" cy="267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69" name="Google Shape;126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9186" y="2097967"/>
            <a:ext cx="267005" cy="267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70" name="Google Shape;1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6264" y="2124840"/>
            <a:ext cx="267005" cy="26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27"/>
          <p:cNvSpPr/>
          <p:nvPr/>
        </p:nvSpPr>
        <p:spPr>
          <a:xfrm>
            <a:off x="4213570" y="1327161"/>
            <a:ext cx="3764859" cy="4917505"/>
          </a:xfrm>
          <a:prstGeom prst="roundRect">
            <a:avLst>
              <a:gd fmla="val 603" name="adj"/>
            </a:avLst>
          </a:prstGeom>
          <a:solidFill>
            <a:srgbClr val="FFFFFF"/>
          </a:solidFill>
          <a:ln cap="flat" cmpd="sng" w="38100">
            <a:solidFill>
              <a:srgbClr val="A9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7"/>
          <p:cNvSpPr/>
          <p:nvPr/>
        </p:nvSpPr>
        <p:spPr>
          <a:xfrm>
            <a:off x="8118031" y="1327161"/>
            <a:ext cx="3764859" cy="4914603"/>
          </a:xfrm>
          <a:prstGeom prst="roundRect">
            <a:avLst>
              <a:gd fmla="val 603" name="adj"/>
            </a:avLst>
          </a:prstGeom>
          <a:solidFill>
            <a:srgbClr val="FFFFFF"/>
          </a:solidFill>
          <a:ln cap="flat" cmpd="sng" w="38100">
            <a:solidFill>
              <a:srgbClr val="A9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7"/>
          <p:cNvSpPr/>
          <p:nvPr/>
        </p:nvSpPr>
        <p:spPr>
          <a:xfrm>
            <a:off x="304271" y="1322293"/>
            <a:ext cx="3764859" cy="4919471"/>
          </a:xfrm>
          <a:prstGeom prst="roundRect">
            <a:avLst>
              <a:gd fmla="val 603" name="adj"/>
            </a:avLst>
          </a:prstGeom>
          <a:solidFill>
            <a:srgbClr val="FFFFFF"/>
          </a:solidFill>
          <a:ln cap="flat" cmpd="sng" w="38100">
            <a:solidFill>
              <a:srgbClr val="A9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27"/>
          <p:cNvSpPr txBox="1"/>
          <p:nvPr/>
        </p:nvSpPr>
        <p:spPr>
          <a:xfrm>
            <a:off x="908762" y="1433850"/>
            <a:ext cx="2652739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600"/>
              <a:buFont typeface="Noto Sans KR"/>
              <a:buNone/>
            </a:pPr>
            <a:r>
              <a:rPr b="1" lang="en-US" sz="16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분산 = 0인 SNP 제거 + 정규화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27"/>
          <p:cNvSpPr txBox="1"/>
          <p:nvPr/>
        </p:nvSpPr>
        <p:spPr>
          <a:xfrm>
            <a:off x="5325732" y="1425445"/>
            <a:ext cx="1919326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600"/>
              <a:buFont typeface="Noto Sans KR"/>
              <a:buNone/>
            </a:pPr>
            <a:r>
              <a:rPr b="1" lang="en-US" sz="16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상위 20% SNP 선별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0" name="Google Shape;1280;p27"/>
          <p:cNvPicPr preferRelativeResize="0"/>
          <p:nvPr/>
        </p:nvPicPr>
        <p:blipFill rotWithShape="1">
          <a:blip r:embed="rId3">
            <a:alphaModFix/>
          </a:blip>
          <a:srcRect b="0" l="0" r="0" t="3855"/>
          <a:stretch/>
        </p:blipFill>
        <p:spPr>
          <a:xfrm>
            <a:off x="547965" y="1770572"/>
            <a:ext cx="3330809" cy="4248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4443426" y="1772390"/>
            <a:ext cx="3259018" cy="42468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2" name="Google Shape;1282;p27"/>
          <p:cNvGrpSpPr/>
          <p:nvPr/>
        </p:nvGrpSpPr>
        <p:grpSpPr>
          <a:xfrm>
            <a:off x="4579983" y="1443373"/>
            <a:ext cx="658493" cy="228600"/>
            <a:chOff x="7467406" y="1488043"/>
            <a:chExt cx="658493" cy="228600"/>
          </a:xfrm>
        </p:grpSpPr>
        <p:sp>
          <p:nvSpPr>
            <p:cNvPr id="1283" name="Google Shape;1283;p27"/>
            <p:cNvSpPr/>
            <p:nvPr/>
          </p:nvSpPr>
          <p:spPr>
            <a:xfrm>
              <a:off x="7467406" y="1488043"/>
              <a:ext cx="647395" cy="228600"/>
            </a:xfrm>
            <a:prstGeom prst="roundRect">
              <a:avLst>
                <a:gd fmla="val 200000" name="adj"/>
              </a:avLst>
            </a:prstGeom>
            <a:solidFill>
              <a:srgbClr val="0A4B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7"/>
            <p:cNvSpPr txBox="1"/>
            <p:nvPr/>
          </p:nvSpPr>
          <p:spPr>
            <a:xfrm>
              <a:off x="7582745" y="1515038"/>
              <a:ext cx="543154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Noto Sans KR"/>
                <a:buNone/>
              </a:pPr>
              <a:r>
                <a:rPr b="1" lang="en-US" sz="9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최적 방법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5" name="Google Shape;1285;p27"/>
          <p:cNvSpPr txBox="1"/>
          <p:nvPr/>
        </p:nvSpPr>
        <p:spPr>
          <a:xfrm>
            <a:off x="8741194" y="1433850"/>
            <a:ext cx="2347265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600"/>
              <a:buFont typeface="Noto Sans KR"/>
              <a:buNone/>
            </a:pPr>
            <a:r>
              <a:rPr b="1" lang="en-US" sz="16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상위 10% SNP + k =~30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6" name="Google Shape;1286;p27"/>
          <p:cNvPicPr preferRelativeResize="0"/>
          <p:nvPr/>
        </p:nvPicPr>
        <p:blipFill rotWithShape="1">
          <a:blip r:embed="rId5">
            <a:alphaModFix/>
          </a:blip>
          <a:srcRect b="0" l="0" r="11010" t="0"/>
          <a:stretch/>
        </p:blipFill>
        <p:spPr>
          <a:xfrm flipH="1">
            <a:off x="8422258" y="1773086"/>
            <a:ext cx="3190352" cy="4246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7" name="Google Shape;1287;p27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27"/>
          <p:cNvSpPr txBox="1"/>
          <p:nvPr/>
        </p:nvSpPr>
        <p:spPr>
          <a:xfrm>
            <a:off x="403757" y="385724"/>
            <a:ext cx="4839509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3.2.2.모델링 – PCA 분석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27"/>
          <p:cNvSpPr/>
          <p:nvPr/>
        </p:nvSpPr>
        <p:spPr>
          <a:xfrm>
            <a:off x="0" y="0"/>
            <a:ext cx="12191695" cy="38405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28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5" name="Google Shape;1295;p28"/>
          <p:cNvGrpSpPr/>
          <p:nvPr/>
        </p:nvGrpSpPr>
        <p:grpSpPr>
          <a:xfrm>
            <a:off x="522827" y="1065506"/>
            <a:ext cx="10847867" cy="3412320"/>
            <a:chOff x="304495" y="1218895"/>
            <a:chExt cx="11582705" cy="3733495"/>
          </a:xfrm>
        </p:grpSpPr>
        <p:sp>
          <p:nvSpPr>
            <p:cNvPr id="1296" name="Google Shape;1296;p28"/>
            <p:cNvSpPr/>
            <p:nvPr/>
          </p:nvSpPr>
          <p:spPr>
            <a:xfrm>
              <a:off x="304495" y="1218895"/>
              <a:ext cx="11582705" cy="3733495"/>
            </a:xfrm>
            <a:prstGeom prst="roundRect">
              <a:avLst>
                <a:gd fmla="val 250" name="adj"/>
              </a:avLst>
            </a:prstGeom>
            <a:noFill/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5400000" dist="25400">
                <a:srgbClr val="000000">
                  <a:alpha val="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8"/>
            <p:cNvSpPr/>
            <p:nvPr/>
          </p:nvSpPr>
          <p:spPr>
            <a:xfrm>
              <a:off x="314554" y="1228954"/>
              <a:ext cx="11563502" cy="457200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8"/>
            <p:cNvSpPr txBox="1"/>
            <p:nvPr/>
          </p:nvSpPr>
          <p:spPr>
            <a:xfrm>
              <a:off x="466344" y="1343254"/>
              <a:ext cx="4005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항목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28"/>
            <p:cNvSpPr txBox="1"/>
            <p:nvPr/>
          </p:nvSpPr>
          <p:spPr>
            <a:xfrm>
              <a:off x="4560113" y="1343254"/>
              <a:ext cx="6958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1차 PCA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28"/>
            <p:cNvSpPr txBox="1"/>
            <p:nvPr/>
          </p:nvSpPr>
          <p:spPr>
            <a:xfrm>
              <a:off x="7317943" y="1343254"/>
              <a:ext cx="6958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2차 PCA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28"/>
            <p:cNvSpPr txBox="1"/>
            <p:nvPr/>
          </p:nvSpPr>
          <p:spPr>
            <a:xfrm>
              <a:off x="10167214" y="1343254"/>
              <a:ext cx="6958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3차 PCA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28"/>
            <p:cNvSpPr/>
            <p:nvPr/>
          </p:nvSpPr>
          <p:spPr>
            <a:xfrm>
              <a:off x="314554" y="1686154"/>
              <a:ext cx="11563502" cy="325800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8"/>
            <p:cNvSpPr/>
            <p:nvPr/>
          </p:nvSpPr>
          <p:spPr>
            <a:xfrm>
              <a:off x="314554" y="2143354"/>
              <a:ext cx="11563502" cy="914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8"/>
            <p:cNvSpPr/>
            <p:nvPr/>
          </p:nvSpPr>
          <p:spPr>
            <a:xfrm>
              <a:off x="314554" y="2605126"/>
              <a:ext cx="11563502" cy="914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8"/>
            <p:cNvSpPr/>
            <p:nvPr/>
          </p:nvSpPr>
          <p:spPr>
            <a:xfrm>
              <a:off x="314554" y="3071470"/>
              <a:ext cx="11563502" cy="914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8"/>
            <p:cNvSpPr/>
            <p:nvPr/>
          </p:nvSpPr>
          <p:spPr>
            <a:xfrm>
              <a:off x="314554" y="3538728"/>
              <a:ext cx="11563502" cy="914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8"/>
            <p:cNvSpPr/>
            <p:nvPr/>
          </p:nvSpPr>
          <p:spPr>
            <a:xfrm>
              <a:off x="314554" y="4005072"/>
              <a:ext cx="11563502" cy="914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8"/>
            <p:cNvSpPr/>
            <p:nvPr/>
          </p:nvSpPr>
          <p:spPr>
            <a:xfrm>
              <a:off x="314554" y="4472330"/>
              <a:ext cx="11563502" cy="914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8"/>
            <p:cNvSpPr/>
            <p:nvPr/>
          </p:nvSpPr>
          <p:spPr>
            <a:xfrm>
              <a:off x="314554" y="1686154"/>
              <a:ext cx="3200400" cy="466344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8"/>
            <p:cNvSpPr/>
            <p:nvPr/>
          </p:nvSpPr>
          <p:spPr>
            <a:xfrm>
              <a:off x="314554" y="2147926"/>
              <a:ext cx="3200400" cy="466344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8"/>
            <p:cNvSpPr/>
            <p:nvPr/>
          </p:nvSpPr>
          <p:spPr>
            <a:xfrm>
              <a:off x="314554" y="2614270"/>
              <a:ext cx="3200400" cy="466344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8"/>
            <p:cNvSpPr/>
            <p:nvPr/>
          </p:nvSpPr>
          <p:spPr>
            <a:xfrm>
              <a:off x="314554" y="3081528"/>
              <a:ext cx="3200400" cy="466344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8"/>
            <p:cNvSpPr/>
            <p:nvPr/>
          </p:nvSpPr>
          <p:spPr>
            <a:xfrm>
              <a:off x="314554" y="3547872"/>
              <a:ext cx="3200400" cy="466344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8"/>
            <p:cNvSpPr/>
            <p:nvPr/>
          </p:nvSpPr>
          <p:spPr>
            <a:xfrm>
              <a:off x="314554" y="4015130"/>
              <a:ext cx="3200400" cy="466344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8"/>
            <p:cNvSpPr/>
            <p:nvPr/>
          </p:nvSpPr>
          <p:spPr>
            <a:xfrm>
              <a:off x="314554" y="4481474"/>
              <a:ext cx="3200400" cy="466344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8"/>
            <p:cNvSpPr txBox="1"/>
            <p:nvPr/>
          </p:nvSpPr>
          <p:spPr>
            <a:xfrm>
              <a:off x="466344" y="1800454"/>
              <a:ext cx="5431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전처리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28"/>
            <p:cNvSpPr txBox="1"/>
            <p:nvPr/>
          </p:nvSpPr>
          <p:spPr>
            <a:xfrm>
              <a:off x="466344" y="2266798"/>
              <a:ext cx="5340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최적 k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28"/>
            <p:cNvSpPr txBox="1"/>
            <p:nvPr/>
          </p:nvSpPr>
          <p:spPr>
            <a:xfrm>
              <a:off x="466344" y="2734056"/>
              <a:ext cx="8668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Silhouette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28"/>
            <p:cNvSpPr txBox="1"/>
            <p:nvPr/>
          </p:nvSpPr>
          <p:spPr>
            <a:xfrm>
              <a:off x="466344" y="3200400"/>
              <a:ext cx="8668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PC1 설명력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28"/>
            <p:cNvSpPr txBox="1"/>
            <p:nvPr/>
          </p:nvSpPr>
          <p:spPr>
            <a:xfrm>
              <a:off x="466344" y="3666744"/>
              <a:ext cx="8668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PC2 설명력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28"/>
            <p:cNvSpPr txBox="1"/>
            <p:nvPr/>
          </p:nvSpPr>
          <p:spPr>
            <a:xfrm>
              <a:off x="466344" y="4134002"/>
              <a:ext cx="7242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총 설명력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28"/>
            <p:cNvSpPr txBox="1"/>
            <p:nvPr/>
          </p:nvSpPr>
          <p:spPr>
            <a:xfrm>
              <a:off x="466344" y="4600346"/>
              <a:ext cx="7242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군집 분리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28"/>
            <p:cNvSpPr txBox="1"/>
            <p:nvPr/>
          </p:nvSpPr>
          <p:spPr>
            <a:xfrm>
              <a:off x="4705502" y="1800454"/>
              <a:ext cx="4005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기본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28"/>
            <p:cNvSpPr txBox="1"/>
            <p:nvPr/>
          </p:nvSpPr>
          <p:spPr>
            <a:xfrm>
              <a:off x="7287768" y="1800454"/>
              <a:ext cx="7525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상위 20%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28"/>
            <p:cNvSpPr txBox="1"/>
            <p:nvPr/>
          </p:nvSpPr>
          <p:spPr>
            <a:xfrm>
              <a:off x="10137038" y="1800454"/>
              <a:ext cx="7525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상위 10%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28"/>
            <p:cNvSpPr txBox="1"/>
            <p:nvPr/>
          </p:nvSpPr>
          <p:spPr>
            <a:xfrm>
              <a:off x="4761281" y="2266798"/>
              <a:ext cx="286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28"/>
            <p:cNvSpPr txBox="1"/>
            <p:nvPr/>
          </p:nvSpPr>
          <p:spPr>
            <a:xfrm>
              <a:off x="7519111" y="2266798"/>
              <a:ext cx="286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10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28"/>
            <p:cNvSpPr txBox="1"/>
            <p:nvPr/>
          </p:nvSpPr>
          <p:spPr>
            <a:xfrm>
              <a:off x="10369296" y="2266798"/>
              <a:ext cx="2862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22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28"/>
            <p:cNvSpPr txBox="1"/>
            <p:nvPr/>
          </p:nvSpPr>
          <p:spPr>
            <a:xfrm>
              <a:off x="4655210" y="2734056"/>
              <a:ext cx="4956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0.489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28"/>
            <p:cNvSpPr txBox="1"/>
            <p:nvPr/>
          </p:nvSpPr>
          <p:spPr>
            <a:xfrm>
              <a:off x="10263226" y="2734056"/>
              <a:ext cx="4956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0.503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28"/>
            <p:cNvSpPr txBox="1"/>
            <p:nvPr/>
          </p:nvSpPr>
          <p:spPr>
            <a:xfrm>
              <a:off x="4627778" y="3200400"/>
              <a:ext cx="553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4.34%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28"/>
            <p:cNvSpPr txBox="1"/>
            <p:nvPr/>
          </p:nvSpPr>
          <p:spPr>
            <a:xfrm>
              <a:off x="7385609" y="3200400"/>
              <a:ext cx="553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5.76%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28"/>
            <p:cNvSpPr txBox="1"/>
            <p:nvPr/>
          </p:nvSpPr>
          <p:spPr>
            <a:xfrm>
              <a:off x="4627778" y="3666744"/>
              <a:ext cx="553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3.80%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28"/>
            <p:cNvSpPr txBox="1"/>
            <p:nvPr/>
          </p:nvSpPr>
          <p:spPr>
            <a:xfrm>
              <a:off x="7385609" y="3666744"/>
              <a:ext cx="553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4.88%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28"/>
            <p:cNvSpPr txBox="1"/>
            <p:nvPr/>
          </p:nvSpPr>
          <p:spPr>
            <a:xfrm>
              <a:off x="4627778" y="4134002"/>
              <a:ext cx="5532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8.14%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28"/>
            <p:cNvSpPr txBox="1"/>
            <p:nvPr/>
          </p:nvSpPr>
          <p:spPr>
            <a:xfrm>
              <a:off x="7343546" y="4134002"/>
              <a:ext cx="638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10.64%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28"/>
            <p:cNvSpPr txBox="1"/>
            <p:nvPr/>
          </p:nvSpPr>
          <p:spPr>
            <a:xfrm>
              <a:off x="4635094" y="4600346"/>
              <a:ext cx="5431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불명확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28"/>
            <p:cNvSpPr txBox="1"/>
            <p:nvPr/>
          </p:nvSpPr>
          <p:spPr>
            <a:xfrm>
              <a:off x="7463333" y="4600346"/>
              <a:ext cx="4005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개선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28"/>
            <p:cNvSpPr txBox="1"/>
            <p:nvPr/>
          </p:nvSpPr>
          <p:spPr>
            <a:xfrm>
              <a:off x="10313518" y="4600346"/>
              <a:ext cx="4005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밀집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28"/>
            <p:cNvSpPr txBox="1"/>
            <p:nvPr/>
          </p:nvSpPr>
          <p:spPr>
            <a:xfrm>
              <a:off x="7286854" y="2734056"/>
              <a:ext cx="7525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891B2"/>
                </a:buClr>
                <a:buSzPts val="1200"/>
                <a:buFont typeface="Noto Sans KR"/>
                <a:buNone/>
              </a:pPr>
              <a:r>
                <a:rPr b="1" lang="en-US" sz="1200">
                  <a:solidFill>
                    <a:srgbClr val="0891B2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0.523 ✅</a:t>
              </a:r>
              <a:endParaRPr sz="1200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28"/>
            <p:cNvSpPr txBox="1"/>
            <p:nvPr/>
          </p:nvSpPr>
          <p:spPr>
            <a:xfrm>
              <a:off x="10229393" y="3200400"/>
              <a:ext cx="571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5.10%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28"/>
            <p:cNvSpPr txBox="1"/>
            <p:nvPr/>
          </p:nvSpPr>
          <p:spPr>
            <a:xfrm>
              <a:off x="10185502" y="3666744"/>
              <a:ext cx="6574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11.21%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28"/>
            <p:cNvSpPr txBox="1"/>
            <p:nvPr/>
          </p:nvSpPr>
          <p:spPr>
            <a:xfrm>
              <a:off x="10185502" y="4134002"/>
              <a:ext cx="6574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16.31%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4" name="Google Shape;1344;p28"/>
          <p:cNvGrpSpPr/>
          <p:nvPr/>
        </p:nvGrpSpPr>
        <p:grpSpPr>
          <a:xfrm>
            <a:off x="7011484" y="4663112"/>
            <a:ext cx="4350646" cy="1556704"/>
            <a:chOff x="7211738" y="5110186"/>
            <a:chExt cx="4350646" cy="1556704"/>
          </a:xfrm>
        </p:grpSpPr>
        <p:sp>
          <p:nvSpPr>
            <p:cNvPr id="1345" name="Google Shape;1345;p28"/>
            <p:cNvSpPr/>
            <p:nvPr/>
          </p:nvSpPr>
          <p:spPr>
            <a:xfrm>
              <a:off x="7211738" y="5110186"/>
              <a:ext cx="4350646" cy="1556704"/>
            </a:xfrm>
            <a:prstGeom prst="roundRect">
              <a:avLst>
                <a:gd fmla="val 501" name="adj"/>
              </a:avLst>
            </a:prstGeom>
            <a:solidFill>
              <a:srgbClr val="ECF8F1"/>
            </a:solidFill>
            <a:ln cap="flat" cmpd="sng" w="12700">
              <a:solidFill>
                <a:srgbClr val="A9DFB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algn="bl" dir="5400000" dist="25400">
                <a:srgbClr val="000000">
                  <a:alpha val="470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346" name="Google Shape;134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19287" y="5332031"/>
              <a:ext cx="180198" cy="142861"/>
            </a:xfrm>
            <a:prstGeom prst="rect">
              <a:avLst/>
            </a:prstGeom>
            <a:solidFill>
              <a:srgbClr val="ECF8F1"/>
            </a:solidFill>
            <a:ln>
              <a:noFill/>
            </a:ln>
          </p:spPr>
        </p:pic>
        <p:sp>
          <p:nvSpPr>
            <p:cNvPr id="1347" name="Google Shape;1347;p28"/>
            <p:cNvSpPr txBox="1"/>
            <p:nvPr/>
          </p:nvSpPr>
          <p:spPr>
            <a:xfrm>
              <a:off x="7934263" y="5310740"/>
              <a:ext cx="1458044" cy="186131"/>
            </a:xfrm>
            <a:prstGeom prst="rect">
              <a:avLst/>
            </a:prstGeom>
            <a:solidFill>
              <a:srgbClr val="ECF8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300"/>
                <a:buFont typeface="Noto Sans KR"/>
                <a:buNone/>
              </a:pPr>
              <a:r>
                <a:rPr b="1" lang="en-US" sz="13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분석 결론 및 한계점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28"/>
            <p:cNvSpPr txBox="1"/>
            <p:nvPr/>
          </p:nvSpPr>
          <p:spPr>
            <a:xfrm>
              <a:off x="7428322" y="5632863"/>
              <a:ext cx="3817944" cy="72119"/>
            </a:xfrm>
            <a:prstGeom prst="rect">
              <a:avLst/>
            </a:prstGeom>
            <a:solidFill>
              <a:srgbClr val="ECF8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1F293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2차 PCA가 Silhouette Score 측면에서 최선 (0.523)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28"/>
            <p:cNvSpPr txBox="1"/>
            <p:nvPr/>
          </p:nvSpPr>
          <p:spPr>
            <a:xfrm>
              <a:off x="7428321" y="5983147"/>
              <a:ext cx="4134063" cy="98074"/>
            </a:xfrm>
            <a:prstGeom prst="rect">
              <a:avLst/>
            </a:prstGeom>
            <a:solidFill>
              <a:srgbClr val="ECF8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1F293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하지만 모든 단계에서 PC1+PC2 총 설명력 &lt; 17% (매우 낮음)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28"/>
            <p:cNvSpPr txBox="1"/>
            <p:nvPr/>
          </p:nvSpPr>
          <p:spPr>
            <a:xfrm>
              <a:off x="7428322" y="6334116"/>
              <a:ext cx="1697153" cy="171708"/>
            </a:xfrm>
            <a:prstGeom prst="rect">
              <a:avLst/>
            </a:prstGeom>
            <a:solidFill>
              <a:srgbClr val="ECF8F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F2937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1F293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군집 분리가 명확하지 않음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1" name="Google Shape;1351;p28"/>
          <p:cNvSpPr/>
          <p:nvPr/>
        </p:nvSpPr>
        <p:spPr>
          <a:xfrm>
            <a:off x="554065" y="4663112"/>
            <a:ext cx="6357884" cy="1556704"/>
          </a:xfrm>
          <a:prstGeom prst="roundRect">
            <a:avLst>
              <a:gd fmla="val 249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8"/>
          <p:cNvSpPr/>
          <p:nvPr/>
        </p:nvSpPr>
        <p:spPr>
          <a:xfrm>
            <a:off x="554066" y="4663112"/>
            <a:ext cx="38405" cy="1556704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3" name="Google Shape;13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1071" y="4964332"/>
            <a:ext cx="152705" cy="201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28"/>
          <p:cNvSpPr txBox="1"/>
          <p:nvPr/>
        </p:nvSpPr>
        <p:spPr>
          <a:xfrm>
            <a:off x="1163971" y="4913727"/>
            <a:ext cx="866851" cy="301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변화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28"/>
          <p:cNvSpPr txBox="1"/>
          <p:nvPr/>
        </p:nvSpPr>
        <p:spPr>
          <a:xfrm>
            <a:off x="744261" y="5265552"/>
            <a:ext cx="6224825" cy="803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- 데이터 필터링을 강화할수록(10%) PC2 설명력이 크게 증가하며, 총 설명력은 16.31%까지 향상</a:t>
            </a:r>
            <a:endParaRPr sz="1200">
              <a:solidFill>
                <a:srgbClr val="37415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- 상위 20% 변수 선별이 최적의 Silhouette 점수(0.523)를 제공, 군집 분리도 개선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28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28"/>
          <p:cNvSpPr txBox="1"/>
          <p:nvPr/>
        </p:nvSpPr>
        <p:spPr>
          <a:xfrm>
            <a:off x="403757" y="385724"/>
            <a:ext cx="4839509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3.2.2.모델링 – PCA 분석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29"/>
          <p:cNvSpPr/>
          <p:nvPr/>
        </p:nvSpPr>
        <p:spPr>
          <a:xfrm>
            <a:off x="8117878" y="1149304"/>
            <a:ext cx="3764859" cy="3539557"/>
          </a:xfrm>
          <a:prstGeom prst="roundRect">
            <a:avLst>
              <a:gd fmla="val 603" name="adj"/>
            </a:avLst>
          </a:prstGeom>
          <a:solidFill>
            <a:srgbClr val="FFFFFF"/>
          </a:solidFill>
          <a:ln cap="flat" cmpd="sng" w="38100">
            <a:solidFill>
              <a:srgbClr val="A9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29"/>
          <p:cNvSpPr/>
          <p:nvPr/>
        </p:nvSpPr>
        <p:spPr>
          <a:xfrm>
            <a:off x="4213417" y="1149305"/>
            <a:ext cx="3764859" cy="3539556"/>
          </a:xfrm>
          <a:prstGeom prst="roundRect">
            <a:avLst>
              <a:gd fmla="val 603" name="adj"/>
            </a:avLst>
          </a:prstGeom>
          <a:solidFill>
            <a:srgbClr val="FFFFFF"/>
          </a:solidFill>
          <a:ln cap="flat" cmpd="sng" w="38100">
            <a:solidFill>
              <a:srgbClr val="A9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9"/>
          <p:cNvSpPr txBox="1"/>
          <p:nvPr/>
        </p:nvSpPr>
        <p:spPr>
          <a:xfrm>
            <a:off x="3678134" y="1811950"/>
            <a:ext cx="543154" cy="1627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Noto Sans KR"/>
              <a:buNone/>
            </a:pPr>
            <a:r>
              <a:rPr b="1" lang="en-US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최적 방법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9"/>
          <p:cNvSpPr txBox="1"/>
          <p:nvPr/>
        </p:nvSpPr>
        <p:spPr>
          <a:xfrm>
            <a:off x="5110310" y="1624374"/>
            <a:ext cx="193852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비선형 차원 축소 (perplexity=5)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29"/>
          <p:cNvSpPr txBox="1"/>
          <p:nvPr/>
        </p:nvSpPr>
        <p:spPr>
          <a:xfrm>
            <a:off x="4802157" y="4316403"/>
            <a:ext cx="79552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Silhouette: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29"/>
          <p:cNvSpPr txBox="1"/>
          <p:nvPr/>
        </p:nvSpPr>
        <p:spPr>
          <a:xfrm>
            <a:off x="6561462" y="4316403"/>
            <a:ext cx="51023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분리도: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29"/>
          <p:cNvSpPr txBox="1"/>
          <p:nvPr/>
        </p:nvSpPr>
        <p:spPr>
          <a:xfrm>
            <a:off x="5534591" y="4316403"/>
            <a:ext cx="976579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0.6835 (k=15)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9"/>
          <p:cNvSpPr txBox="1"/>
          <p:nvPr/>
        </p:nvSpPr>
        <p:spPr>
          <a:xfrm>
            <a:off x="7007690" y="4316403"/>
            <a:ext cx="3483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높음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29"/>
          <p:cNvSpPr txBox="1"/>
          <p:nvPr/>
        </p:nvSpPr>
        <p:spPr>
          <a:xfrm>
            <a:off x="9536695" y="1315430"/>
            <a:ext cx="695858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UMAP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9"/>
          <p:cNvSpPr txBox="1"/>
          <p:nvPr/>
        </p:nvSpPr>
        <p:spPr>
          <a:xfrm>
            <a:off x="9343756" y="1620840"/>
            <a:ext cx="10341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비선형 차원 축소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29"/>
          <p:cNvSpPr txBox="1"/>
          <p:nvPr/>
        </p:nvSpPr>
        <p:spPr>
          <a:xfrm>
            <a:off x="8595777" y="4317405"/>
            <a:ext cx="795528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Silhouette: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29"/>
          <p:cNvSpPr txBox="1"/>
          <p:nvPr/>
        </p:nvSpPr>
        <p:spPr>
          <a:xfrm>
            <a:off x="10334052" y="4317405"/>
            <a:ext cx="51023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분리도: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29"/>
          <p:cNvSpPr txBox="1"/>
          <p:nvPr/>
        </p:nvSpPr>
        <p:spPr>
          <a:xfrm>
            <a:off x="9329126" y="4317405"/>
            <a:ext cx="957377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≈0.62 (k=15)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9"/>
          <p:cNvSpPr txBox="1"/>
          <p:nvPr/>
        </p:nvSpPr>
        <p:spPr>
          <a:xfrm>
            <a:off x="10780279" y="4317405"/>
            <a:ext cx="348386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중상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29"/>
          <p:cNvSpPr txBox="1"/>
          <p:nvPr/>
        </p:nvSpPr>
        <p:spPr>
          <a:xfrm>
            <a:off x="571734" y="4997713"/>
            <a:ext cx="1886407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600"/>
              <a:buFont typeface="Noto Sans KR"/>
              <a:buNone/>
            </a:pPr>
            <a:r>
              <a:rPr b="1" lang="en-US" sz="16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비선형 차원 축소 비교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9"/>
          <p:cNvSpPr txBox="1"/>
          <p:nvPr/>
        </p:nvSpPr>
        <p:spPr>
          <a:xfrm>
            <a:off x="571734" y="5359815"/>
            <a:ext cx="2770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9"/>
          <p:cNvSpPr txBox="1"/>
          <p:nvPr/>
        </p:nvSpPr>
        <p:spPr>
          <a:xfrm>
            <a:off x="571734" y="5646022"/>
            <a:ext cx="2770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29"/>
          <p:cNvSpPr txBox="1"/>
          <p:nvPr/>
        </p:nvSpPr>
        <p:spPr>
          <a:xfrm>
            <a:off x="571734" y="5931315"/>
            <a:ext cx="2770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400"/>
              <a:buFont typeface="Noto Sans KR"/>
              <a:buNone/>
            </a:pPr>
            <a:r>
              <a:rPr b="1" lang="en-US" sz="14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29"/>
          <p:cNvSpPr txBox="1"/>
          <p:nvPr/>
        </p:nvSpPr>
        <p:spPr>
          <a:xfrm>
            <a:off x="848797" y="5331469"/>
            <a:ext cx="5451246" cy="295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t-SNE: 가장 뚜렷한 군집 분리, 최고 silhouette 점수(0.68+), 소형 군집도 안정적 검출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29"/>
          <p:cNvSpPr txBox="1"/>
          <p:nvPr/>
        </p:nvSpPr>
        <p:spPr>
          <a:xfrm>
            <a:off x="848797" y="5613103"/>
            <a:ext cx="5324246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UMAP: 높은 분리도, 군집 구조 보존 양호, t-SNE와 유사한 패턴이나 성능은 다소 낮음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29"/>
          <p:cNvSpPr txBox="1"/>
          <p:nvPr/>
        </p:nvSpPr>
        <p:spPr>
          <a:xfrm>
            <a:off x="848797" y="5917598"/>
            <a:ext cx="4473346" cy="28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PCA: 낮은 설명력, 샘플 밀집도 높음, 복잡한 비선형 관계 포착 어려움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29"/>
          <p:cNvSpPr txBox="1"/>
          <p:nvPr/>
        </p:nvSpPr>
        <p:spPr>
          <a:xfrm>
            <a:off x="5620954" y="1323421"/>
            <a:ext cx="777922" cy="297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t-SNE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4" name="Google Shape;138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5576" y="1813797"/>
            <a:ext cx="3316419" cy="2381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1513" y="1821391"/>
            <a:ext cx="3292946" cy="2374134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29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7" name="Google Shape;1387;p29"/>
          <p:cNvGrpSpPr/>
          <p:nvPr/>
        </p:nvGrpSpPr>
        <p:grpSpPr>
          <a:xfrm>
            <a:off x="4754446" y="1350854"/>
            <a:ext cx="658493" cy="228600"/>
            <a:chOff x="7467406" y="1488043"/>
            <a:chExt cx="658493" cy="228600"/>
          </a:xfrm>
        </p:grpSpPr>
        <p:sp>
          <p:nvSpPr>
            <p:cNvPr id="1388" name="Google Shape;1388;p29"/>
            <p:cNvSpPr/>
            <p:nvPr/>
          </p:nvSpPr>
          <p:spPr>
            <a:xfrm>
              <a:off x="7467406" y="1488043"/>
              <a:ext cx="647395" cy="228600"/>
            </a:xfrm>
            <a:prstGeom prst="roundRect">
              <a:avLst>
                <a:gd fmla="val 200000" name="adj"/>
              </a:avLst>
            </a:prstGeom>
            <a:solidFill>
              <a:srgbClr val="0A4B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9"/>
            <p:cNvSpPr txBox="1"/>
            <p:nvPr/>
          </p:nvSpPr>
          <p:spPr>
            <a:xfrm>
              <a:off x="7582745" y="1515038"/>
              <a:ext cx="543154" cy="16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Noto Sans KR"/>
                <a:buNone/>
              </a:pPr>
              <a:r>
                <a:rPr b="1" lang="en-US" sz="900">
                  <a:solidFill>
                    <a:srgbClr val="FFFFFF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최적 모델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0" name="Google Shape;1390;p29"/>
          <p:cNvSpPr/>
          <p:nvPr/>
        </p:nvSpPr>
        <p:spPr>
          <a:xfrm>
            <a:off x="304118" y="1144436"/>
            <a:ext cx="3764859" cy="3544425"/>
          </a:xfrm>
          <a:prstGeom prst="roundRect">
            <a:avLst>
              <a:gd fmla="val 603" name="adj"/>
            </a:avLst>
          </a:prstGeom>
          <a:solidFill>
            <a:srgbClr val="FFFFFF"/>
          </a:solidFill>
          <a:ln cap="flat" cmpd="sng" w="38100">
            <a:solidFill>
              <a:srgbClr val="A9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1" name="Google Shape;1391;p29"/>
          <p:cNvGrpSpPr/>
          <p:nvPr/>
        </p:nvGrpSpPr>
        <p:grpSpPr>
          <a:xfrm>
            <a:off x="555457" y="1286410"/>
            <a:ext cx="3373580" cy="3300478"/>
            <a:chOff x="758157" y="1762288"/>
            <a:chExt cx="3373580" cy="3300478"/>
          </a:xfrm>
        </p:grpSpPr>
        <p:sp>
          <p:nvSpPr>
            <p:cNvPr id="1392" name="Google Shape;1392;p29"/>
            <p:cNvSpPr txBox="1"/>
            <p:nvPr/>
          </p:nvSpPr>
          <p:spPr>
            <a:xfrm>
              <a:off x="2061514" y="1762288"/>
              <a:ext cx="514807" cy="277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A4B78"/>
                </a:buClr>
                <a:buSzPts val="1500"/>
                <a:buFont typeface="Noto Sans KR"/>
                <a:buNone/>
              </a:pPr>
              <a:r>
                <a:rPr b="1" lang="en-US" sz="1500">
                  <a:solidFill>
                    <a:srgbClr val="0A4B7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PCA</a:t>
              </a:r>
              <a:endPara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29"/>
            <p:cNvSpPr txBox="1"/>
            <p:nvPr/>
          </p:nvSpPr>
          <p:spPr>
            <a:xfrm>
              <a:off x="1904123" y="2067698"/>
              <a:ext cx="91988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55555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선형 차원 축소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29"/>
            <p:cNvSpPr txBox="1"/>
            <p:nvPr/>
          </p:nvSpPr>
          <p:spPr>
            <a:xfrm>
              <a:off x="834053" y="4671403"/>
              <a:ext cx="480735" cy="391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3333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설명력: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29"/>
            <p:cNvSpPr txBox="1"/>
            <p:nvPr/>
          </p:nvSpPr>
          <p:spPr>
            <a:xfrm>
              <a:off x="2508081" y="4771072"/>
              <a:ext cx="795528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33333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Silhouette: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29"/>
            <p:cNvSpPr txBox="1"/>
            <p:nvPr/>
          </p:nvSpPr>
          <p:spPr>
            <a:xfrm>
              <a:off x="1397999" y="4671403"/>
              <a:ext cx="965642" cy="391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A4B78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0A4B7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PC1+PC2 ≈ 8%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29"/>
            <p:cNvSpPr txBox="1"/>
            <p:nvPr/>
          </p:nvSpPr>
          <p:spPr>
            <a:xfrm>
              <a:off x="3240514" y="4671403"/>
              <a:ext cx="891223" cy="3913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A4B78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0A4B78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0.4888 (k=10)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98" name="Google Shape;1398;p2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flipH="1">
              <a:off x="758157" y="2291150"/>
              <a:ext cx="3254720" cy="23793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9" name="Google Shape;1399;p29"/>
          <p:cNvSpPr/>
          <p:nvPr/>
        </p:nvSpPr>
        <p:spPr>
          <a:xfrm>
            <a:off x="7071697" y="5021418"/>
            <a:ext cx="4079828" cy="1182387"/>
          </a:xfrm>
          <a:prstGeom prst="roundRect">
            <a:avLst>
              <a:gd fmla="val 501" name="adj"/>
            </a:avLst>
          </a:prstGeom>
          <a:solidFill>
            <a:srgbClr val="ECF8F1"/>
          </a:solidFill>
          <a:ln cap="flat" cmpd="sng" w="12700">
            <a:solidFill>
              <a:srgbClr val="A9DFB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29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29"/>
          <p:cNvSpPr txBox="1"/>
          <p:nvPr/>
        </p:nvSpPr>
        <p:spPr>
          <a:xfrm>
            <a:off x="377242" y="609314"/>
            <a:ext cx="6011161" cy="1818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3.2.2.모델링 – 모델 비교(PCA / t-SNE / UMAP)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29"/>
          <p:cNvSpPr/>
          <p:nvPr/>
        </p:nvSpPr>
        <p:spPr>
          <a:xfrm>
            <a:off x="7501782" y="5418749"/>
            <a:ext cx="31550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뚜렷한 군집 분리의 t-SNE 채택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30"/>
          <p:cNvSpPr/>
          <p:nvPr/>
        </p:nvSpPr>
        <p:spPr>
          <a:xfrm>
            <a:off x="8118031" y="1135878"/>
            <a:ext cx="3764859" cy="4914603"/>
          </a:xfrm>
          <a:prstGeom prst="roundRect">
            <a:avLst>
              <a:gd fmla="val 603" name="adj"/>
            </a:avLst>
          </a:prstGeom>
          <a:solidFill>
            <a:srgbClr val="FFFFFF"/>
          </a:solidFill>
          <a:ln cap="flat" cmpd="sng" w="38100">
            <a:solidFill>
              <a:srgbClr val="A9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30"/>
          <p:cNvSpPr/>
          <p:nvPr/>
        </p:nvSpPr>
        <p:spPr>
          <a:xfrm>
            <a:off x="304271" y="1131010"/>
            <a:ext cx="3764859" cy="4919471"/>
          </a:xfrm>
          <a:prstGeom prst="roundRect">
            <a:avLst>
              <a:gd fmla="val 603" name="adj"/>
            </a:avLst>
          </a:prstGeom>
          <a:solidFill>
            <a:srgbClr val="FFFFFF"/>
          </a:solidFill>
          <a:ln cap="flat" cmpd="sng" w="38100">
            <a:solidFill>
              <a:srgbClr val="A9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30"/>
          <p:cNvSpPr/>
          <p:nvPr/>
        </p:nvSpPr>
        <p:spPr>
          <a:xfrm>
            <a:off x="4213570" y="1135878"/>
            <a:ext cx="3764859" cy="4917505"/>
          </a:xfrm>
          <a:prstGeom prst="roundRect">
            <a:avLst>
              <a:gd fmla="val 603" name="adj"/>
            </a:avLst>
          </a:prstGeom>
          <a:solidFill>
            <a:srgbClr val="FFFFFF"/>
          </a:solidFill>
          <a:ln cap="flat" cmpd="sng" w="38100">
            <a:solidFill>
              <a:srgbClr val="A9CC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30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30"/>
          <p:cNvSpPr txBox="1"/>
          <p:nvPr/>
        </p:nvSpPr>
        <p:spPr>
          <a:xfrm>
            <a:off x="908762" y="1242567"/>
            <a:ext cx="2652739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0"/>
          <p:cNvSpPr txBox="1"/>
          <p:nvPr/>
        </p:nvSpPr>
        <p:spPr>
          <a:xfrm>
            <a:off x="868658" y="1314757"/>
            <a:ext cx="2652739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600"/>
              <a:buFont typeface="Noto Sans KR"/>
              <a:buNone/>
            </a:pPr>
            <a:r>
              <a:rPr b="1" lang="en-US" sz="16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마커 + 고분산 SNP 20%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3" name="Google Shape;14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409" y="1800371"/>
            <a:ext cx="3316419" cy="3908127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30"/>
          <p:cNvSpPr txBox="1"/>
          <p:nvPr/>
        </p:nvSpPr>
        <p:spPr>
          <a:xfrm>
            <a:off x="4815014" y="1314757"/>
            <a:ext cx="2652739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600"/>
              <a:buFont typeface="Noto Sans KR"/>
              <a:buNone/>
            </a:pPr>
            <a:r>
              <a:rPr b="1" lang="en-US" sz="16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품종 마커 + 고분산 SNP 20%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5" name="Google Shape;1415;p30"/>
          <p:cNvSpPr txBox="1"/>
          <p:nvPr/>
        </p:nvSpPr>
        <p:spPr>
          <a:xfrm>
            <a:off x="1035122" y="11204633"/>
            <a:ext cx="1386613" cy="186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6" name="Google Shape;1416;p30"/>
          <p:cNvPicPr preferRelativeResize="0"/>
          <p:nvPr/>
        </p:nvPicPr>
        <p:blipFill rotWithShape="1">
          <a:blip r:embed="rId4">
            <a:alphaModFix/>
          </a:blip>
          <a:srcRect b="1164" l="3252" r="12431" t="1"/>
          <a:stretch/>
        </p:blipFill>
        <p:spPr>
          <a:xfrm>
            <a:off x="4389290" y="1800371"/>
            <a:ext cx="3311442" cy="3908127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30"/>
          <p:cNvSpPr txBox="1"/>
          <p:nvPr/>
        </p:nvSpPr>
        <p:spPr>
          <a:xfrm>
            <a:off x="8674090" y="1332829"/>
            <a:ext cx="2652739" cy="3054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4B78"/>
              </a:buClr>
              <a:buSzPts val="1600"/>
              <a:buFont typeface="Noto Sans KR"/>
              <a:buNone/>
            </a:pPr>
            <a:r>
              <a:rPr b="1" lang="en-US" sz="1600">
                <a:solidFill>
                  <a:srgbClr val="0A4B78"/>
                </a:solidFill>
                <a:latin typeface="Noto Sans KR"/>
                <a:ea typeface="Noto Sans KR"/>
                <a:cs typeface="Noto Sans KR"/>
                <a:sym typeface="Noto Sans KR"/>
              </a:rPr>
              <a:t>품종 마커 + 고분산 SNP 20% + 하이퍼 파라미터 튜닝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8" name="Google Shape;141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151" y="1800925"/>
            <a:ext cx="3253662" cy="3907573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30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30"/>
          <p:cNvSpPr txBox="1"/>
          <p:nvPr/>
        </p:nvSpPr>
        <p:spPr>
          <a:xfrm>
            <a:off x="377242" y="659631"/>
            <a:ext cx="6874458" cy="134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3.2.2.모델링 – t-SNE(marker: all vs only breed)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31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31"/>
          <p:cNvSpPr/>
          <p:nvPr/>
        </p:nvSpPr>
        <p:spPr>
          <a:xfrm>
            <a:off x="443331" y="1113343"/>
            <a:ext cx="11305032" cy="4721498"/>
          </a:xfrm>
          <a:prstGeom prst="roundRect">
            <a:avLst>
              <a:gd fmla="val 191" name="adj"/>
            </a:avLst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31"/>
          <p:cNvSpPr/>
          <p:nvPr/>
        </p:nvSpPr>
        <p:spPr>
          <a:xfrm>
            <a:off x="453149" y="1124472"/>
            <a:ext cx="11286289" cy="589807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31"/>
          <p:cNvSpPr txBox="1"/>
          <p:nvPr/>
        </p:nvSpPr>
        <p:spPr>
          <a:xfrm>
            <a:off x="564709" y="1313654"/>
            <a:ext cx="340034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구분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9" name="Google Shape;1429;p31"/>
          <p:cNvSpPr txBox="1"/>
          <p:nvPr/>
        </p:nvSpPr>
        <p:spPr>
          <a:xfrm>
            <a:off x="4171216" y="1208441"/>
            <a:ext cx="61848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마커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31"/>
          <p:cNvSpPr txBox="1"/>
          <p:nvPr/>
        </p:nvSpPr>
        <p:spPr>
          <a:xfrm>
            <a:off x="4091785" y="1418870"/>
            <a:ext cx="776457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고분산 20%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31"/>
          <p:cNvSpPr txBox="1"/>
          <p:nvPr/>
        </p:nvSpPr>
        <p:spPr>
          <a:xfrm>
            <a:off x="7094977" y="1208441"/>
            <a:ext cx="61848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품종 마커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31"/>
          <p:cNvSpPr txBox="1"/>
          <p:nvPr/>
        </p:nvSpPr>
        <p:spPr>
          <a:xfrm>
            <a:off x="7015547" y="1418870"/>
            <a:ext cx="776457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고분산 20%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31"/>
          <p:cNvSpPr txBox="1"/>
          <p:nvPr/>
        </p:nvSpPr>
        <p:spPr>
          <a:xfrm>
            <a:off x="9496097" y="1328536"/>
            <a:ext cx="1700088" cy="153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품종 마커 + 고분산 20% + 하이퍼 파라미터 튜닝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4" name="Google Shape;1434;p31"/>
          <p:cNvSpPr/>
          <p:nvPr/>
        </p:nvSpPr>
        <p:spPr>
          <a:xfrm>
            <a:off x="453149" y="1714279"/>
            <a:ext cx="11286289" cy="41104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31"/>
          <p:cNvSpPr/>
          <p:nvPr/>
        </p:nvSpPr>
        <p:spPr>
          <a:xfrm>
            <a:off x="453149" y="2093659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31"/>
          <p:cNvSpPr/>
          <p:nvPr/>
        </p:nvSpPr>
        <p:spPr>
          <a:xfrm>
            <a:off x="453149" y="2478096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1"/>
          <p:cNvSpPr/>
          <p:nvPr/>
        </p:nvSpPr>
        <p:spPr>
          <a:xfrm>
            <a:off x="453149" y="2868604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31"/>
          <p:cNvSpPr/>
          <p:nvPr/>
        </p:nvSpPr>
        <p:spPr>
          <a:xfrm>
            <a:off x="453149" y="3469540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1"/>
          <p:cNvSpPr/>
          <p:nvPr/>
        </p:nvSpPr>
        <p:spPr>
          <a:xfrm>
            <a:off x="453149" y="3859035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1"/>
          <p:cNvSpPr/>
          <p:nvPr/>
        </p:nvSpPr>
        <p:spPr>
          <a:xfrm>
            <a:off x="453149" y="4248531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31"/>
          <p:cNvSpPr/>
          <p:nvPr/>
        </p:nvSpPr>
        <p:spPr>
          <a:xfrm>
            <a:off x="453149" y="4639038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31"/>
          <p:cNvSpPr/>
          <p:nvPr/>
        </p:nvSpPr>
        <p:spPr>
          <a:xfrm>
            <a:off x="453149" y="5028534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31"/>
          <p:cNvSpPr/>
          <p:nvPr/>
        </p:nvSpPr>
        <p:spPr>
          <a:xfrm>
            <a:off x="453149" y="5419042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31"/>
          <p:cNvSpPr/>
          <p:nvPr/>
        </p:nvSpPr>
        <p:spPr>
          <a:xfrm>
            <a:off x="453149" y="5808538"/>
            <a:ext cx="11286289" cy="10117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31"/>
          <p:cNvSpPr/>
          <p:nvPr/>
        </p:nvSpPr>
        <p:spPr>
          <a:xfrm>
            <a:off x="453149" y="1714279"/>
            <a:ext cx="2519468" cy="38949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31"/>
          <p:cNvSpPr/>
          <p:nvPr/>
        </p:nvSpPr>
        <p:spPr>
          <a:xfrm>
            <a:off x="453149" y="2098718"/>
            <a:ext cx="2519468" cy="38949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31"/>
          <p:cNvSpPr/>
          <p:nvPr/>
        </p:nvSpPr>
        <p:spPr>
          <a:xfrm>
            <a:off x="453149" y="2489225"/>
            <a:ext cx="2519468" cy="38949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31"/>
          <p:cNvSpPr/>
          <p:nvPr/>
        </p:nvSpPr>
        <p:spPr>
          <a:xfrm>
            <a:off x="453149" y="2878719"/>
            <a:ext cx="2519468" cy="60093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31"/>
          <p:cNvSpPr/>
          <p:nvPr/>
        </p:nvSpPr>
        <p:spPr>
          <a:xfrm>
            <a:off x="453149" y="3479657"/>
            <a:ext cx="2519468" cy="38949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31"/>
          <p:cNvSpPr/>
          <p:nvPr/>
        </p:nvSpPr>
        <p:spPr>
          <a:xfrm>
            <a:off x="453149" y="3869152"/>
            <a:ext cx="2519468" cy="38949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31"/>
          <p:cNvSpPr/>
          <p:nvPr/>
        </p:nvSpPr>
        <p:spPr>
          <a:xfrm>
            <a:off x="453149" y="4259659"/>
            <a:ext cx="2519468" cy="38949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1"/>
          <p:cNvSpPr/>
          <p:nvPr/>
        </p:nvSpPr>
        <p:spPr>
          <a:xfrm>
            <a:off x="453149" y="4649155"/>
            <a:ext cx="2519468" cy="38949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31"/>
          <p:cNvSpPr/>
          <p:nvPr/>
        </p:nvSpPr>
        <p:spPr>
          <a:xfrm>
            <a:off x="453149" y="5039663"/>
            <a:ext cx="2519468" cy="38949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31"/>
          <p:cNvSpPr/>
          <p:nvPr/>
        </p:nvSpPr>
        <p:spPr>
          <a:xfrm>
            <a:off x="453149" y="5429159"/>
            <a:ext cx="2519468" cy="389496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31"/>
          <p:cNvSpPr txBox="1"/>
          <p:nvPr/>
        </p:nvSpPr>
        <p:spPr>
          <a:xfrm>
            <a:off x="564709" y="1798248"/>
            <a:ext cx="581897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데이터셋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31"/>
          <p:cNvSpPr txBox="1"/>
          <p:nvPr/>
        </p:nvSpPr>
        <p:spPr>
          <a:xfrm>
            <a:off x="564709" y="2188755"/>
            <a:ext cx="980835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피쳐 엔지니어링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31"/>
          <p:cNvSpPr txBox="1"/>
          <p:nvPr/>
        </p:nvSpPr>
        <p:spPr>
          <a:xfrm>
            <a:off x="564709" y="2578251"/>
            <a:ext cx="73986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결측치 처리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31"/>
          <p:cNvSpPr txBox="1"/>
          <p:nvPr/>
        </p:nvSpPr>
        <p:spPr>
          <a:xfrm>
            <a:off x="564709" y="3073973"/>
            <a:ext cx="944243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Perplexity (P)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1"/>
          <p:cNvSpPr txBox="1"/>
          <p:nvPr/>
        </p:nvSpPr>
        <p:spPr>
          <a:xfrm>
            <a:off x="564709" y="3568684"/>
            <a:ext cx="655973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max_iter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31"/>
          <p:cNvSpPr txBox="1"/>
          <p:nvPr/>
        </p:nvSpPr>
        <p:spPr>
          <a:xfrm>
            <a:off x="564709" y="3959191"/>
            <a:ext cx="93442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learning_rate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31"/>
          <p:cNvSpPr txBox="1"/>
          <p:nvPr/>
        </p:nvSpPr>
        <p:spPr>
          <a:xfrm>
            <a:off x="564709" y="4348687"/>
            <a:ext cx="73986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K 탐색 범위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31"/>
          <p:cNvSpPr txBox="1"/>
          <p:nvPr/>
        </p:nvSpPr>
        <p:spPr>
          <a:xfrm>
            <a:off x="564709" y="4739195"/>
            <a:ext cx="832683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KMeans init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31"/>
          <p:cNvSpPr txBox="1"/>
          <p:nvPr/>
        </p:nvSpPr>
        <p:spPr>
          <a:xfrm>
            <a:off x="564709" y="5128691"/>
            <a:ext cx="46051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최적 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31"/>
          <p:cNvSpPr txBox="1"/>
          <p:nvPr/>
        </p:nvSpPr>
        <p:spPr>
          <a:xfrm>
            <a:off x="564709" y="5519198"/>
            <a:ext cx="112987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Silhouette Score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31"/>
          <p:cNvSpPr txBox="1"/>
          <p:nvPr/>
        </p:nvSpPr>
        <p:spPr>
          <a:xfrm>
            <a:off x="4171216" y="1798248"/>
            <a:ext cx="61848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마커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31"/>
          <p:cNvSpPr txBox="1"/>
          <p:nvPr/>
        </p:nvSpPr>
        <p:spPr>
          <a:xfrm>
            <a:off x="7035182" y="1798248"/>
            <a:ext cx="73986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품종 마커만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31"/>
          <p:cNvSpPr txBox="1"/>
          <p:nvPr/>
        </p:nvSpPr>
        <p:spPr>
          <a:xfrm>
            <a:off x="9958942" y="1798248"/>
            <a:ext cx="73986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품종 마커만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31"/>
          <p:cNvSpPr txBox="1"/>
          <p:nvPr/>
        </p:nvSpPr>
        <p:spPr>
          <a:xfrm>
            <a:off x="3815114" y="2188755"/>
            <a:ext cx="1599130" cy="192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고분산 SNP 상위 20%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31"/>
          <p:cNvSpPr txBox="1"/>
          <p:nvPr/>
        </p:nvSpPr>
        <p:spPr>
          <a:xfrm>
            <a:off x="6739770" y="2188755"/>
            <a:ext cx="1434603" cy="246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고분산 SNP 상위 20%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31"/>
          <p:cNvSpPr txBox="1"/>
          <p:nvPr/>
        </p:nvSpPr>
        <p:spPr>
          <a:xfrm>
            <a:off x="9663532" y="2188755"/>
            <a:ext cx="1434603" cy="194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고분산 SNP 상위 20%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31"/>
          <p:cNvSpPr txBox="1"/>
          <p:nvPr/>
        </p:nvSpPr>
        <p:spPr>
          <a:xfrm>
            <a:off x="3990043" y="2578251"/>
            <a:ext cx="980835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Most Frequent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31"/>
          <p:cNvSpPr txBox="1"/>
          <p:nvPr/>
        </p:nvSpPr>
        <p:spPr>
          <a:xfrm>
            <a:off x="6914697" y="2578251"/>
            <a:ext cx="980835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Most Frequent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31"/>
          <p:cNvSpPr txBox="1"/>
          <p:nvPr/>
        </p:nvSpPr>
        <p:spPr>
          <a:xfrm>
            <a:off x="10053545" y="2578251"/>
            <a:ext cx="55333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Median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31"/>
          <p:cNvSpPr txBox="1"/>
          <p:nvPr/>
        </p:nvSpPr>
        <p:spPr>
          <a:xfrm>
            <a:off x="4146227" y="3073973"/>
            <a:ext cx="664897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5~40 탐색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31"/>
          <p:cNvSpPr txBox="1"/>
          <p:nvPr/>
        </p:nvSpPr>
        <p:spPr>
          <a:xfrm>
            <a:off x="7069988" y="3073973"/>
            <a:ext cx="664897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5~40 탐색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31"/>
          <p:cNvSpPr txBox="1"/>
          <p:nvPr/>
        </p:nvSpPr>
        <p:spPr>
          <a:xfrm>
            <a:off x="9900931" y="2968759"/>
            <a:ext cx="85142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min(30, N-1)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31"/>
          <p:cNvSpPr txBox="1"/>
          <p:nvPr/>
        </p:nvSpPr>
        <p:spPr>
          <a:xfrm>
            <a:off x="10037480" y="3179188"/>
            <a:ext cx="581897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자동계산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31"/>
          <p:cNvSpPr txBox="1"/>
          <p:nvPr/>
        </p:nvSpPr>
        <p:spPr>
          <a:xfrm>
            <a:off x="4284561" y="3568684"/>
            <a:ext cx="39536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1000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31"/>
          <p:cNvSpPr txBox="1"/>
          <p:nvPr/>
        </p:nvSpPr>
        <p:spPr>
          <a:xfrm>
            <a:off x="7208322" y="3568684"/>
            <a:ext cx="39536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1000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31"/>
          <p:cNvSpPr txBox="1"/>
          <p:nvPr/>
        </p:nvSpPr>
        <p:spPr>
          <a:xfrm>
            <a:off x="10132084" y="3568684"/>
            <a:ext cx="39536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1500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31"/>
          <p:cNvSpPr txBox="1"/>
          <p:nvPr/>
        </p:nvSpPr>
        <p:spPr>
          <a:xfrm>
            <a:off x="4289915" y="3959191"/>
            <a:ext cx="37662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auto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31"/>
          <p:cNvSpPr txBox="1"/>
          <p:nvPr/>
        </p:nvSpPr>
        <p:spPr>
          <a:xfrm>
            <a:off x="7213678" y="3959191"/>
            <a:ext cx="37662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auto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31"/>
          <p:cNvSpPr txBox="1"/>
          <p:nvPr/>
        </p:nvSpPr>
        <p:spPr>
          <a:xfrm>
            <a:off x="10138331" y="3959191"/>
            <a:ext cx="376626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auto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31"/>
          <p:cNvSpPr txBox="1"/>
          <p:nvPr/>
        </p:nvSpPr>
        <p:spPr>
          <a:xfrm>
            <a:off x="4283668" y="4348687"/>
            <a:ext cx="39536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3~30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31"/>
          <p:cNvSpPr txBox="1"/>
          <p:nvPr/>
        </p:nvSpPr>
        <p:spPr>
          <a:xfrm>
            <a:off x="7208322" y="4348687"/>
            <a:ext cx="39536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3~30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6" name="Google Shape;1486;p31"/>
          <p:cNvSpPr txBox="1"/>
          <p:nvPr/>
        </p:nvSpPr>
        <p:spPr>
          <a:xfrm>
            <a:off x="10132084" y="4348687"/>
            <a:ext cx="39536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2~10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31"/>
          <p:cNvSpPr txBox="1"/>
          <p:nvPr/>
        </p:nvSpPr>
        <p:spPr>
          <a:xfrm>
            <a:off x="4248862" y="4739195"/>
            <a:ext cx="46051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기본값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31"/>
          <p:cNvSpPr txBox="1"/>
          <p:nvPr/>
        </p:nvSpPr>
        <p:spPr>
          <a:xfrm>
            <a:off x="7173516" y="4739195"/>
            <a:ext cx="46051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기본값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31"/>
          <p:cNvSpPr txBox="1"/>
          <p:nvPr/>
        </p:nvSpPr>
        <p:spPr>
          <a:xfrm>
            <a:off x="9944663" y="4739195"/>
            <a:ext cx="767532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k-means++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31"/>
          <p:cNvSpPr txBox="1"/>
          <p:nvPr/>
        </p:nvSpPr>
        <p:spPr>
          <a:xfrm>
            <a:off x="4355959" y="5128691"/>
            <a:ext cx="247217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1" name="Google Shape;1491;p31"/>
          <p:cNvSpPr txBox="1"/>
          <p:nvPr/>
        </p:nvSpPr>
        <p:spPr>
          <a:xfrm>
            <a:off x="7316313" y="5128691"/>
            <a:ext cx="17224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31"/>
          <p:cNvSpPr txBox="1"/>
          <p:nvPr/>
        </p:nvSpPr>
        <p:spPr>
          <a:xfrm>
            <a:off x="10240966" y="5128691"/>
            <a:ext cx="172248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3" name="Google Shape;1493;p31"/>
          <p:cNvSpPr txBox="1"/>
          <p:nvPr/>
        </p:nvSpPr>
        <p:spPr>
          <a:xfrm>
            <a:off x="10114235" y="5519198"/>
            <a:ext cx="423035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0.375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4" name="Google Shape;1494;p31"/>
          <p:cNvSpPr txBox="1"/>
          <p:nvPr/>
        </p:nvSpPr>
        <p:spPr>
          <a:xfrm>
            <a:off x="4254216" y="5519198"/>
            <a:ext cx="451594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0.796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1"/>
          <p:cNvSpPr txBox="1"/>
          <p:nvPr/>
        </p:nvSpPr>
        <p:spPr>
          <a:xfrm>
            <a:off x="7177978" y="5519198"/>
            <a:ext cx="451594" cy="21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0D9488"/>
                </a:solidFill>
                <a:latin typeface="Noto Sans KR"/>
                <a:ea typeface="Noto Sans KR"/>
                <a:cs typeface="Noto Sans KR"/>
                <a:sym typeface="Noto Sans KR"/>
              </a:rPr>
              <a:t>0.796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6" name="Google Shape;1496;p31"/>
          <p:cNvGrpSpPr/>
          <p:nvPr/>
        </p:nvGrpSpPr>
        <p:grpSpPr>
          <a:xfrm>
            <a:off x="388936" y="5906108"/>
            <a:ext cx="9852030" cy="533095"/>
            <a:chOff x="238658" y="5563210"/>
            <a:chExt cx="11582705" cy="533095"/>
          </a:xfrm>
        </p:grpSpPr>
        <p:sp>
          <p:nvSpPr>
            <p:cNvPr id="1497" name="Google Shape;1497;p31"/>
            <p:cNvSpPr/>
            <p:nvPr/>
          </p:nvSpPr>
          <p:spPr>
            <a:xfrm>
              <a:off x="238658" y="5563210"/>
              <a:ext cx="11582705" cy="533095"/>
            </a:xfrm>
            <a:prstGeom prst="roundRect">
              <a:avLst>
                <a:gd fmla="val 12252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1"/>
            <p:cNvSpPr txBox="1"/>
            <p:nvPr/>
          </p:nvSpPr>
          <p:spPr>
            <a:xfrm>
              <a:off x="658368" y="5715915"/>
              <a:ext cx="6924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Score가 높더라도 불균형 클러스터는 실용적이지 않음 → 믹스견 데이터라 분리가 어려움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reencoded.png" id="1499" name="Google Shape;1499;p31"/>
          <p:cNvPicPr preferRelativeResize="0"/>
          <p:nvPr/>
        </p:nvPicPr>
        <p:blipFill rotWithShape="1">
          <a:blip r:embed="rId3">
            <a:alphaModFix/>
          </a:blip>
          <a:srcRect b="-100" l="0" r="0" t="-100"/>
          <a:stretch/>
        </p:blipFill>
        <p:spPr>
          <a:xfrm>
            <a:off x="554022" y="6096304"/>
            <a:ext cx="114300" cy="152705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31"/>
          <p:cNvSpPr txBox="1"/>
          <p:nvPr/>
        </p:nvSpPr>
        <p:spPr>
          <a:xfrm>
            <a:off x="377242" y="659631"/>
            <a:ext cx="6874458" cy="134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3.2.2.모델링 – t-SNE(marker: all vs only breed)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32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32"/>
          <p:cNvSpPr/>
          <p:nvPr/>
        </p:nvSpPr>
        <p:spPr>
          <a:xfrm>
            <a:off x="377242" y="1208578"/>
            <a:ext cx="4579717" cy="3691851"/>
          </a:xfrm>
          <a:prstGeom prst="roundRect">
            <a:avLst>
              <a:gd fmla="val 377" name="adj"/>
            </a:avLst>
          </a:prstGeom>
          <a:solidFill>
            <a:srgbClr val="FFFFFF"/>
          </a:solidFill>
          <a:ln>
            <a:noFill/>
          </a:ln>
          <a:effectLst>
            <a:outerShdw blurRad="12700" rotWithShape="0" algn="bl" dir="16200000" dist="12700">
              <a:srgbClr val="000000">
                <a:alpha val="7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32"/>
          <p:cNvSpPr/>
          <p:nvPr/>
        </p:nvSpPr>
        <p:spPr>
          <a:xfrm>
            <a:off x="453113" y="1586556"/>
            <a:ext cx="4427974" cy="906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32"/>
          <p:cNvSpPr txBox="1"/>
          <p:nvPr/>
        </p:nvSpPr>
        <p:spPr>
          <a:xfrm>
            <a:off x="529899" y="1321881"/>
            <a:ext cx="866581" cy="226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방법론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9" name="Google Shape;1509;p32"/>
          <p:cNvSpPr/>
          <p:nvPr/>
        </p:nvSpPr>
        <p:spPr>
          <a:xfrm>
            <a:off x="453113" y="1632783"/>
            <a:ext cx="247725" cy="245640"/>
          </a:xfrm>
          <a:prstGeom prst="ellipse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32"/>
          <p:cNvSpPr txBox="1"/>
          <p:nvPr/>
        </p:nvSpPr>
        <p:spPr>
          <a:xfrm>
            <a:off x="542240" y="1653396"/>
            <a:ext cx="189222" cy="208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1" name="Google Shape;1511;p32"/>
          <p:cNvSpPr txBox="1"/>
          <p:nvPr/>
        </p:nvSpPr>
        <p:spPr>
          <a:xfrm>
            <a:off x="770689" y="1632783"/>
            <a:ext cx="1928783" cy="18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 전처리 및 품종명 추출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32"/>
          <p:cNvSpPr txBox="1"/>
          <p:nvPr/>
        </p:nvSpPr>
        <p:spPr>
          <a:xfrm>
            <a:off x="815139" y="1812254"/>
            <a:ext cx="2780739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ID 형식 필터링: 'b'로 시작하고 '_' 포함된 유효 행만 선택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32"/>
          <p:cNvSpPr txBox="1"/>
          <p:nvPr/>
        </p:nvSpPr>
        <p:spPr>
          <a:xfrm>
            <a:off x="815139" y="1963626"/>
            <a:ext cx="2390411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함수: extract_breed() 로 순수 품종명 추출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2"/>
          <p:cNvSpPr/>
          <p:nvPr/>
        </p:nvSpPr>
        <p:spPr>
          <a:xfrm>
            <a:off x="453113" y="2199296"/>
            <a:ext cx="247725" cy="245640"/>
          </a:xfrm>
          <a:prstGeom prst="ellipse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2"/>
          <p:cNvSpPr txBox="1"/>
          <p:nvPr/>
        </p:nvSpPr>
        <p:spPr>
          <a:xfrm>
            <a:off x="542240" y="2219909"/>
            <a:ext cx="189222" cy="208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32"/>
          <p:cNvSpPr txBox="1"/>
          <p:nvPr/>
        </p:nvSpPr>
        <p:spPr>
          <a:xfrm>
            <a:off x="770689" y="2199296"/>
            <a:ext cx="1471725" cy="18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마커 개수 QC 필터링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7" name="Google Shape;1517;p32"/>
          <p:cNvSpPr txBox="1"/>
          <p:nvPr/>
        </p:nvSpPr>
        <p:spPr>
          <a:xfrm>
            <a:off x="815139" y="2378767"/>
            <a:ext cx="2905058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MIN_MARKERS = Q1: 하위 25% 미만 마커 수의 품종 제외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32"/>
          <p:cNvSpPr txBox="1"/>
          <p:nvPr/>
        </p:nvSpPr>
        <p:spPr>
          <a:xfrm>
            <a:off x="815139" y="2530139"/>
            <a:ext cx="3418791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근거: 정보량 부족 품종 배제로 통계적 안정성 확보, 노이즈 영향 최소화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9" name="Google Shape;1519;p32"/>
          <p:cNvSpPr/>
          <p:nvPr/>
        </p:nvSpPr>
        <p:spPr>
          <a:xfrm>
            <a:off x="453113" y="2765808"/>
            <a:ext cx="247725" cy="245640"/>
          </a:xfrm>
          <a:prstGeom prst="ellipse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32"/>
          <p:cNvSpPr txBox="1"/>
          <p:nvPr/>
        </p:nvSpPr>
        <p:spPr>
          <a:xfrm>
            <a:off x="542240" y="2786422"/>
            <a:ext cx="189222" cy="208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32"/>
          <p:cNvSpPr txBox="1"/>
          <p:nvPr/>
        </p:nvSpPr>
        <p:spPr>
          <a:xfrm>
            <a:off x="770689" y="2765808"/>
            <a:ext cx="1804464" cy="18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품종 일치도 계산 및 가중치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32"/>
          <p:cNvSpPr txBox="1"/>
          <p:nvPr/>
        </p:nvSpPr>
        <p:spPr>
          <a:xfrm>
            <a:off x="815139" y="2945280"/>
            <a:ext cx="3123532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Raw Score: 유전자형 일치도 계산 (값 1,2 평균, 결측치 -1 제외)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32"/>
          <p:cNvSpPr/>
          <p:nvPr/>
        </p:nvSpPr>
        <p:spPr>
          <a:xfrm>
            <a:off x="827839" y="3143786"/>
            <a:ext cx="2569411" cy="204850"/>
          </a:xfrm>
          <a:prstGeom prst="rect">
            <a:avLst/>
          </a:prstGeom>
          <a:solidFill>
            <a:srgbClr val="ECFBFE">
              <a:alpha val="4705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32"/>
          <p:cNvSpPr txBox="1"/>
          <p:nvPr/>
        </p:nvSpPr>
        <p:spPr>
          <a:xfrm>
            <a:off x="913765" y="3194349"/>
            <a:ext cx="3228765" cy="1103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800"/>
              <a:buFont typeface="Noto Sans KR"/>
              <a:buNone/>
            </a:pPr>
            <a:r>
              <a:rPr lang="en-US" sz="8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Normalized Score = Raw Score × ln(Marker Count)</a:t>
            </a:r>
            <a:endParaRPr sz="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5" name="Google Shape;1525;p32"/>
          <p:cNvSpPr txBox="1"/>
          <p:nvPr/>
        </p:nvSpPr>
        <p:spPr>
          <a:xfrm>
            <a:off x="821489" y="3380361"/>
            <a:ext cx="2704867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근거: 마커 수 많을수록 품종 신뢰도↑, 로그변환 가중치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2"/>
          <p:cNvSpPr/>
          <p:nvPr/>
        </p:nvSpPr>
        <p:spPr>
          <a:xfrm>
            <a:off x="453113" y="3616031"/>
            <a:ext cx="247725" cy="245640"/>
          </a:xfrm>
          <a:prstGeom prst="ellipse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32"/>
          <p:cNvSpPr txBox="1"/>
          <p:nvPr/>
        </p:nvSpPr>
        <p:spPr>
          <a:xfrm>
            <a:off x="542240" y="3636644"/>
            <a:ext cx="189222" cy="208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2"/>
          <p:cNvSpPr txBox="1"/>
          <p:nvPr/>
        </p:nvSpPr>
        <p:spPr>
          <a:xfrm>
            <a:off x="770689" y="3616031"/>
            <a:ext cx="1404995" cy="18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 품종 구성 비율 추정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2"/>
          <p:cNvSpPr txBox="1"/>
          <p:nvPr/>
        </p:nvSpPr>
        <p:spPr>
          <a:xfrm>
            <a:off x="821489" y="3795502"/>
            <a:ext cx="2448000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비율화: 모든 품종 정규화 점수 합계로 나누어 계산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2"/>
          <p:cNvSpPr txBox="1"/>
          <p:nvPr/>
        </p:nvSpPr>
        <p:spPr>
          <a:xfrm>
            <a:off x="821489" y="3946874"/>
            <a:ext cx="2647277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표현: 상위 5개 품종만 추출하여 결과 테이블 생성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2"/>
          <p:cNvSpPr/>
          <p:nvPr/>
        </p:nvSpPr>
        <p:spPr>
          <a:xfrm>
            <a:off x="453113" y="4182544"/>
            <a:ext cx="247725" cy="245640"/>
          </a:xfrm>
          <a:prstGeom prst="ellipse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32"/>
          <p:cNvSpPr txBox="1"/>
          <p:nvPr/>
        </p:nvSpPr>
        <p:spPr>
          <a:xfrm>
            <a:off x="542240" y="4203157"/>
            <a:ext cx="189222" cy="2084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2"/>
          <p:cNvSpPr txBox="1"/>
          <p:nvPr/>
        </p:nvSpPr>
        <p:spPr>
          <a:xfrm>
            <a:off x="770689" y="4182544"/>
            <a:ext cx="1928783" cy="18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🎯 유전학적 근거 기반 순종 판단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2"/>
          <p:cNvSpPr/>
          <p:nvPr/>
        </p:nvSpPr>
        <p:spPr>
          <a:xfrm>
            <a:off x="808248" y="4409149"/>
            <a:ext cx="3808202" cy="415140"/>
          </a:xfrm>
          <a:prstGeom prst="roundRect">
            <a:avLst>
              <a:gd fmla="val 19849" name="adj"/>
            </a:avLst>
          </a:prstGeom>
          <a:solidFill>
            <a:srgbClr val="ECFBFE"/>
          </a:solidFill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32"/>
          <p:cNvSpPr txBox="1"/>
          <p:nvPr/>
        </p:nvSpPr>
        <p:spPr>
          <a:xfrm>
            <a:off x="1236341" y="4463346"/>
            <a:ext cx="2771598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임계값 75%: 순종과 F1 잡종 교배 시 순수혈통 기대 비율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2"/>
          <p:cNvSpPr txBox="1"/>
          <p:nvPr/>
        </p:nvSpPr>
        <p:spPr>
          <a:xfrm>
            <a:off x="1187893" y="4614718"/>
            <a:ext cx="2866665" cy="161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900"/>
              <a:buFont typeface="Noto Sans KR"/>
              <a:buNone/>
            </a:pPr>
            <a:r>
              <a:rPr lang="en-US" sz="9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유전학적 기준 "최소 2세대 해당 품종 혈통 유지" 엄격 적용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2"/>
          <p:cNvSpPr/>
          <p:nvPr/>
        </p:nvSpPr>
        <p:spPr>
          <a:xfrm>
            <a:off x="377242" y="5013732"/>
            <a:ext cx="4579717" cy="1180160"/>
          </a:xfrm>
          <a:prstGeom prst="roundRect">
            <a:avLst>
              <a:gd fmla="val 3687" name="adj"/>
            </a:avLst>
          </a:prstGeom>
          <a:solidFill>
            <a:srgbClr val="FFFFFF"/>
          </a:solidFill>
          <a:ln>
            <a:noFill/>
          </a:ln>
          <a:effectLst>
            <a:outerShdw blurRad="12700" rotWithShape="0" algn="bl" dir="16200000" dist="12700">
              <a:srgbClr val="000000">
                <a:alpha val="7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32"/>
          <p:cNvSpPr/>
          <p:nvPr/>
        </p:nvSpPr>
        <p:spPr>
          <a:xfrm>
            <a:off x="453113" y="5391709"/>
            <a:ext cx="4427974" cy="906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32"/>
          <p:cNvSpPr txBox="1"/>
          <p:nvPr/>
        </p:nvSpPr>
        <p:spPr>
          <a:xfrm>
            <a:off x="491506" y="5107546"/>
            <a:ext cx="1191092" cy="226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참조 품종 데이터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2"/>
          <p:cNvSpPr txBox="1"/>
          <p:nvPr/>
        </p:nvSpPr>
        <p:spPr>
          <a:xfrm>
            <a:off x="491506" y="5437936"/>
            <a:ext cx="1262393" cy="18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총 분석 개체: 94마리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2"/>
          <p:cNvSpPr txBox="1"/>
          <p:nvPr/>
        </p:nvSpPr>
        <p:spPr>
          <a:xfrm>
            <a:off x="491506" y="5664541"/>
            <a:ext cx="2414178" cy="18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원천 참조 품종: 113개 → 필터링 후: 85개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32"/>
          <p:cNvSpPr txBox="1"/>
          <p:nvPr/>
        </p:nvSpPr>
        <p:spPr>
          <a:xfrm>
            <a:off x="491506" y="5891147"/>
            <a:ext cx="2776168" cy="18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필터링 기준: Q1(하위 25%) 마커 개수 미만 제외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3" name="Google Shape;1543;p32"/>
          <p:cNvGrpSpPr/>
          <p:nvPr/>
        </p:nvGrpSpPr>
        <p:grpSpPr>
          <a:xfrm>
            <a:off x="5040145" y="1190923"/>
            <a:ext cx="6837026" cy="4341357"/>
            <a:chOff x="5040144" y="1190923"/>
            <a:chExt cx="6931735" cy="4534190"/>
          </a:xfrm>
        </p:grpSpPr>
        <p:sp>
          <p:nvSpPr>
            <p:cNvPr id="1544" name="Google Shape;1544;p32"/>
            <p:cNvSpPr/>
            <p:nvPr/>
          </p:nvSpPr>
          <p:spPr>
            <a:xfrm>
              <a:off x="5116930" y="1520775"/>
              <a:ext cx="6779993" cy="906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32"/>
            <p:cNvSpPr/>
            <p:nvPr/>
          </p:nvSpPr>
          <p:spPr>
            <a:xfrm>
              <a:off x="5116930" y="3078005"/>
              <a:ext cx="6779993" cy="226605"/>
            </a:xfrm>
            <a:prstGeom prst="roundRect">
              <a:avLst>
                <a:gd fmla="val 66667" name="adj"/>
              </a:avLst>
            </a:pr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32"/>
            <p:cNvSpPr/>
            <p:nvPr/>
          </p:nvSpPr>
          <p:spPr>
            <a:xfrm>
              <a:off x="8559487" y="3525230"/>
              <a:ext cx="3408736" cy="2199883"/>
            </a:xfrm>
            <a:prstGeom prst="roundRect">
              <a:avLst>
                <a:gd fmla="val 1061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" rotWithShape="0" algn="bl" dir="16200000" dist="12700">
                <a:srgbClr val="00000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32"/>
            <p:cNvSpPr/>
            <p:nvPr/>
          </p:nvSpPr>
          <p:spPr>
            <a:xfrm>
              <a:off x="8636273" y="3872029"/>
              <a:ext cx="3256992" cy="9064"/>
            </a:xfrm>
            <a:prstGeom prst="rect">
              <a:avLst/>
            </a:prstGeom>
            <a:solidFill>
              <a:srgbClr val="E5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548" name="Google Shape;1548;p32"/>
            <p:cNvPicPr preferRelativeResize="0"/>
            <p:nvPr/>
          </p:nvPicPr>
          <p:blipFill rotWithShape="1">
            <a:blip r:embed="rId3">
              <a:alphaModFix/>
            </a:blip>
            <a:srcRect b="0" l="-144" r="-144" t="0"/>
            <a:stretch/>
          </p:blipFill>
          <p:spPr>
            <a:xfrm>
              <a:off x="8636273" y="3945261"/>
              <a:ext cx="3256992" cy="15110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49" name="Google Shape;1549;p32"/>
            <p:cNvGrpSpPr/>
            <p:nvPr/>
          </p:nvGrpSpPr>
          <p:grpSpPr>
            <a:xfrm>
              <a:off x="5040144" y="1190923"/>
              <a:ext cx="6931735" cy="4534190"/>
              <a:chOff x="5035018" y="1328337"/>
              <a:chExt cx="6931735" cy="4534190"/>
            </a:xfrm>
          </p:grpSpPr>
          <p:sp>
            <p:nvSpPr>
              <p:cNvPr id="1550" name="Google Shape;1550;p32"/>
              <p:cNvSpPr/>
              <p:nvPr/>
            </p:nvSpPr>
            <p:spPr>
              <a:xfrm>
                <a:off x="5035018" y="1328337"/>
                <a:ext cx="6931735" cy="2237953"/>
              </a:xfrm>
              <a:prstGeom prst="roundRect">
                <a:avLst>
                  <a:gd fmla="val 1025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12700" rotWithShape="0" algn="bl" dir="16200000" dist="12700">
                  <a:srgbClr val="000000">
                    <a:alpha val="74901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32"/>
              <p:cNvSpPr txBox="1"/>
              <p:nvPr/>
            </p:nvSpPr>
            <p:spPr>
              <a:xfrm>
                <a:off x="5187675" y="1441640"/>
                <a:ext cx="1457100" cy="2266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43A40"/>
                  </a:buClr>
                  <a:buSzPts val="1200"/>
                  <a:buFont typeface="Noto Sans KR"/>
                  <a:buNone/>
                </a:pPr>
                <a:r>
                  <a:rPr b="1" lang="en-US" sz="1200">
                    <a:solidFill>
                      <a:srgbClr val="343A4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1위 품종 기여율 분포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preencoded.png" id="1552" name="Google Shape;1552;p32"/>
              <p:cNvPicPr preferRelativeResize="0"/>
              <p:nvPr/>
            </p:nvPicPr>
            <p:blipFill rotWithShape="1">
              <a:blip r:embed="rId4">
                <a:alphaModFix/>
              </a:blip>
              <a:srcRect b="0" l="-62" r="-63" t="0"/>
              <a:stretch/>
            </p:blipFill>
            <p:spPr>
              <a:xfrm>
                <a:off x="5111804" y="1715379"/>
                <a:ext cx="6779993" cy="15110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3" name="Google Shape;1553;p32"/>
              <p:cNvSpPr txBox="1"/>
              <p:nvPr/>
            </p:nvSpPr>
            <p:spPr>
              <a:xfrm>
                <a:off x="5187675" y="3291644"/>
                <a:ext cx="752317" cy="16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4B5563"/>
                  </a:buClr>
                  <a:buSzPts val="900"/>
                  <a:buFont typeface="Noto Sans KR"/>
                  <a:buNone/>
                </a:pPr>
                <a:r>
                  <a:rPr lang="en-US" sz="900">
                    <a:solidFill>
                      <a:srgbClr val="4B5563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평균: 10.71%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32"/>
              <p:cNvSpPr txBox="1"/>
              <p:nvPr/>
            </p:nvSpPr>
            <p:spPr>
              <a:xfrm>
                <a:off x="8143924" y="3291644"/>
                <a:ext cx="799851" cy="16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4B5563"/>
                  </a:buClr>
                  <a:buSzPts val="900"/>
                  <a:buFont typeface="Noto Sans KR"/>
                  <a:buNone/>
                </a:pPr>
                <a:r>
                  <a:rPr lang="en-US" sz="900">
                    <a:solidFill>
                      <a:srgbClr val="4B5563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중앙값: 7.21%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555;p32"/>
              <p:cNvSpPr txBox="1"/>
              <p:nvPr/>
            </p:nvSpPr>
            <p:spPr>
              <a:xfrm>
                <a:off x="11142222" y="3291644"/>
                <a:ext cx="752317" cy="1613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4B5563"/>
                  </a:buClr>
                  <a:buSzPts val="900"/>
                  <a:buFont typeface="Noto Sans KR"/>
                  <a:buNone/>
                </a:pPr>
                <a:r>
                  <a:rPr lang="en-US" sz="900">
                    <a:solidFill>
                      <a:srgbClr val="4B5563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최대: 60.72%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556;p32"/>
              <p:cNvSpPr/>
              <p:nvPr/>
            </p:nvSpPr>
            <p:spPr>
              <a:xfrm>
                <a:off x="5035018" y="3662644"/>
                <a:ext cx="3408736" cy="2199883"/>
              </a:xfrm>
              <a:prstGeom prst="roundRect">
                <a:avLst>
                  <a:gd fmla="val 1061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12700" rotWithShape="0" algn="bl" dir="16200000" dist="12700">
                  <a:srgbClr val="000000">
                    <a:alpha val="74901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32"/>
              <p:cNvSpPr/>
              <p:nvPr/>
            </p:nvSpPr>
            <p:spPr>
              <a:xfrm>
                <a:off x="5111804" y="4057569"/>
                <a:ext cx="3256992" cy="9064"/>
              </a:xfrm>
              <a:prstGeom prst="rect">
                <a:avLst/>
              </a:prstGeom>
              <a:solidFill>
                <a:srgbClr val="E5E7E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2"/>
              <p:cNvSpPr txBox="1"/>
              <p:nvPr/>
            </p:nvSpPr>
            <p:spPr>
              <a:xfrm>
                <a:off x="5187675" y="3791988"/>
                <a:ext cx="1457100" cy="2266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43A40"/>
                  </a:buClr>
                  <a:buSzPts val="1200"/>
                  <a:buFont typeface="Noto Sans KR"/>
                  <a:buNone/>
                </a:pPr>
                <a:r>
                  <a:rPr b="1" lang="en-US" sz="1200">
                    <a:solidFill>
                      <a:srgbClr val="343A4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최다 기여 품종 Top3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preencoded.png" id="1559" name="Google Shape;1559;p32"/>
              <p:cNvPicPr preferRelativeResize="0"/>
              <p:nvPr/>
            </p:nvPicPr>
            <p:blipFill rotWithShape="1">
              <a:blip r:embed="rId5">
                <a:alphaModFix/>
              </a:blip>
              <a:srcRect b="0" l="-144" r="-144" t="0"/>
              <a:stretch/>
            </p:blipFill>
            <p:spPr>
              <a:xfrm>
                <a:off x="5111804" y="4066633"/>
                <a:ext cx="3256992" cy="15110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60" name="Google Shape;1560;p32"/>
              <p:cNvSpPr txBox="1"/>
              <p:nvPr/>
            </p:nvSpPr>
            <p:spPr>
              <a:xfrm>
                <a:off x="8707019" y="3791988"/>
                <a:ext cx="1381228" cy="2266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43A40"/>
                  </a:buClr>
                  <a:buSzPts val="1200"/>
                  <a:buFont typeface="Noto Sans KR"/>
                  <a:buNone/>
                </a:pPr>
                <a:r>
                  <a:rPr b="1" lang="en-US" sz="1200">
                    <a:solidFill>
                      <a:srgbClr val="343A4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순종/믹스 분류 결과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32"/>
              <p:cNvSpPr txBox="1"/>
              <p:nvPr/>
            </p:nvSpPr>
            <p:spPr>
              <a:xfrm>
                <a:off x="9445623" y="5646884"/>
                <a:ext cx="1728591" cy="189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343A40"/>
                  </a:buClr>
                  <a:buSzPts val="1000"/>
                  <a:buFont typeface="Noto Sans KR"/>
                  <a:buNone/>
                </a:pPr>
                <a:r>
                  <a:rPr b="1" lang="en-US" sz="1000">
                    <a:solidFill>
                      <a:srgbClr val="343A4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믹스견 판정: 94마리 (100%)</a:t>
                </a:r>
                <a:endParaRPr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562" name="Google Shape;1562;p32"/>
          <p:cNvSpPr/>
          <p:nvPr/>
        </p:nvSpPr>
        <p:spPr>
          <a:xfrm>
            <a:off x="5040145" y="5596144"/>
            <a:ext cx="6827104" cy="651717"/>
          </a:xfrm>
          <a:prstGeom prst="roundRect">
            <a:avLst>
              <a:gd fmla="val 6308" name="adj"/>
            </a:avLst>
          </a:prstGeom>
          <a:solidFill>
            <a:schemeClr val="lt1"/>
          </a:solidFill>
          <a:ln cap="flat" cmpd="sng" w="12700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3" name="Google Shape;1563;p32"/>
          <p:cNvPicPr preferRelativeResize="0"/>
          <p:nvPr/>
        </p:nvPicPr>
        <p:blipFill rotWithShape="1">
          <a:blip r:embed="rId6">
            <a:alphaModFix/>
          </a:blip>
          <a:srcRect b="0" l="-2512" r="-2512" t="0"/>
          <a:stretch/>
        </p:blipFill>
        <p:spPr>
          <a:xfrm>
            <a:off x="8204700" y="5695946"/>
            <a:ext cx="105123" cy="117036"/>
          </a:xfrm>
          <a:prstGeom prst="rect">
            <a:avLst/>
          </a:prstGeom>
          <a:noFill/>
          <a:ln>
            <a:noFill/>
          </a:ln>
        </p:spPr>
      </p:pic>
      <p:sp>
        <p:nvSpPr>
          <p:cNvPr id="1564" name="Google Shape;1564;p32"/>
          <p:cNvSpPr txBox="1"/>
          <p:nvPr/>
        </p:nvSpPr>
        <p:spPr>
          <a:xfrm>
            <a:off x="8292459" y="5665804"/>
            <a:ext cx="348277" cy="167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b="1"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결론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32"/>
          <p:cNvSpPr txBox="1"/>
          <p:nvPr/>
        </p:nvSpPr>
        <p:spPr>
          <a:xfrm>
            <a:off x="5078717" y="5838233"/>
            <a:ext cx="6756225" cy="3342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데이터셋 전체가 순종으로 보기 어려운 믹스견으로 구성되어 있으며, 평균/중앙값 기여율이 10% 미만으로 매우 낮아 </a:t>
            </a:r>
            <a:br>
              <a:rPr lang="en-US" sz="10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rgbClr val="374151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품종의 유전적 기여를 받은 복잡한 믹스견 집단임을 강력하게 시사함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32"/>
          <p:cNvSpPr txBox="1"/>
          <p:nvPr/>
        </p:nvSpPr>
        <p:spPr>
          <a:xfrm>
            <a:off x="377242" y="659631"/>
            <a:ext cx="6874458" cy="134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3.2.3.비율 계산 – 품종 기여 비율 추정 방법론</a:t>
            </a:r>
            <a:endParaRPr b="1" sz="2200">
              <a:solidFill>
                <a:srgbClr val="343A4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Google Shape;1571;p33" title="[바이오] Gene-ius 시연연상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5150" y="119788"/>
            <a:ext cx="8824576" cy="661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34"/>
          <p:cNvSpPr/>
          <p:nvPr/>
        </p:nvSpPr>
        <p:spPr>
          <a:xfrm>
            <a:off x="328669" y="1056005"/>
            <a:ext cx="11541734" cy="53234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7" name="Google Shape;157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7512" y="1143609"/>
            <a:ext cx="10021769" cy="52358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34"/>
          <p:cNvSpPr/>
          <p:nvPr/>
        </p:nvSpPr>
        <p:spPr>
          <a:xfrm>
            <a:off x="1810502" y="1978241"/>
            <a:ext cx="1167367" cy="247181"/>
          </a:xfrm>
          <a:prstGeom prst="rect">
            <a:avLst/>
          </a:prstGeom>
          <a:noFill/>
          <a:ln cap="flat" cmpd="sng" w="1905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34"/>
          <p:cNvSpPr/>
          <p:nvPr/>
        </p:nvSpPr>
        <p:spPr>
          <a:xfrm>
            <a:off x="1757511" y="3410973"/>
            <a:ext cx="1220357" cy="1112619"/>
          </a:xfrm>
          <a:prstGeom prst="rect">
            <a:avLst/>
          </a:prstGeom>
          <a:noFill/>
          <a:ln cap="flat" cmpd="sng" w="1905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0" name="Google Shape;1580;p34"/>
          <p:cNvSpPr/>
          <p:nvPr/>
        </p:nvSpPr>
        <p:spPr>
          <a:xfrm>
            <a:off x="3400799" y="2152262"/>
            <a:ext cx="3322881" cy="2902224"/>
          </a:xfrm>
          <a:prstGeom prst="rect">
            <a:avLst/>
          </a:prstGeom>
          <a:noFill/>
          <a:ln cap="flat" cmpd="sng" w="1905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1" name="Google Shape;1581;p34"/>
          <p:cNvSpPr/>
          <p:nvPr/>
        </p:nvSpPr>
        <p:spPr>
          <a:xfrm>
            <a:off x="6768398" y="2161636"/>
            <a:ext cx="4709541" cy="3564627"/>
          </a:xfrm>
          <a:prstGeom prst="rect">
            <a:avLst/>
          </a:prstGeom>
          <a:noFill/>
          <a:ln cap="flat" cmpd="sng" w="1905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34"/>
          <p:cNvSpPr/>
          <p:nvPr/>
        </p:nvSpPr>
        <p:spPr>
          <a:xfrm>
            <a:off x="1912102" y="2335985"/>
            <a:ext cx="984250" cy="947273"/>
          </a:xfrm>
          <a:prstGeom prst="rect">
            <a:avLst/>
          </a:prstGeom>
          <a:noFill/>
          <a:ln cap="flat" cmpd="sng" w="1905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34"/>
          <p:cNvSpPr/>
          <p:nvPr/>
        </p:nvSpPr>
        <p:spPr>
          <a:xfrm>
            <a:off x="512383" y="2499830"/>
            <a:ext cx="1222770" cy="619581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품종 분석 및 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품종과 연동한 자동 이미지 제작 </a:t>
            </a:r>
            <a:endParaRPr/>
          </a:p>
        </p:txBody>
      </p:sp>
      <p:sp>
        <p:nvSpPr>
          <p:cNvPr id="1584" name="Google Shape;1584;p34"/>
          <p:cNvSpPr/>
          <p:nvPr/>
        </p:nvSpPr>
        <p:spPr>
          <a:xfrm>
            <a:off x="819937" y="1978241"/>
            <a:ext cx="871950" cy="247181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개체 선택</a:t>
            </a:r>
            <a:endParaRPr/>
          </a:p>
        </p:txBody>
      </p:sp>
      <p:sp>
        <p:nvSpPr>
          <p:cNvPr id="1585" name="Google Shape;1585;p34"/>
          <p:cNvSpPr/>
          <p:nvPr/>
        </p:nvSpPr>
        <p:spPr>
          <a:xfrm>
            <a:off x="3529111" y="5142090"/>
            <a:ext cx="3066255" cy="342859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해당 개체가 보유한 Mendelian Status 모아 보기</a:t>
            </a:r>
            <a:endParaRPr/>
          </a:p>
        </p:txBody>
      </p:sp>
      <p:sp>
        <p:nvSpPr>
          <p:cNvPr id="1586" name="Google Shape;1586;p34"/>
          <p:cNvSpPr/>
          <p:nvPr/>
        </p:nvSpPr>
        <p:spPr>
          <a:xfrm>
            <a:off x="613965" y="3843690"/>
            <a:ext cx="1040509" cy="247183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메뉴 이동</a:t>
            </a:r>
            <a:endParaRPr/>
          </a:p>
        </p:txBody>
      </p:sp>
      <p:sp>
        <p:nvSpPr>
          <p:cNvPr id="1587" name="Google Shape;1587;p34"/>
          <p:cNvSpPr/>
          <p:nvPr/>
        </p:nvSpPr>
        <p:spPr>
          <a:xfrm>
            <a:off x="7590040" y="5813867"/>
            <a:ext cx="3066255" cy="342859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보유 유전질환 중 PRS score 높은 상위 5가지</a:t>
            </a:r>
            <a:endParaRPr/>
          </a:p>
        </p:txBody>
      </p:sp>
      <p:sp>
        <p:nvSpPr>
          <p:cNvPr id="1588" name="Google Shape;1588;p34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34"/>
          <p:cNvSpPr txBox="1"/>
          <p:nvPr/>
        </p:nvSpPr>
        <p:spPr>
          <a:xfrm>
            <a:off x="403757" y="385724"/>
            <a:ext cx="4839509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4.1. 최종 산출물 : Streamlit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35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5" name="Google Shape;159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495" y="1015222"/>
            <a:ext cx="10332712" cy="5323405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96" name="Google Shape;1596;p35"/>
          <p:cNvSpPr/>
          <p:nvPr/>
        </p:nvSpPr>
        <p:spPr>
          <a:xfrm>
            <a:off x="5068634" y="1852403"/>
            <a:ext cx="3835735" cy="3093472"/>
          </a:xfrm>
          <a:prstGeom prst="rect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7" name="Google Shape;1597;p35"/>
          <p:cNvSpPr/>
          <p:nvPr/>
        </p:nvSpPr>
        <p:spPr>
          <a:xfrm>
            <a:off x="2789017" y="5088682"/>
            <a:ext cx="8337212" cy="1249945"/>
          </a:xfrm>
          <a:prstGeom prst="rect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5"/>
          <p:cNvSpPr txBox="1"/>
          <p:nvPr/>
        </p:nvSpPr>
        <p:spPr>
          <a:xfrm>
            <a:off x="403757" y="385724"/>
            <a:ext cx="4839509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4.1. 최종 산출물 : Streamlit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35"/>
          <p:cNvSpPr/>
          <p:nvPr/>
        </p:nvSpPr>
        <p:spPr>
          <a:xfrm>
            <a:off x="3619500" y="1852403"/>
            <a:ext cx="1365910" cy="357397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개체 부위별 취약도</a:t>
            </a:r>
            <a:endParaRPr/>
          </a:p>
        </p:txBody>
      </p:sp>
      <p:sp>
        <p:nvSpPr>
          <p:cNvPr id="1600" name="Google Shape;1600;p35"/>
          <p:cNvSpPr/>
          <p:nvPr/>
        </p:nvSpPr>
        <p:spPr>
          <a:xfrm>
            <a:off x="1275321" y="5088682"/>
            <a:ext cx="1395457" cy="448715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개체의 부위별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유전질환 모아 보기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p36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6" name="Google Shape;160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1548" y="1098654"/>
            <a:ext cx="9356499" cy="5186172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07" name="Google Shape;1607;p36"/>
          <p:cNvSpPr/>
          <p:nvPr/>
        </p:nvSpPr>
        <p:spPr>
          <a:xfrm>
            <a:off x="2683191" y="1235887"/>
            <a:ext cx="8014856" cy="2591136"/>
          </a:xfrm>
          <a:prstGeom prst="rect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6"/>
          <p:cNvSpPr/>
          <p:nvPr/>
        </p:nvSpPr>
        <p:spPr>
          <a:xfrm>
            <a:off x="2683191" y="4427544"/>
            <a:ext cx="8014855" cy="1994515"/>
          </a:xfrm>
          <a:prstGeom prst="rect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36"/>
          <p:cNvSpPr/>
          <p:nvPr/>
        </p:nvSpPr>
        <p:spPr>
          <a:xfrm>
            <a:off x="5563740" y="1039914"/>
            <a:ext cx="5058105" cy="391945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LLM 모델을 결합하여 해당 개체가 보유한 모든 유전질환(PHENE)에 대한 상세한 설명 제공</a:t>
            </a:r>
            <a:endParaRPr/>
          </a:p>
        </p:txBody>
      </p:sp>
      <p:sp>
        <p:nvSpPr>
          <p:cNvPr id="1610" name="Google Shape;1610;p36"/>
          <p:cNvSpPr txBox="1"/>
          <p:nvPr/>
        </p:nvSpPr>
        <p:spPr>
          <a:xfrm>
            <a:off x="403757" y="385724"/>
            <a:ext cx="4839509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4.1. 최종 산출물 : Streamlit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37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6" name="Google Shape;16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258" y="1143609"/>
            <a:ext cx="9523799" cy="483994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7" name="Google Shape;1617;p37"/>
          <p:cNvSpPr/>
          <p:nvPr/>
        </p:nvSpPr>
        <p:spPr>
          <a:xfrm>
            <a:off x="2460366" y="1520760"/>
            <a:ext cx="8193675" cy="4612878"/>
          </a:xfrm>
          <a:prstGeom prst="rect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7"/>
          <p:cNvSpPr/>
          <p:nvPr/>
        </p:nvSpPr>
        <p:spPr>
          <a:xfrm>
            <a:off x="6735982" y="1332871"/>
            <a:ext cx="3112868" cy="375777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LLM Chat bot 모델을 통해 추가적인 정보 제공</a:t>
            </a:r>
            <a:endParaRPr/>
          </a:p>
        </p:txBody>
      </p:sp>
      <p:sp>
        <p:nvSpPr>
          <p:cNvPr id="1619" name="Google Shape;1619;p37"/>
          <p:cNvSpPr txBox="1"/>
          <p:nvPr/>
        </p:nvSpPr>
        <p:spPr>
          <a:xfrm>
            <a:off x="403757" y="385724"/>
            <a:ext cx="4839509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4.1. 최종 산출물 : Streamlit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38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5" name="Google Shape;162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0009" y="1143609"/>
            <a:ext cx="9344191" cy="4839940"/>
          </a:xfrm>
          <a:prstGeom prst="rect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6" name="Google Shape;1626;p38"/>
          <p:cNvSpPr/>
          <p:nvPr/>
        </p:nvSpPr>
        <p:spPr>
          <a:xfrm>
            <a:off x="2705348" y="1520760"/>
            <a:ext cx="8038852" cy="4612878"/>
          </a:xfrm>
          <a:prstGeom prst="rect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38"/>
          <p:cNvSpPr/>
          <p:nvPr/>
        </p:nvSpPr>
        <p:spPr>
          <a:xfrm>
            <a:off x="6947625" y="993520"/>
            <a:ext cx="3676651" cy="1052938"/>
          </a:xfrm>
          <a:prstGeom prst="flowChartAlternateProcess">
            <a:avLst/>
          </a:prstGeom>
          <a:solidFill>
            <a:srgbClr val="FFF2CC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수의사를 위하여 Mendelian Score 제공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Phene 별로 매칭된 SNP 마커 중</a:t>
            </a:r>
            <a:b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At-risk/Carrier 상태인 마커를 모두 보여주며,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Omia Pos와 Snp Pos의 거리가 가장 가까운 순으로 데이터 제공.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(향후 r^2 계수로 기준 변경 예정)</a:t>
            </a:r>
            <a:endParaRPr/>
          </a:p>
        </p:txBody>
      </p:sp>
      <p:sp>
        <p:nvSpPr>
          <p:cNvPr id="1628" name="Google Shape;1628;p38"/>
          <p:cNvSpPr txBox="1"/>
          <p:nvPr/>
        </p:nvSpPr>
        <p:spPr>
          <a:xfrm>
            <a:off x="403757" y="385724"/>
            <a:ext cx="4839509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4.1. 최종 산출물 : Streamlit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39"/>
          <p:cNvSpPr/>
          <p:nvPr/>
        </p:nvSpPr>
        <p:spPr>
          <a:xfrm>
            <a:off x="568986" y="1708634"/>
            <a:ext cx="5486400" cy="3257093"/>
          </a:xfrm>
          <a:prstGeom prst="roundRect">
            <a:avLst>
              <a:gd fmla="val 29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9"/>
          <p:cNvSpPr/>
          <p:nvPr/>
        </p:nvSpPr>
        <p:spPr>
          <a:xfrm>
            <a:off x="568986" y="1708634"/>
            <a:ext cx="45719" cy="3257093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9"/>
          <p:cNvSpPr/>
          <p:nvPr/>
        </p:nvSpPr>
        <p:spPr>
          <a:xfrm>
            <a:off x="760096" y="1861339"/>
            <a:ext cx="267005" cy="267005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39"/>
          <p:cNvSpPr txBox="1"/>
          <p:nvPr/>
        </p:nvSpPr>
        <p:spPr>
          <a:xfrm>
            <a:off x="847878" y="1880541"/>
            <a:ext cx="2103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39"/>
          <p:cNvSpPr txBox="1"/>
          <p:nvPr/>
        </p:nvSpPr>
        <p:spPr>
          <a:xfrm>
            <a:off x="1140486" y="1852195"/>
            <a:ext cx="1191463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🔍 핵심 발견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39"/>
          <p:cNvSpPr txBox="1"/>
          <p:nvPr/>
        </p:nvSpPr>
        <p:spPr>
          <a:xfrm>
            <a:off x="1140486" y="2204239"/>
            <a:ext cx="193395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개체가 믹스견으로 확인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39"/>
          <p:cNvSpPr txBox="1"/>
          <p:nvPr/>
        </p:nvSpPr>
        <p:spPr>
          <a:xfrm>
            <a:off x="1331596" y="2508734"/>
            <a:ext cx="24487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- 94개 중 순종 0% (임계값 75% 기준)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39"/>
          <p:cNvSpPr txBox="1"/>
          <p:nvPr/>
        </p:nvSpPr>
        <p:spPr>
          <a:xfrm>
            <a:off x="1331596" y="2775739"/>
            <a:ext cx="3810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- 품종 기여율 + 군집 패턴으로 복잡한 유전적 혼합 패턴 확인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9"/>
          <p:cNvSpPr txBox="1"/>
          <p:nvPr/>
        </p:nvSpPr>
        <p:spPr>
          <a:xfrm>
            <a:off x="1140486" y="3157044"/>
            <a:ext cx="21241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t-SNE가 PCA 대비 우수한 성능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39"/>
          <p:cNvSpPr txBox="1"/>
          <p:nvPr/>
        </p:nvSpPr>
        <p:spPr>
          <a:xfrm>
            <a:off x="1331596" y="3461539"/>
            <a:ext cx="23244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PCA: 총 설명력 &lt; 17% (선형 한계)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39"/>
          <p:cNvSpPr txBox="1"/>
          <p:nvPr/>
        </p:nvSpPr>
        <p:spPr>
          <a:xfrm>
            <a:off x="1331596" y="3728544"/>
            <a:ext cx="299100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t-SNE: Silhouette 0.6835, 뚜렷한 군집 분리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39"/>
          <p:cNvSpPr txBox="1"/>
          <p:nvPr/>
        </p:nvSpPr>
        <p:spPr>
          <a:xfrm>
            <a:off x="1331596" y="3994634"/>
            <a:ext cx="17913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비선형 패턴 포착에 효과적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39"/>
          <p:cNvSpPr/>
          <p:nvPr/>
        </p:nvSpPr>
        <p:spPr>
          <a:xfrm>
            <a:off x="1140486" y="4375940"/>
            <a:ext cx="4762195" cy="457200"/>
          </a:xfrm>
          <a:prstGeom prst="roundRect">
            <a:avLst>
              <a:gd fmla="val 9370" name="adj"/>
            </a:avLst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7" name="Google Shape;1647;p39"/>
          <p:cNvPicPr preferRelativeResize="0"/>
          <p:nvPr/>
        </p:nvPicPr>
        <p:blipFill rotWithShape="1">
          <a:blip r:embed="rId3">
            <a:alphaModFix/>
          </a:blip>
          <a:srcRect b="0" l="-2512" r="-2512" t="0"/>
          <a:stretch/>
        </p:blipFill>
        <p:spPr>
          <a:xfrm>
            <a:off x="1254786" y="4525901"/>
            <a:ext cx="105156" cy="13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48" name="Google Shape;1648;p39"/>
          <p:cNvSpPr txBox="1"/>
          <p:nvPr/>
        </p:nvSpPr>
        <p:spPr>
          <a:xfrm>
            <a:off x="1430351" y="4405048"/>
            <a:ext cx="4625035" cy="381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비선형 차원 축소 기법이 복잡한 유전적 패턴을 더 효과적으로 식별할 수 있음을 확인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39"/>
          <p:cNvSpPr/>
          <p:nvPr/>
        </p:nvSpPr>
        <p:spPr>
          <a:xfrm>
            <a:off x="6222492" y="1571399"/>
            <a:ext cx="5486400" cy="19202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9"/>
          <p:cNvSpPr txBox="1"/>
          <p:nvPr/>
        </p:nvSpPr>
        <p:spPr>
          <a:xfrm>
            <a:off x="6222492" y="1219202"/>
            <a:ext cx="1943100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💡 수치와 실제의 괴리</a:t>
            </a:r>
            <a:endParaRPr sz="15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39"/>
          <p:cNvSpPr/>
          <p:nvPr/>
        </p:nvSpPr>
        <p:spPr>
          <a:xfrm>
            <a:off x="6222492" y="1714501"/>
            <a:ext cx="5486400" cy="1505102"/>
          </a:xfrm>
          <a:prstGeom prst="roundRect">
            <a:avLst>
              <a:gd fmla="val 153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39"/>
          <p:cNvSpPr txBox="1"/>
          <p:nvPr/>
        </p:nvSpPr>
        <p:spPr>
          <a:xfrm>
            <a:off x="6412687" y="1876350"/>
            <a:ext cx="86685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역설적 상황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39"/>
          <p:cNvSpPr txBox="1"/>
          <p:nvPr/>
        </p:nvSpPr>
        <p:spPr>
          <a:xfrm>
            <a:off x="6412687" y="2124152"/>
            <a:ext cx="1028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품종 마커 K=3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9"/>
          <p:cNvSpPr txBox="1"/>
          <p:nvPr/>
        </p:nvSpPr>
        <p:spPr>
          <a:xfrm>
            <a:off x="10477195" y="2095806"/>
            <a:ext cx="1219810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0891B2"/>
                </a:solidFill>
                <a:latin typeface="Noto Sans KR"/>
                <a:ea typeface="Noto Sans KR"/>
                <a:cs typeface="Noto Sans KR"/>
                <a:sym typeface="Noto Sans KR"/>
              </a:rPr>
              <a:t>Score 0.796</a:t>
            </a:r>
            <a:endParaRPr sz="1500">
              <a:solidFill>
                <a:srgbClr val="0891B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39"/>
          <p:cNvSpPr txBox="1"/>
          <p:nvPr/>
        </p:nvSpPr>
        <p:spPr>
          <a:xfrm>
            <a:off x="6412687" y="2447850"/>
            <a:ext cx="30102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수치상 최고이나 97.9%가 한 클러스터에 몰림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6" name="Google Shape;1656;p39"/>
          <p:cNvSpPr/>
          <p:nvPr/>
        </p:nvSpPr>
        <p:spPr>
          <a:xfrm>
            <a:off x="6412687" y="2753260"/>
            <a:ext cx="5134356" cy="75895"/>
          </a:xfrm>
          <a:prstGeom prst="roundRect">
            <a:avLst>
              <a:gd fmla="val 602411" name="adj"/>
            </a:avLst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7" name="Google Shape;1657;p39"/>
          <p:cNvSpPr txBox="1"/>
          <p:nvPr/>
        </p:nvSpPr>
        <p:spPr>
          <a:xfrm>
            <a:off x="6412687" y="2867560"/>
            <a:ext cx="2910535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클러스터 0에 97.9% (92개) 몰림 → 극단적 불균형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8" name="Google Shape;1658;p39"/>
          <p:cNvSpPr/>
          <p:nvPr/>
        </p:nvSpPr>
        <p:spPr>
          <a:xfrm>
            <a:off x="6222492" y="3372308"/>
            <a:ext cx="5486400" cy="1580998"/>
          </a:xfrm>
          <a:prstGeom prst="roundRect">
            <a:avLst>
              <a:gd fmla="val 1394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25400">
              <a:srgbClr val="000000">
                <a:alpha val="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39"/>
          <p:cNvSpPr txBox="1"/>
          <p:nvPr/>
        </p:nvSpPr>
        <p:spPr>
          <a:xfrm>
            <a:off x="6412687" y="3534157"/>
            <a:ext cx="16102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b="1"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하이퍼파라미터 튜닝 후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39"/>
          <p:cNvSpPr txBox="1"/>
          <p:nvPr/>
        </p:nvSpPr>
        <p:spPr>
          <a:xfrm>
            <a:off x="6412687" y="3781960"/>
            <a:ext cx="8385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Score 하락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39"/>
          <p:cNvSpPr txBox="1"/>
          <p:nvPr/>
        </p:nvSpPr>
        <p:spPr>
          <a:xfrm>
            <a:off x="11034979" y="3753613"/>
            <a:ext cx="657454" cy="277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500"/>
              <a:buFont typeface="Noto Sans KR"/>
              <a:buNone/>
            </a:pPr>
            <a:r>
              <a:rPr b="1" lang="en-US" sz="15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0.375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2" name="Google Shape;1662;p39"/>
          <p:cNvSpPr txBox="1"/>
          <p:nvPr/>
        </p:nvSpPr>
        <p:spPr>
          <a:xfrm>
            <a:off x="6412687" y="4105657"/>
            <a:ext cx="28008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200"/>
              <a:buFont typeface="Noto Sans KR"/>
              <a:buNone/>
            </a:pPr>
            <a:r>
              <a:rPr lang="en-US" sz="1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하지만 5개 클러스터로 균형잡힌 분포 달성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39"/>
          <p:cNvSpPr/>
          <p:nvPr/>
        </p:nvSpPr>
        <p:spPr>
          <a:xfrm>
            <a:off x="6412687" y="4410152"/>
            <a:ext cx="1000354" cy="152705"/>
          </a:xfrm>
          <a:prstGeom prst="roundRect">
            <a:avLst>
              <a:gd fmla="val 1497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9"/>
          <p:cNvSpPr/>
          <p:nvPr/>
        </p:nvSpPr>
        <p:spPr>
          <a:xfrm>
            <a:off x="7447788" y="4410152"/>
            <a:ext cx="1104595" cy="152705"/>
          </a:xfrm>
          <a:prstGeom prst="roundRect">
            <a:avLst>
              <a:gd fmla="val 1497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5" name="Google Shape;1665;p39"/>
          <p:cNvSpPr/>
          <p:nvPr/>
        </p:nvSpPr>
        <p:spPr>
          <a:xfrm>
            <a:off x="8581644" y="4410152"/>
            <a:ext cx="905256" cy="152705"/>
          </a:xfrm>
          <a:prstGeom prst="roundRect">
            <a:avLst>
              <a:gd fmla="val 149700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9"/>
          <p:cNvSpPr/>
          <p:nvPr/>
        </p:nvSpPr>
        <p:spPr>
          <a:xfrm>
            <a:off x="9516161" y="4410152"/>
            <a:ext cx="1047902" cy="152705"/>
          </a:xfrm>
          <a:prstGeom prst="roundRect">
            <a:avLst>
              <a:gd fmla="val 149700" name="adj"/>
            </a:avLst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7" name="Google Shape;1667;p39"/>
          <p:cNvSpPr/>
          <p:nvPr/>
        </p:nvSpPr>
        <p:spPr>
          <a:xfrm>
            <a:off x="10600639" y="4410152"/>
            <a:ext cx="952805" cy="152705"/>
          </a:xfrm>
          <a:prstGeom prst="roundRect">
            <a:avLst>
              <a:gd fmla="val 149700" name="adj"/>
            </a:avLst>
          </a:prstGeom>
          <a:solidFill>
            <a:srgbClr val="8B5C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9"/>
          <p:cNvSpPr txBox="1"/>
          <p:nvPr/>
        </p:nvSpPr>
        <p:spPr>
          <a:xfrm>
            <a:off x="6412687" y="4601262"/>
            <a:ext cx="2529230" cy="191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  <a:sym typeface="Noto Sans KR"/>
              </a:rPr>
              <a:t>5개 클러스터 균형적 분포, 품종별 구분 성공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39"/>
          <p:cNvSpPr/>
          <p:nvPr/>
        </p:nvSpPr>
        <p:spPr>
          <a:xfrm>
            <a:off x="747712" y="5188459"/>
            <a:ext cx="10543871" cy="830122"/>
          </a:xfrm>
          <a:prstGeom prst="roundRect">
            <a:avLst>
              <a:gd fmla="val 113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9"/>
          <p:cNvSpPr txBox="1"/>
          <p:nvPr/>
        </p:nvSpPr>
        <p:spPr>
          <a:xfrm>
            <a:off x="900417" y="5292701"/>
            <a:ext cx="400507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1300"/>
              <a:buFont typeface="Noto Sans KR"/>
              <a:buNone/>
            </a:pPr>
            <a:r>
              <a:rPr b="1" lang="en-US" sz="13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교훈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1" name="Google Shape;1671;p39"/>
          <p:cNvGrpSpPr/>
          <p:nvPr/>
        </p:nvGrpSpPr>
        <p:grpSpPr>
          <a:xfrm>
            <a:off x="900417" y="5592622"/>
            <a:ext cx="2048256" cy="228600"/>
            <a:chOff x="762305" y="5405020"/>
            <a:chExt cx="2048256" cy="228600"/>
          </a:xfrm>
        </p:grpSpPr>
        <p:pic>
          <p:nvPicPr>
            <p:cNvPr descr="preencoded.png" id="1672" name="Google Shape;1672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305" y="5442968"/>
              <a:ext cx="152705" cy="152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3" name="Google Shape;1673;p39"/>
            <p:cNvSpPr txBox="1"/>
            <p:nvPr/>
          </p:nvSpPr>
          <p:spPr>
            <a:xfrm>
              <a:off x="990905" y="5405020"/>
              <a:ext cx="18196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높은 Score ≠ 좋은 군집화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4" name="Google Shape;1674;p39"/>
          <p:cNvGrpSpPr/>
          <p:nvPr/>
        </p:nvGrpSpPr>
        <p:grpSpPr>
          <a:xfrm>
            <a:off x="3478517" y="5592622"/>
            <a:ext cx="1877263" cy="228600"/>
            <a:chOff x="3148279" y="5405020"/>
            <a:chExt cx="1877263" cy="228600"/>
          </a:xfrm>
        </p:grpSpPr>
        <p:pic>
          <p:nvPicPr>
            <p:cNvPr descr="preencoded.png" id="1675" name="Google Shape;1675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48279" y="5442968"/>
              <a:ext cx="152705" cy="152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6" name="Google Shape;1676;p39"/>
            <p:cNvSpPr txBox="1"/>
            <p:nvPr/>
          </p:nvSpPr>
          <p:spPr>
            <a:xfrm>
              <a:off x="3376879" y="5405020"/>
              <a:ext cx="1648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분포 확인과 시각화 필수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7" name="Google Shape;1677;p39"/>
          <p:cNvGrpSpPr/>
          <p:nvPr/>
        </p:nvGrpSpPr>
        <p:grpSpPr>
          <a:xfrm>
            <a:off x="5885624" y="5592622"/>
            <a:ext cx="2009851" cy="228600"/>
            <a:chOff x="5520080" y="5405020"/>
            <a:chExt cx="2009851" cy="228600"/>
          </a:xfrm>
        </p:grpSpPr>
        <p:pic>
          <p:nvPicPr>
            <p:cNvPr descr="preencoded.png" id="1678" name="Google Shape;1678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520080" y="5442968"/>
              <a:ext cx="152705" cy="152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9" name="Google Shape;1679;p39"/>
            <p:cNvSpPr txBox="1"/>
            <p:nvPr/>
          </p:nvSpPr>
          <p:spPr>
            <a:xfrm>
              <a:off x="5748680" y="5405020"/>
              <a:ext cx="17812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해석 가능성 &gt; 수치 최적화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0" name="Google Shape;1680;p39"/>
          <p:cNvGrpSpPr/>
          <p:nvPr/>
        </p:nvGrpSpPr>
        <p:grpSpPr>
          <a:xfrm>
            <a:off x="8425319" y="5592622"/>
            <a:ext cx="2296058" cy="228600"/>
            <a:chOff x="8287207" y="5405020"/>
            <a:chExt cx="2296058" cy="228600"/>
          </a:xfrm>
        </p:grpSpPr>
        <p:pic>
          <p:nvPicPr>
            <p:cNvPr descr="preencoded.png" id="1681" name="Google Shape;1681;p3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287207" y="5442968"/>
              <a:ext cx="152705" cy="1527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2" name="Google Shape;1682;p39"/>
            <p:cNvSpPr txBox="1"/>
            <p:nvPr/>
          </p:nvSpPr>
          <p:spPr>
            <a:xfrm>
              <a:off x="8515807" y="5405020"/>
              <a:ext cx="20674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200"/>
                <a:buFont typeface="Noto Sans KR"/>
                <a:buNone/>
              </a:pPr>
              <a:r>
                <a:rPr lang="en-US" sz="12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믹스견은 완벽한 분리가 어려움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3" name="Google Shape;1683;p39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9"/>
          <p:cNvSpPr txBox="1"/>
          <p:nvPr/>
        </p:nvSpPr>
        <p:spPr>
          <a:xfrm>
            <a:off x="403757" y="385724"/>
            <a:ext cx="4839509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4.2. 회고록 – 핵심 발견 &amp; 기술적 교훈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40"/>
          <p:cNvSpPr/>
          <p:nvPr/>
        </p:nvSpPr>
        <p:spPr>
          <a:xfrm>
            <a:off x="301523" y="3177122"/>
            <a:ext cx="11582705" cy="1943100"/>
          </a:xfrm>
          <a:prstGeom prst="roundRect">
            <a:avLst>
              <a:gd fmla="val 923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1" name="Google Shape;1691;p40"/>
          <p:cNvGrpSpPr/>
          <p:nvPr/>
        </p:nvGrpSpPr>
        <p:grpSpPr>
          <a:xfrm>
            <a:off x="301523" y="1005422"/>
            <a:ext cx="11582705" cy="1737179"/>
            <a:chOff x="304495" y="1218895"/>
            <a:chExt cx="11582705" cy="1943100"/>
          </a:xfrm>
        </p:grpSpPr>
        <p:sp>
          <p:nvSpPr>
            <p:cNvPr id="1692" name="Google Shape;1692;p40"/>
            <p:cNvSpPr/>
            <p:nvPr/>
          </p:nvSpPr>
          <p:spPr>
            <a:xfrm>
              <a:off x="304495" y="1218895"/>
              <a:ext cx="11582705" cy="1943100"/>
            </a:xfrm>
            <a:prstGeom prst="roundRect">
              <a:avLst>
                <a:gd fmla="val 92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40"/>
            <p:cNvSpPr/>
            <p:nvPr/>
          </p:nvSpPr>
          <p:spPr>
            <a:xfrm>
              <a:off x="304495" y="1218895"/>
              <a:ext cx="38405" cy="1943100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40"/>
            <p:cNvSpPr/>
            <p:nvPr/>
          </p:nvSpPr>
          <p:spPr>
            <a:xfrm>
              <a:off x="495605" y="1371600"/>
              <a:ext cx="304495" cy="304495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40"/>
            <p:cNvSpPr txBox="1"/>
            <p:nvPr/>
          </p:nvSpPr>
          <p:spPr>
            <a:xfrm>
              <a:off x="602173" y="1410005"/>
              <a:ext cx="3054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40"/>
            <p:cNvSpPr txBox="1"/>
            <p:nvPr/>
          </p:nvSpPr>
          <p:spPr>
            <a:xfrm>
              <a:off x="952805" y="1426881"/>
              <a:ext cx="2015338" cy="247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300"/>
                <a:buFont typeface="Noto Sans KR"/>
                <a:buNone/>
              </a:pPr>
              <a:r>
                <a:rPr b="1" lang="en-US" sz="13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데이터 구조 이해의 중요성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40"/>
            <p:cNvSpPr/>
            <p:nvPr/>
          </p:nvSpPr>
          <p:spPr>
            <a:xfrm>
              <a:off x="952805" y="1943100"/>
              <a:ext cx="3495751" cy="1067105"/>
            </a:xfrm>
            <a:prstGeom prst="roundRect">
              <a:avLst>
                <a:gd fmla="val 306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" rotWithShape="0" algn="bl" dir="16200000" dist="12700">
                <a:srgbClr val="00000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40"/>
            <p:cNvSpPr/>
            <p:nvPr/>
          </p:nvSpPr>
          <p:spPr>
            <a:xfrm>
              <a:off x="4597603" y="1943100"/>
              <a:ext cx="3495751" cy="1067105"/>
            </a:xfrm>
            <a:prstGeom prst="roundRect">
              <a:avLst>
                <a:gd fmla="val 306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" rotWithShape="0" algn="bl" dir="16200000" dist="12700">
                <a:srgbClr val="00000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40"/>
            <p:cNvSpPr/>
            <p:nvPr/>
          </p:nvSpPr>
          <p:spPr>
            <a:xfrm>
              <a:off x="8242402" y="1943100"/>
              <a:ext cx="3495751" cy="1067105"/>
            </a:xfrm>
            <a:prstGeom prst="roundRect">
              <a:avLst>
                <a:gd fmla="val 306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" rotWithShape="0" algn="bl" dir="16200000" dist="12700">
                <a:srgbClr val="00000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40"/>
            <p:cNvSpPr txBox="1"/>
            <p:nvPr/>
          </p:nvSpPr>
          <p:spPr>
            <a:xfrm>
              <a:off x="1067105" y="2057400"/>
              <a:ext cx="6336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초기 문제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40"/>
            <p:cNvSpPr txBox="1"/>
            <p:nvPr/>
          </p:nvSpPr>
          <p:spPr>
            <a:xfrm>
              <a:off x="4711903" y="2057400"/>
              <a:ext cx="6336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해결 과정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40"/>
            <p:cNvSpPr txBox="1"/>
            <p:nvPr/>
          </p:nvSpPr>
          <p:spPr>
            <a:xfrm>
              <a:off x="8356702" y="2057400"/>
              <a:ext cx="34838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교훈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40"/>
            <p:cNvSpPr txBox="1"/>
            <p:nvPr/>
          </p:nvSpPr>
          <p:spPr>
            <a:xfrm>
              <a:off x="1067105" y="2324405"/>
              <a:ext cx="24624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대용량 유전체 데이터의 컴퓨팅 자원 한계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40"/>
            <p:cNvSpPr txBox="1"/>
            <p:nvPr/>
          </p:nvSpPr>
          <p:spPr>
            <a:xfrm>
              <a:off x="1067105" y="2514600"/>
              <a:ext cx="229148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단순 행 병합, 파일 포맷 변환의 비효율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40"/>
            <p:cNvSpPr txBox="1"/>
            <p:nvPr/>
          </p:nvSpPr>
          <p:spPr>
            <a:xfrm>
              <a:off x="4711903" y="2324405"/>
              <a:ext cx="283372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무작정 처리하기보단 "데이터 구조 발견"에 집중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40"/>
            <p:cNvSpPr txBox="1"/>
            <p:nvPr/>
          </p:nvSpPr>
          <p:spPr>
            <a:xfrm>
              <a:off x="4711903" y="2514600"/>
              <a:ext cx="1538935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SNP의 패턴과 특성 파악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40"/>
            <p:cNvSpPr txBox="1"/>
            <p:nvPr/>
          </p:nvSpPr>
          <p:spPr>
            <a:xfrm>
              <a:off x="4711903" y="2704795"/>
              <a:ext cx="2339035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도메인 이해를 통한 효율적 전처리 설계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40"/>
            <p:cNvSpPr txBox="1"/>
            <p:nvPr/>
          </p:nvSpPr>
          <p:spPr>
            <a:xfrm>
              <a:off x="8356702" y="2324405"/>
              <a:ext cx="2872130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✓ 도메인 지식이 데이터 엔지니어링 효율성을 결정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40"/>
            <p:cNvSpPr txBox="1"/>
            <p:nvPr/>
          </p:nvSpPr>
          <p:spPr>
            <a:xfrm>
              <a:off x="8356702" y="2514600"/>
              <a:ext cx="23481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✓ 구조를 이해하면 처리 전략이 명확해짐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40"/>
            <p:cNvSpPr txBox="1"/>
            <p:nvPr/>
          </p:nvSpPr>
          <p:spPr>
            <a:xfrm>
              <a:off x="8356702" y="2704795"/>
              <a:ext cx="1815084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✓ 컴퓨팅 자원보다 전략이 먼저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1" name="Google Shape;1711;p40"/>
          <p:cNvGrpSpPr/>
          <p:nvPr/>
        </p:nvGrpSpPr>
        <p:grpSpPr>
          <a:xfrm>
            <a:off x="301523" y="4833447"/>
            <a:ext cx="11582705" cy="1677010"/>
            <a:chOff x="304495" y="5562295"/>
            <a:chExt cx="11582705" cy="1943100"/>
          </a:xfrm>
        </p:grpSpPr>
        <p:sp>
          <p:nvSpPr>
            <p:cNvPr id="1712" name="Google Shape;1712;p40"/>
            <p:cNvSpPr/>
            <p:nvPr/>
          </p:nvSpPr>
          <p:spPr>
            <a:xfrm>
              <a:off x="304495" y="5562295"/>
              <a:ext cx="11582705" cy="1943100"/>
            </a:xfrm>
            <a:prstGeom prst="roundRect">
              <a:avLst>
                <a:gd fmla="val 92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40"/>
            <p:cNvSpPr/>
            <p:nvPr/>
          </p:nvSpPr>
          <p:spPr>
            <a:xfrm>
              <a:off x="304495" y="5562295"/>
              <a:ext cx="38405" cy="1943100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40"/>
            <p:cNvSpPr/>
            <p:nvPr/>
          </p:nvSpPr>
          <p:spPr>
            <a:xfrm>
              <a:off x="495605" y="5715000"/>
              <a:ext cx="304495" cy="304495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40"/>
            <p:cNvSpPr txBox="1"/>
            <p:nvPr/>
          </p:nvSpPr>
          <p:spPr>
            <a:xfrm>
              <a:off x="602173" y="5753405"/>
              <a:ext cx="3054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40"/>
            <p:cNvSpPr txBox="1"/>
            <p:nvPr/>
          </p:nvSpPr>
          <p:spPr>
            <a:xfrm>
              <a:off x="952805" y="5820156"/>
              <a:ext cx="2147926" cy="247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300"/>
                <a:buFont typeface="Noto Sans KR"/>
                <a:buNone/>
              </a:pPr>
              <a:r>
                <a:rPr b="1" lang="en-US" sz="13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QC 기준과 분석 목적의 조화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40"/>
            <p:cNvSpPr/>
            <p:nvPr/>
          </p:nvSpPr>
          <p:spPr>
            <a:xfrm>
              <a:off x="952805" y="6286500"/>
              <a:ext cx="3495751" cy="1067105"/>
            </a:xfrm>
            <a:prstGeom prst="roundRect">
              <a:avLst>
                <a:gd fmla="val 306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" rotWithShape="0" algn="bl" dir="16200000" dist="12700">
                <a:srgbClr val="00000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40"/>
            <p:cNvSpPr/>
            <p:nvPr/>
          </p:nvSpPr>
          <p:spPr>
            <a:xfrm>
              <a:off x="4597603" y="6286500"/>
              <a:ext cx="3495751" cy="1067105"/>
            </a:xfrm>
            <a:prstGeom prst="roundRect">
              <a:avLst>
                <a:gd fmla="val 306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" rotWithShape="0" algn="bl" dir="16200000" dist="12700">
                <a:srgbClr val="00000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40"/>
            <p:cNvSpPr/>
            <p:nvPr/>
          </p:nvSpPr>
          <p:spPr>
            <a:xfrm>
              <a:off x="8242402" y="6286500"/>
              <a:ext cx="3495751" cy="1067105"/>
            </a:xfrm>
            <a:prstGeom prst="roundRect">
              <a:avLst>
                <a:gd fmla="val 306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" rotWithShape="0" algn="bl" dir="16200000" dist="12700">
                <a:srgbClr val="00000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40"/>
            <p:cNvSpPr txBox="1"/>
            <p:nvPr/>
          </p:nvSpPr>
          <p:spPr>
            <a:xfrm>
              <a:off x="1067105" y="6400800"/>
              <a:ext cx="6336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초기 접근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40"/>
            <p:cNvSpPr txBox="1"/>
            <p:nvPr/>
          </p:nvSpPr>
          <p:spPr>
            <a:xfrm>
              <a:off x="4711903" y="6400800"/>
              <a:ext cx="6336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문제 발견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40"/>
            <p:cNvSpPr txBox="1"/>
            <p:nvPr/>
          </p:nvSpPr>
          <p:spPr>
            <a:xfrm>
              <a:off x="8356702" y="6400800"/>
              <a:ext cx="34838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교훈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40"/>
            <p:cNvSpPr txBox="1"/>
            <p:nvPr/>
          </p:nvSpPr>
          <p:spPr>
            <a:xfrm>
              <a:off x="1067105" y="6667805"/>
              <a:ext cx="203362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일반적 유전체 QC 마커 기준 적용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40"/>
            <p:cNvSpPr txBox="1"/>
            <p:nvPr/>
          </p:nvSpPr>
          <p:spPr>
            <a:xfrm>
              <a:off x="1067105" y="6858000"/>
              <a:ext cx="229148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MAF, HWE, Call Rate 등 표준 필터링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40"/>
            <p:cNvSpPr txBox="1"/>
            <p:nvPr/>
          </p:nvSpPr>
          <p:spPr>
            <a:xfrm>
              <a:off x="4711903" y="6667805"/>
              <a:ext cx="2472538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QC로 마커 삭제 시 희귀 변이도 함께 소실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40"/>
            <p:cNvSpPr txBox="1"/>
            <p:nvPr/>
          </p:nvSpPr>
          <p:spPr>
            <a:xfrm>
              <a:off x="4711903" y="6858000"/>
              <a:ext cx="24624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믹스견 분석에는 희귀 변이도 중요한 정보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40"/>
            <p:cNvSpPr txBox="1"/>
            <p:nvPr/>
          </p:nvSpPr>
          <p:spPr>
            <a:xfrm>
              <a:off x="8356702" y="6667805"/>
              <a:ext cx="143377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✓ 표준 QC ≠ 항상 최선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40"/>
            <p:cNvSpPr txBox="1"/>
            <p:nvPr/>
          </p:nvSpPr>
          <p:spPr>
            <a:xfrm>
              <a:off x="8356702" y="6858000"/>
              <a:ext cx="226222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✓ 분석 목적에 맞는 유연한 전처리 필수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40"/>
            <p:cNvSpPr txBox="1"/>
            <p:nvPr/>
          </p:nvSpPr>
          <p:spPr>
            <a:xfrm>
              <a:off x="8356702" y="7048195"/>
              <a:ext cx="226222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✓ 맹목적 툴 적용보다 도메인 이해 우선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0" name="Google Shape;1730;p40"/>
          <p:cNvGrpSpPr/>
          <p:nvPr/>
        </p:nvGrpSpPr>
        <p:grpSpPr>
          <a:xfrm>
            <a:off x="301523" y="2929975"/>
            <a:ext cx="11430914" cy="1707047"/>
            <a:chOff x="304495" y="3390595"/>
            <a:chExt cx="11430914" cy="1943100"/>
          </a:xfrm>
        </p:grpSpPr>
        <p:sp>
          <p:nvSpPr>
            <p:cNvPr id="1731" name="Google Shape;1731;p40"/>
            <p:cNvSpPr/>
            <p:nvPr/>
          </p:nvSpPr>
          <p:spPr>
            <a:xfrm>
              <a:off x="304495" y="3390595"/>
              <a:ext cx="38405" cy="1943100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40"/>
            <p:cNvSpPr/>
            <p:nvPr/>
          </p:nvSpPr>
          <p:spPr>
            <a:xfrm>
              <a:off x="495605" y="3543300"/>
              <a:ext cx="304495" cy="304495"/>
            </a:xfrm>
            <a:prstGeom prst="ellipse">
              <a:avLst/>
            </a:prstGeom>
            <a:solidFill>
              <a:srgbClr val="0891B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40"/>
            <p:cNvSpPr txBox="1"/>
            <p:nvPr/>
          </p:nvSpPr>
          <p:spPr>
            <a:xfrm>
              <a:off x="602173" y="3565080"/>
              <a:ext cx="3054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Calibri"/>
                <a:buNone/>
              </a:pPr>
              <a:r>
                <a:rPr lang="en-U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40"/>
            <p:cNvSpPr txBox="1"/>
            <p:nvPr/>
          </p:nvSpPr>
          <p:spPr>
            <a:xfrm>
              <a:off x="952805" y="3581956"/>
              <a:ext cx="2328977" cy="247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300"/>
                <a:buFont typeface="Noto Sans KR"/>
                <a:buNone/>
              </a:pPr>
              <a:r>
                <a:rPr b="1" lang="en-US" sz="13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맹목적 레퍼런스 적용의 위험성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40"/>
            <p:cNvSpPr/>
            <p:nvPr/>
          </p:nvSpPr>
          <p:spPr>
            <a:xfrm>
              <a:off x="952805" y="4114800"/>
              <a:ext cx="5315407" cy="1067105"/>
            </a:xfrm>
            <a:prstGeom prst="roundRect">
              <a:avLst>
                <a:gd fmla="val 306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" rotWithShape="0" algn="bl" dir="16200000" dist="12700">
                <a:srgbClr val="00000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40"/>
            <p:cNvSpPr/>
            <p:nvPr/>
          </p:nvSpPr>
          <p:spPr>
            <a:xfrm>
              <a:off x="6420002" y="4114800"/>
              <a:ext cx="5315407" cy="1067105"/>
            </a:xfrm>
            <a:prstGeom prst="roundRect">
              <a:avLst>
                <a:gd fmla="val 306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12700" rotWithShape="0" algn="bl" dir="16200000" dist="12700">
                <a:srgbClr val="000000">
                  <a:alpha val="7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40"/>
            <p:cNvSpPr txBox="1"/>
            <p:nvPr/>
          </p:nvSpPr>
          <p:spPr>
            <a:xfrm>
              <a:off x="1067105" y="4229100"/>
              <a:ext cx="59618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시행착오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40"/>
            <p:cNvSpPr txBox="1"/>
            <p:nvPr/>
          </p:nvSpPr>
          <p:spPr>
            <a:xfrm>
              <a:off x="6534302" y="4229100"/>
              <a:ext cx="34838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b="1"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교훈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40"/>
            <p:cNvSpPr txBox="1"/>
            <p:nvPr/>
          </p:nvSpPr>
          <p:spPr>
            <a:xfrm>
              <a:off x="1067105" y="4496105"/>
              <a:ext cx="2777033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GWAS, Plink 등 표준 툴/가이드라인 적용 시도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40"/>
            <p:cNvSpPr txBox="1"/>
            <p:nvPr/>
          </p:nvSpPr>
          <p:spPr>
            <a:xfrm>
              <a:off x="1067105" y="4686300"/>
              <a:ext cx="2339035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데이터 구조 이해 없이 레퍼런스만 따름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40"/>
            <p:cNvSpPr txBox="1"/>
            <p:nvPr/>
          </p:nvSpPr>
          <p:spPr>
            <a:xfrm>
              <a:off x="1067105" y="4876495"/>
              <a:ext cx="1967789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• 어떤 값을 넣어야 할지 판단 불가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40"/>
            <p:cNvSpPr txBox="1"/>
            <p:nvPr/>
          </p:nvSpPr>
          <p:spPr>
            <a:xfrm>
              <a:off x="6534302" y="4496105"/>
              <a:ext cx="2262226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✓ 레퍼런스는 가이드일 뿐, 정답이 아님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40"/>
            <p:cNvSpPr txBox="1"/>
            <p:nvPr/>
          </p:nvSpPr>
          <p:spPr>
            <a:xfrm>
              <a:off x="6534302" y="4686300"/>
              <a:ext cx="2386584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✓ 데이터 구조를 계속 뜯어보는 자세 필요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40"/>
            <p:cNvSpPr txBox="1"/>
            <p:nvPr/>
          </p:nvSpPr>
          <p:spPr>
            <a:xfrm>
              <a:off x="6534302" y="4876495"/>
              <a:ext cx="2358238" cy="191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43A40"/>
                </a:buClr>
                <a:buSzPts val="1000"/>
                <a:buFont typeface="Noto Sans KR"/>
                <a:buNone/>
              </a:pPr>
              <a:r>
                <a:rPr lang="en-US" sz="1000">
                  <a:solidFill>
                    <a:srgbClr val="343A4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✓ 원리 이해 → 적용 → 검증의 순서 중요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5" name="Google Shape;1745;p40"/>
          <p:cNvSpPr/>
          <p:nvPr/>
        </p:nvSpPr>
        <p:spPr>
          <a:xfrm>
            <a:off x="0" y="0"/>
            <a:ext cx="12191695" cy="47549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6" name="Google Shape;1746;p40"/>
          <p:cNvSpPr txBox="1"/>
          <p:nvPr/>
        </p:nvSpPr>
        <p:spPr>
          <a:xfrm>
            <a:off x="403757" y="385724"/>
            <a:ext cx="4839509" cy="419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3A40"/>
              </a:buClr>
              <a:buSzPts val="2200"/>
              <a:buFont typeface="Noto Sans KR"/>
              <a:buNone/>
            </a:pPr>
            <a:r>
              <a:rPr b="1" lang="en-US" sz="2200">
                <a:solidFill>
                  <a:srgbClr val="343A40"/>
                </a:solidFill>
                <a:latin typeface="Noto Sans KR"/>
                <a:ea typeface="Noto Sans KR"/>
                <a:cs typeface="Noto Sans KR"/>
                <a:sym typeface="Noto Sans KR"/>
              </a:rPr>
              <a:t>4.2. 회고록 – 분석 과정의 교훈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